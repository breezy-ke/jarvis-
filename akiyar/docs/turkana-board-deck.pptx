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300" b="0" i="0" u="none" strike="noStrike">
                <a:solidFill>
                  <a:srgbClr val="F4F2EE"/>
                </a:solidFill>
                <a:latin typeface="Arial"/>
              </a:defRPr>
            </a:pPr>
            <a:r>
              <a:rPr sz="1300" b="0" i="0" u="none" strike="noStrike">
                <a:solidFill>
                  <a:srgbClr val="F4F2EE"/>
                </a:solidFill>
                <a:latin typeface="Arial"/>
              </a:rPr>
              <a:t>Our six strongest wards, by share of that ward</a:t>
            </a:r>
          </a:p>
        </c:rich>
      </c:tx>
      <c:layout/>
      <c:overlay val="0"/>
    </c:title>
    <c:autoTitleDeleted val="0"/>
    <c:plotArea>
      <c:layout/>
      <c:barChart>
        <c:barDir val="bar"/>
        <c:grouping val="clustered"/>
        <c:varyColors val="0"/>
        <c:ser>
          <c:idx val="0"/>
          <c:order val="0"/>
          <c:tx>
            <c:strRef>
              <c:f>Sheet1!$B$1</c:f>
              <c:strCache>
                <c:ptCount val="1"/>
                <c:pt idx="0">
                  <c:v>Ward saturation</c:v>
                </c:pt>
              </c:strCache>
            </c:strRef>
          </c:tx>
          <c:spPr>
            <a:solidFill>
              <a:srgbClr val="F47B20"/>
            </a:solidFill>
            <a:effectLst/>
          </c:spPr>
          <c:invertIfNegative val="0"/>
          <c:dLbls>
            <c:numFmt formatCode="0.00&quot;%&quot;" sourceLinked="0"/>
            <c:txPr>
              <a:bodyPr/>
              <a:lstStyle/>
              <a:p>
                <a:pPr>
                  <a:defRPr b="0" i="0" strike="noStrike" sz="1100" u="none">
                    <a:solidFill>
                      <a:srgbClr val="F4F2EE"/>
                    </a:solidFill>
                    <a:latin typeface="Arial"/>
                  </a:defRPr>
                </a:pPr>
              </a:p>
            </c:txPr>
            <c:showLegendKey val="0"/>
            <c:showVal val="1"/>
            <c:showCatName val="0"/>
            <c:showSerName val="0"/>
            <c:showPercent val="0"/>
            <c:showBubbleSize val="0"/>
            <c:showLeaderLines val="0"/>
          </c:dLbls>
          <c:cat>
            <c:multiLvlStrRef>
              <c:f>Sheet1!$A$2:$A$7</c:f>
              <c:multiLvlStrCache>
                <c:ptCount val="6"/>
                <c:lvl>
                  <c:pt idx="0">
                    <c:v>Katilu</c:v>
                  </c:pt>
                  <c:pt idx="1">
                    <c:v>Kotaruk/Lobei</c:v>
                  </c:pt>
                  <c:pt idx="2">
                    <c:v>Kang'atotha</c:v>
                  </c:pt>
                  <c:pt idx="3">
                    <c:v>Katilia</c:v>
                  </c:pt>
                  <c:pt idx="4">
                    <c:v>Lopur</c:v>
                  </c:pt>
                  <c:pt idx="5">
                    <c:v>Lokiriama/Lorengippi</c:v>
                  </c:pt>
                </c:lvl>
              </c:multiLvlStrCache>
            </c:multiLvlStrRef>
          </c:cat>
          <c:val>
            <c:numRef>
              <c:f>Sheet1!$B$2:$B$7</c:f>
              <c:numCache>
                <c:formatCode>General</c:formatCode>
                <c:ptCount val="6"/>
                <c:pt idx="0">
                  <c:v>3.8</c:v>
                </c:pt>
                <c:pt idx="1">
                  <c:v>3.8</c:v>
                </c:pt>
                <c:pt idx="2">
                  <c:v>3.88</c:v>
                </c:pt>
                <c:pt idx="3">
                  <c:v>4.55</c:v>
                </c:pt>
                <c:pt idx="4">
                  <c:v>4.74</c:v>
                </c:pt>
                <c:pt idx="5">
                  <c:v>5.25</c:v>
                </c:pt>
              </c:numCache>
            </c:numRef>
          </c:val>
        </c:ser>
        <c:dLbls>
          <c:numFmt formatCode="0.00&quot;%&quot;" sourceLinked="0"/>
          <c:txPr>
            <a:bodyPr/>
            <a:lstStyle/>
            <a:p>
              <a:pPr>
                <a:defRPr b="0" i="0" strike="noStrike" sz="1100" u="none">
                  <a:solidFill>
                    <a:srgbClr val="F4F2EE"/>
                  </a:solidFill>
                  <a:latin typeface="Arial"/>
                </a:defRPr>
              </a:pPr>
            </a:p>
          </c:txPr>
          <c:showLegendKey val="0"/>
          <c:showVal val="1"/>
          <c:showCatName val="0"/>
          <c:showSerName val="0"/>
          <c:showPercent val="0"/>
          <c:showBubbleSize val="0"/>
          <c:showLeaderLines val="0"/>
        </c:dLbls>
        <c:gapWidth val="5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0A6E45"/>
            </a:solidFill>
            <a:prstDash val="solid"/>
            <a:round/>
          </a:ln>
        </c:spPr>
        <c:txPr>
          <a:bodyPr/>
          <a:lstStyle/>
          <a:p>
            <a:pPr>
              <a:defRPr sz="1100" b="0" i="0" u="none" strike="noStrike">
                <a:solidFill>
                  <a:srgbClr val="B5C9BA"/>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b"/>
        <c:majorGridlines>
          <c:spPr>
            <a:ln w="9525" cap="flat">
              <a:solidFill>
                <a:srgbClr val="0A6E45"/>
              </a:solidFill>
              <a:prstDash val="solid"/>
              <a:round/>
            </a:ln>
          </c:spPr>
        </c:majorGridlines>
        <c:numFmt formatCode="General" sourceLinked="0"/>
        <c:majorTickMark val="out"/>
        <c:minorTickMark val="none"/>
        <c:tickLblPos val="low"/>
        <c:spPr>
          <a:ln w="12700" cap="flat">
            <a:solidFill>
              <a:srgbClr val="0A6E45"/>
            </a:solidFill>
            <a:prstDash val="solid"/>
            <a:round/>
          </a:ln>
        </c:spPr>
        <c:txPr>
          <a:bodyPr/>
          <a:lstStyle/>
          <a:p>
            <a:pPr>
              <a:defRPr sz="1000" b="0" i="0" u="none" strike="noStrike">
                <a:solidFill>
                  <a:srgbClr val="D6DAA7"/>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01332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300" b="0" i="0" u="none" strike="noStrike">
                <a:solidFill>
                  <a:srgbClr val="F4F2EE"/>
                </a:solidFill>
                <a:latin typeface="Arial"/>
              </a:defRPr>
            </a:pPr>
            <a:r>
              <a:rPr sz="1300" b="0" i="0" u="none" strike="noStrike">
                <a:solidFill>
                  <a:srgbClr val="F4F2EE"/>
                </a:solidFill>
                <a:latin typeface="Arial"/>
              </a:rPr>
              <a:t>Coldest six, where the caravan goes next</a:t>
            </a:r>
          </a:p>
        </c:rich>
      </c:tx>
      <c:layout/>
      <c:overlay val="0"/>
    </c:title>
    <c:autoTitleDeleted val="0"/>
    <c:plotArea>
      <c:layout/>
      <c:barChart>
        <c:barDir val="bar"/>
        <c:grouping val="clustered"/>
        <c:varyColors val="0"/>
        <c:ser>
          <c:idx val="0"/>
          <c:order val="0"/>
          <c:tx>
            <c:strRef>
              <c:f>Sheet1!$B$1</c:f>
              <c:strCache>
                <c:ptCount val="1"/>
                <c:pt idx="0">
                  <c:v>Ward saturation</c:v>
                </c:pt>
              </c:strCache>
            </c:strRef>
          </c:tx>
          <c:spPr>
            <a:solidFill>
              <a:srgbClr val="A85410"/>
            </a:solidFill>
            <a:effectLst/>
          </c:spPr>
          <c:invertIfNegative val="0"/>
          <c:dLbls>
            <c:numFmt formatCode="0.00&quot;%&quot;" sourceLinked="0"/>
            <c:txPr>
              <a:bodyPr/>
              <a:lstStyle/>
              <a:p>
                <a:pPr>
                  <a:defRPr b="0" i="0" strike="noStrike" sz="1100" u="none">
                    <a:solidFill>
                      <a:srgbClr val="F4F2EE"/>
                    </a:solidFill>
                    <a:latin typeface="Arial"/>
                  </a:defRPr>
                </a:pPr>
              </a:p>
            </c:txPr>
            <c:showLegendKey val="0"/>
            <c:showVal val="1"/>
            <c:showCatName val="0"/>
            <c:showSerName val="0"/>
            <c:showPercent val="0"/>
            <c:showBubbleSize val="0"/>
            <c:showLeaderLines val="0"/>
          </c:dLbls>
          <c:cat>
            <c:multiLvlStrRef>
              <c:f>Sheet1!$A$2:$A$7</c:f>
              <c:multiLvlStrCache>
                <c:ptCount val="6"/>
                <c:lvl>
                  <c:pt idx="0">
                    <c:v>Kalapata</c:v>
                  </c:pt>
                  <c:pt idx="1">
                    <c:v>Lapur</c:v>
                  </c:pt>
                  <c:pt idx="2">
                    <c:v>Nanaam</c:v>
                  </c:pt>
                  <c:pt idx="3">
                    <c:v>Kalokol</c:v>
                  </c:pt>
                  <c:pt idx="4">
                    <c:v>Kerio Delta</c:v>
                  </c:pt>
                  <c:pt idx="5">
                    <c:v>Loima</c:v>
                  </c:pt>
                </c:lvl>
              </c:multiLvlStrCache>
            </c:multiLvlStrRef>
          </c:cat>
          <c:val>
            <c:numRef>
              <c:f>Sheet1!$B$2:$B$7</c:f>
              <c:numCache>
                <c:formatCode>General</c:formatCode>
                <c:ptCount val="6"/>
                <c:pt idx="0">
                  <c:v>0.37</c:v>
                </c:pt>
                <c:pt idx="1">
                  <c:v>0.36</c:v>
                </c:pt>
                <c:pt idx="2">
                  <c:v>0.36</c:v>
                </c:pt>
                <c:pt idx="3">
                  <c:v>0.32</c:v>
                </c:pt>
                <c:pt idx="4">
                  <c:v>0.3</c:v>
                </c:pt>
                <c:pt idx="5">
                  <c:v>0.23</c:v>
                </c:pt>
              </c:numCache>
            </c:numRef>
          </c:val>
        </c:ser>
        <c:dLbls>
          <c:numFmt formatCode="0.00&quot;%&quot;" sourceLinked="0"/>
          <c:txPr>
            <a:bodyPr/>
            <a:lstStyle/>
            <a:p>
              <a:pPr>
                <a:defRPr b="0" i="0" strike="noStrike" sz="1100" u="none">
                  <a:solidFill>
                    <a:srgbClr val="F4F2EE"/>
                  </a:solidFill>
                  <a:latin typeface="Arial"/>
                </a:defRPr>
              </a:pPr>
            </a:p>
          </c:txPr>
          <c:showLegendKey val="0"/>
          <c:showVal val="1"/>
          <c:showCatName val="0"/>
          <c:showSerName val="0"/>
          <c:showPercent val="0"/>
          <c:showBubbleSize val="0"/>
          <c:showLeaderLines val="0"/>
        </c:dLbls>
        <c:gapWidth val="5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0A6E45"/>
            </a:solidFill>
            <a:prstDash val="solid"/>
            <a:round/>
          </a:ln>
        </c:spPr>
        <c:txPr>
          <a:bodyPr/>
          <a:lstStyle/>
          <a:p>
            <a:pPr>
              <a:defRPr sz="1100" b="0" i="0" u="none" strike="noStrike">
                <a:solidFill>
                  <a:srgbClr val="B5C9BA"/>
                </a:solidFill>
                <a:latin typeface="Arial"/>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0A6E45"/>
              </a:solidFill>
              <a:prstDash val="solid"/>
              <a:round/>
            </a:ln>
          </c:spPr>
        </c:majorGridlines>
        <c:numFmt formatCode="General" sourceLinked="0"/>
        <c:majorTickMark val="out"/>
        <c:minorTickMark val="none"/>
        <c:tickLblPos val="low"/>
        <c:spPr>
          <a:ln w="12700" cap="flat">
            <a:solidFill>
              <a:srgbClr val="0A6E45"/>
            </a:solidFill>
            <a:prstDash val="solid"/>
            <a:round/>
          </a:ln>
        </c:spPr>
        <c:txPr>
          <a:bodyPr/>
          <a:lstStyle/>
          <a:p>
            <a:pPr>
              <a:defRPr sz="1000" b="0" i="0" u="none" strike="noStrike">
                <a:solidFill>
                  <a:srgbClr val="D6DAA7"/>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01332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300" b="0" i="0" u="none" strike="noStrike">
                <a:solidFill>
                  <a:srgbClr val="F4F2EE"/>
                </a:solidFill>
                <a:latin typeface="Arial"/>
              </a:defRPr>
            </a:pPr>
            <a:r>
              <a:rPr sz="1300" b="0" i="0" u="none" strike="noStrike">
                <a:solidFill>
                  <a:srgbClr val="F4F2EE"/>
                </a:solidFill>
                <a:latin typeface="Arial"/>
              </a:rPr>
              <a:t>Same 60,000 people reached each month</a:t>
            </a:r>
          </a:p>
        </c:rich>
      </c:tx>
      <c:layout/>
      <c:overlay val="0"/>
    </c:title>
    <c:autoTitleDeleted val="0"/>
    <c:plotArea>
      <c:layout/>
      <c:barChart>
        <c:barDir val="col"/>
        <c:grouping val="clustered"/>
        <c:varyColors val="0"/>
        <c:ser>
          <c:idx val="0"/>
          <c:order val="0"/>
          <c:tx>
            <c:strRef>
              <c:f>Sheet1!$B$1</c:f>
              <c:strCache>
                <c:ptCount val="1"/>
                <c:pt idx="0">
                  <c:v>New verified supporters per month</c:v>
                </c:pt>
              </c:strCache>
            </c:strRef>
          </c:tx>
          <c:spPr>
            <a:solidFill>
              <a:srgbClr val="A85410"/>
            </a:solidFill>
            <a:effectLst/>
          </c:spPr>
          <c:invertIfNegative val="0"/>
          <c:dLbls>
            <c:numFmt formatCode="#,##0" sourceLinked="0"/>
            <c:txPr>
              <a:bodyPr/>
              <a:lstStyle/>
              <a:p>
                <a:pPr>
                  <a:defRPr b="0" i="0" strike="noStrike" sz="1200" u="none">
                    <a:solidFill>
                      <a:srgbClr val="F4F2EE"/>
                    </a:solidFill>
                    <a:latin typeface="Arial"/>
                  </a:defRPr>
                </a:pPr>
              </a:p>
            </c:txPr>
            <c:showLegendKey val="0"/>
            <c:showVal val="1"/>
            <c:showCatName val="0"/>
            <c:showSerName val="0"/>
            <c:showPercent val="0"/>
            <c:showBubbleSize val="0"/>
            <c:showLeaderLines val="0"/>
          </c:dLbls>
          <c:dPt>
            <c:idx val="0"/>
            <c:invertIfNegative val="0"/>
            <c:bubble3D val="0"/>
            <c:spPr>
              <a:solidFill>
                <a:srgbClr val="A85410"/>
              </a:solidFill>
              <a:effectLst/>
            </c:spPr>
          </c:dPt>
          <c:dPt>
            <c:idx val="1"/>
            <c:invertIfNegative val="0"/>
            <c:bubble3D val="0"/>
            <c:spPr>
              <a:solidFill>
                <a:srgbClr val="F47B20"/>
              </a:solidFill>
              <a:effectLst/>
            </c:spPr>
          </c:dPt>
          <c:dPt>
            <c:idx val="2"/>
            <c:invertIfNegative val="0"/>
            <c:bubble3D val="0"/>
            <c:spPr>
              <a:solidFill>
                <a:srgbClr val="FFC98A"/>
              </a:solidFill>
              <a:effectLst/>
            </c:spPr>
          </c:dPt>
          <c:cat>
            <c:multiLvlStrRef>
              <c:f>Sheet1!$A$2:$A$4</c:f>
              <c:multiLvlStrCache>
                <c:ptCount val="3"/>
                <c:lvl>
                  <c:pt idx="0">
                    <c:v>Online only</c:v>
                  </c:pt>
                  <c:pt idx="1">
                    <c:v>Half and half</c:v>
                  </c:pt>
                  <c:pt idx="2">
                    <c:v>Ground and SMS</c:v>
                  </c:pt>
                </c:lvl>
              </c:multiLvlStrCache>
            </c:multiLvlStrRef>
          </c:cat>
          <c:val>
            <c:numRef>
              <c:f>Sheet1!$B$2:$B$4</c:f>
              <c:numCache>
                <c:formatCode>General</c:formatCode>
                <c:ptCount val="3"/>
                <c:pt idx="0">
                  <c:v>1056</c:v>
                </c:pt>
                <c:pt idx="1">
                  <c:v>3434</c:v>
                </c:pt>
                <c:pt idx="2">
                  <c:v>5811</c:v>
                </c:pt>
              </c:numCache>
            </c:numRef>
          </c:val>
        </c:ser>
        <c:dLbls>
          <c:numFmt formatCode="#,##0" sourceLinked="0"/>
          <c:txPr>
            <a:bodyPr/>
            <a:lstStyle/>
            <a:p>
              <a:pPr>
                <a:defRPr b="0" i="0" strike="noStrike" sz="1200" u="none">
                  <a:solidFill>
                    <a:srgbClr val="F4F2EE"/>
                  </a:solidFill>
                  <a:latin typeface="Arial"/>
                </a:defRPr>
              </a:pPr>
            </a:p>
          </c:txPr>
          <c:showLegendKey val="0"/>
          <c:showVal val="1"/>
          <c:showCatName val="0"/>
          <c:showSerName val="0"/>
          <c:showPercent val="0"/>
          <c:showBubbleSize val="0"/>
          <c:showLeaderLines val="0"/>
        </c:dLbls>
        <c:gapWidth val="62"/>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0A6E45"/>
            </a:solidFill>
            <a:prstDash val="solid"/>
            <a:round/>
          </a:ln>
        </c:spPr>
        <c:txPr>
          <a:bodyPr/>
          <a:lstStyle/>
          <a:p>
            <a:pPr>
              <a:defRPr sz="1100" b="0" i="0" u="none" strike="noStrike">
                <a:solidFill>
                  <a:srgbClr val="B5C9BA"/>
                </a:solidFill>
                <a:latin typeface="Arial"/>
              </a:defRPr>
            </a:pPr>
            <a:endParaRPr lang="en-US"/>
          </a:p>
        </c:txPr>
        <c:crossAx val="2094734552"/>
        <c:crosses val="autoZero"/>
        <c:auto val="1"/>
        <c:lblAlgn val="ctr"/>
        <c:noMultiLvlLbl val="1"/>
      </c:catAx>
      <c:valAx>
        <c:axId val="2094734552"/>
        <c:scaling>
          <c:orientation val="minMax"/>
          <c:max val="7000"/>
          <c:min val="0"/>
        </c:scaling>
        <c:delete val="0"/>
        <c:axPos val="l"/>
        <c:majorGridlines>
          <c:spPr>
            <a:ln w="9525" cap="flat">
              <a:solidFill>
                <a:srgbClr val="0A6E45"/>
              </a:solidFill>
              <a:prstDash val="solid"/>
              <a:round/>
            </a:ln>
          </c:spPr>
        </c:majorGridlines>
        <c:numFmt formatCode="General" sourceLinked="0"/>
        <c:majorTickMark val="out"/>
        <c:minorTickMark val="none"/>
        <c:tickLblPos val="nextTo"/>
        <c:spPr>
          <a:ln w="12700" cap="flat">
            <a:solidFill>
              <a:srgbClr val="0A6E45"/>
            </a:solidFill>
            <a:prstDash val="solid"/>
            <a:round/>
          </a:ln>
        </c:spPr>
        <c:txPr>
          <a:bodyPr/>
          <a:lstStyle/>
          <a:p>
            <a:pPr>
              <a:defRPr sz="1000" b="0" i="0" u="none" strike="noStrike">
                <a:solidFill>
                  <a:srgbClr val="D6DAA7"/>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01332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300" b="0" i="0" u="none" strike="noStrike">
                <a:solidFill>
                  <a:srgbClr val="F4F2EE"/>
                </a:solidFill>
                <a:latin typeface="Arial"/>
              </a:defRPr>
            </a:pPr>
            <a:r>
              <a:rPr sz="1300" b="0" i="0" u="none" strike="noStrike">
                <a:solidFill>
                  <a:srgbClr val="F4F2EE"/>
                </a:solidFill>
                <a:latin typeface="Arial"/>
              </a:rPr>
              <a:t>Verified supporters on the register</a:t>
            </a:r>
          </a:p>
        </c:rich>
      </c:tx>
      <c:layout/>
      <c:overlay val="0"/>
    </c:title>
    <c:autoTitleDeleted val="0"/>
    <c:plotArea>
      <c:layout/>
      <c:lineChart>
        <c:varyColors val="0"/>
        <c:ser>
          <c:idx val="0"/>
          <c:order val="0"/>
          <c:tx>
            <c:strRef>
              <c:f>Sheet1!$B$1</c:f>
              <c:strCache>
                <c:ptCount val="1"/>
                <c:pt idx="0">
                  <c:v>Online only</c:v>
                </c:pt>
              </c:strCache>
            </c:strRef>
          </c:tx>
          <c:spPr>
            <a:solidFill>
              <a:srgbClr val="D6DAA7"/>
            </a:solidFill>
            <a:ln w="38100" cap="flat">
              <a:solidFill>
                <a:srgbClr val="D6DAA7"/>
              </a:solidFill>
              <a:prstDash val="solid"/>
              <a:round/>
            </a:ln>
            <a:effectLst/>
          </c:spPr>
          <c:invertIfNegative val="0"/>
          <c:dLbls>
            <c:numFmt formatCode="#,##0" sourceLinked="0"/>
            <c:txPr>
              <a:bodyPr/>
              <a:lstStyle/>
              <a:p>
                <a:pPr>
                  <a:defRPr b="0" i="0" strike="noStrike" sz="1000" u="none">
                    <a:solidFill>
                      <a:srgbClr val="B5C9BA"/>
                    </a:solidFill>
                    <a:latin typeface="Arial"/>
                  </a:defRPr>
                </a:pPr>
              </a:p>
            </c:txPr>
            <c:dLblPos val="t"/>
            <c:showLegendKey val="0"/>
            <c:showVal val="1"/>
            <c:showCatName val="0"/>
            <c:showSerName val="0"/>
            <c:showPercent val="0"/>
            <c:showBubbleSize val="0"/>
            <c:showLeaderLines val="0"/>
          </c:dLbls>
          <c:marker>
            <c:symbol val="circle"/>
            <c:size val="7"/>
            <c:spPr>
              <a:solidFill>
                <a:srgbClr val="D6DAA7"/>
              </a:solidFill>
              <a:ln w="9525" cap="flat">
                <a:solidFill>
                  <a:srgbClr val="D6DAA7"/>
                </a:solidFill>
                <a:prstDash val="solid"/>
                <a:round/>
              </a:ln>
              <a:effectLst/>
            </c:spPr>
          </c:marker>
          <c:cat>
            <c:multiLvlStrRef>
              <c:f>Sheet1!$A$2:$A$5</c:f>
              <c:multiLvlStrCache>
                <c:ptCount val="4"/>
                <c:lvl>
                  <c:pt idx="0">
                    <c:v>Today</c:v>
                  </c:pt>
                  <c:pt idx="1">
                    <c:v>Day 30</c:v>
                  </c:pt>
                  <c:pt idx="2">
                    <c:v>Day 60</c:v>
                  </c:pt>
                  <c:pt idx="3">
                    <c:v>Day 90</c:v>
                  </c:pt>
                </c:lvl>
              </c:multiLvlStrCache>
            </c:multiLvlStrRef>
          </c:cat>
          <c:val>
            <c:numRef>
              <c:f>Sheet1!$B$2:$B$5</c:f>
              <c:numCache>
                <c:formatCode>General</c:formatCode>
                <c:ptCount val="4"/>
                <c:pt idx="0">
                  <c:v>4981</c:v>
                </c:pt>
                <c:pt idx="1">
                  <c:v>6037</c:v>
                </c:pt>
                <c:pt idx="2">
                  <c:v>7094</c:v>
                </c:pt>
                <c:pt idx="3">
                  <c:v>8150</c:v>
                </c:pt>
              </c:numCache>
            </c:numRef>
          </c:val>
          <c:smooth val="0"/>
        </c:ser>
        <c:ser>
          <c:idx val="1"/>
          <c:order val="1"/>
          <c:tx>
            <c:strRef>
              <c:f>Sheet1!$C$1</c:f>
              <c:strCache>
                <c:ptCount val="1"/>
                <c:pt idx="0">
                  <c:v>Both levers</c:v>
                </c:pt>
              </c:strCache>
            </c:strRef>
          </c:tx>
          <c:spPr>
            <a:solidFill>
              <a:srgbClr val="F47B20"/>
            </a:solidFill>
            <a:ln w="38100" cap="flat">
              <a:solidFill>
                <a:srgbClr val="F47B20"/>
              </a:solidFill>
              <a:prstDash val="solid"/>
              <a:round/>
            </a:ln>
            <a:effectLst/>
          </c:spPr>
          <c:invertIfNegative val="0"/>
          <c:dLbls>
            <c:numFmt formatCode="#,##0" sourceLinked="0"/>
            <c:txPr>
              <a:bodyPr/>
              <a:lstStyle/>
              <a:p>
                <a:pPr>
                  <a:defRPr b="0" i="0" strike="noStrike" sz="1000" u="none">
                    <a:solidFill>
                      <a:srgbClr val="B5C9BA"/>
                    </a:solidFill>
                    <a:latin typeface="Arial"/>
                  </a:defRPr>
                </a:pPr>
              </a:p>
            </c:txPr>
            <c:dLblPos val="t"/>
            <c:showLegendKey val="0"/>
            <c:showVal val="1"/>
            <c:showCatName val="0"/>
            <c:showSerName val="0"/>
            <c:showPercent val="0"/>
            <c:showBubbleSize val="0"/>
            <c:showLeaderLines val="0"/>
          </c:dLbls>
          <c:marker>
            <c:symbol val="circle"/>
            <c:size val="7"/>
            <c:spPr>
              <a:solidFill>
                <a:srgbClr val="F47B20"/>
              </a:solidFill>
              <a:ln w="9525" cap="flat">
                <a:solidFill>
                  <a:srgbClr val="F47B20"/>
                </a:solidFill>
                <a:prstDash val="solid"/>
                <a:round/>
              </a:ln>
              <a:effectLst/>
            </c:spPr>
          </c:marker>
          <c:cat>
            <c:multiLvlStrRef>
              <c:f>Sheet1!$A$2:$A$5</c:f>
              <c:multiLvlStrCache>
                <c:ptCount val="4"/>
                <c:lvl>
                  <c:pt idx="0">
                    <c:v>Today</c:v>
                  </c:pt>
                  <c:pt idx="1">
                    <c:v>Day 30</c:v>
                  </c:pt>
                  <c:pt idx="2">
                    <c:v>Day 60</c:v>
                  </c:pt>
                  <c:pt idx="3">
                    <c:v>Day 90</c:v>
                  </c:pt>
                </c:lvl>
              </c:multiLvlStrCache>
            </c:multiLvlStrRef>
          </c:cat>
          <c:val>
            <c:numRef>
              <c:f>Sheet1!$C$2:$C$5</c:f>
              <c:numCache>
                <c:formatCode>General</c:formatCode>
                <c:ptCount val="4"/>
                <c:pt idx="0">
                  <c:v>4981</c:v>
                </c:pt>
                <c:pt idx="1">
                  <c:v>8415</c:v>
                </c:pt>
                <c:pt idx="2">
                  <c:v>11848</c:v>
                </c:pt>
                <c:pt idx="3">
                  <c:v>15282</c:v>
                </c:pt>
              </c:numCache>
            </c:numRef>
          </c:val>
          <c:smooth val="0"/>
        </c:ser>
        <c:dLbls>
          <c:numFmt formatCode="#,##0" sourceLinked="0"/>
          <c:txPr>
            <a:bodyPr/>
            <a:lstStyle/>
            <a:p>
              <a:pPr>
                <a:defRPr b="0" i="0" strike="noStrike" sz="1000" u="none">
                  <a:solidFill>
                    <a:srgbClr val="B5C9BA"/>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0A6E45"/>
            </a:solidFill>
            <a:prstDash val="solid"/>
            <a:round/>
          </a:ln>
        </c:spPr>
        <c:txPr>
          <a:bodyPr/>
          <a:lstStyle/>
          <a:p>
            <a:pPr>
              <a:defRPr sz="1100" b="0" i="0" u="none" strike="noStrike">
                <a:solidFill>
                  <a:srgbClr val="B5C9BA"/>
                </a:solidFill>
                <a:latin typeface="Arial"/>
              </a:defRPr>
            </a:pPr>
            <a:endParaRPr lang="en-US"/>
          </a:p>
        </c:txPr>
        <c:crossAx val="2094734552"/>
        <c:crosses val="autoZero"/>
        <c:auto val="1"/>
        <c:lblAlgn val="ctr"/>
        <c:noMultiLvlLbl val="1"/>
      </c:catAx>
      <c:valAx>
        <c:axId val="2094734552"/>
        <c:scaling>
          <c:orientation val="minMax"/>
          <c:max val="18000"/>
          <c:min val="0"/>
        </c:scaling>
        <c:delete val="0"/>
        <c:axPos val="l"/>
        <c:majorGridlines>
          <c:spPr>
            <a:ln w="9525" cap="flat">
              <a:solidFill>
                <a:srgbClr val="0A6E45"/>
              </a:solidFill>
              <a:prstDash val="solid"/>
              <a:round/>
            </a:ln>
          </c:spPr>
        </c:majorGridlines>
        <c:numFmt formatCode="General" sourceLinked="0"/>
        <c:majorTickMark val="out"/>
        <c:minorTickMark val="none"/>
        <c:tickLblPos val="nextTo"/>
        <c:spPr>
          <a:ln w="12700" cap="flat">
            <a:solidFill>
              <a:srgbClr val="0A6E45"/>
            </a:solidFill>
            <a:prstDash val="solid"/>
            <a:round/>
          </a:ln>
        </c:spPr>
        <c:txPr>
          <a:bodyPr/>
          <a:lstStyle/>
          <a:p>
            <a:pPr>
              <a:defRPr sz="1000" b="0" i="0" u="none" strike="noStrike">
                <a:solidFill>
                  <a:srgbClr val="D6DAA7"/>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B5C9BA"/>
              </a:solidFill>
              <a:latin typeface="Arial"/>
              <a:cs typeface="Arial"/>
            </a:defRPr>
          </a:pPr>
          <a:endParaRPr lang="en-US"/>
        </a:p>
      </c:txPr>
    </c:legend>
    <c:plotVisOnly val="1"/>
    <c:dispBlanksAs val="span"/>
  </c:chart>
  <c:spPr>
    <a:solidFill>
      <a:srgbClr val="0133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question the whole system answers. How many supporters do we actually have, and where exactly do they vote? Everything after this is that one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that you will keep it to ten minutes, then show him the live version he can click himself.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is not that rivals are lazy. Nobody in county politics has these numbers, so the first campaign that does gets an unfair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is the design target. Every extra question costs sign ups, so nothing is asked unless it does real work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changes how he reads every report from now on. A raw supporter total is vanity. Share of a ward is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to open the live board here. He can tap any ward and see its real polling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him the phone here. The live version lets him tap Kibish and see that six of its ten polling stations are a mobile unit or a water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online side. He knows Turkana. Saying the internet wins the county would lose the room. Saying online is cheap reach and ground is conversion is the version he will believe.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planning assumptions rather than results. Say that out loud. It is the sentence that makes him trust the other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defensive slide in the deck. Register with the ODPC in week one. Not registering is itself an offence.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advantage is not that we are online and they are not. They will be online too. It is that our number can be checked and theirs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he agrees to only two things today, make them the shortcode paperwork and the ODPC registration. Everything else waits on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handing over the phone. The live board does more in thirty seconds than another slide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6.xml"/><Relationship Id="rId6" Type="http://schemas.openxmlformats.org/officeDocument/2006/relationships/slide" Target="slide8.xml"/><Relationship Id="rId7" Type="http://schemas.openxmlformats.org/officeDocument/2006/relationships/slide" Target="slide12.xml"/><Relationship Id="rId1" Type="http://schemas.openxmlformats.org/officeDocument/2006/relationships/image" Target="../media/image-1-1.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chart" Target="/ppt/charts/chart1.xml"/><Relationship Id="rId2"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chart" Target="/ppt/charts/chart2.xml"/><Relationship Id="rId2"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hyperlink" Target="https://claude.ai/code/artifact/f57c9c04-a60d-49e8-b023-0a40c15288c9" TargetMode="External"/><Relationship Id="rId2"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chart" Target="/ppt/charts/chart3.xml"/><Relationship Id="rId2"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chart" Target="/ppt/charts/chart4.xml"/><Relationship Id="rId2"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claude.ai/code/artifact/f57c9c04-a60d-49e8-b023-0a40c15288c9" TargetMode="External"/><Relationship Id="rId3" Type="http://schemas.openxmlformats.org/officeDocument/2006/relationships/hyperlink" Target="https://claude.ai/code/artifact/f57c9c04-a60d-49e8-b023-0a40c15288c9" TargetMode="External"/><Relationship Id="rId1"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5835"/>
        </a:solidFill>
      </p:bgPr>
    </p:bg>
    <p:spTree>
      <p:nvGrpSpPr>
        <p:cNvPr id="1" name=""/>
        <p:cNvGrpSpPr/>
        <p:nvPr/>
      </p:nvGrpSpPr>
      <p:grpSpPr>
        <a:xfrm>
          <a:off x="0" y="0"/>
          <a:ext cx="0" cy="0"/>
          <a:chOff x="0" y="0"/>
          <a:chExt cx="0" cy="0"/>
        </a:xfrm>
      </p:grpSpPr>
      <p:pic>
        <p:nvPicPr>
          <p:cNvPr id="2" name="Image 0" descr="ekusi-mark-opt.png">    </p:cNvPr>
          <p:cNvPicPr>
            <a:picLocks noChangeAspect="1"/>
          </p:cNvPicPr>
          <p:nvPr/>
        </p:nvPicPr>
        <p:blipFill>
          <a:blip r:embed="rId1"/>
          <a:stretch>
            <a:fillRect/>
          </a:stretch>
        </p:blipFill>
        <p:spPr>
          <a:xfrm>
            <a:off x="8275320" y="1600200"/>
            <a:ext cx="3344752" cy="3063240"/>
          </a:xfrm>
          <a:prstGeom prst="rect">
            <a:avLst/>
          </a:prstGeom>
        </p:spPr>
      </p:pic>
      <p:sp>
        <p:nvSpPr>
          <p:cNvPr id="3" name="Text 0"/>
          <p:cNvSpPr txBox="1"/>
          <p:nvPr/>
        </p:nvSpPr>
        <p:spPr>
          <a:xfrm>
            <a:off x="566928" y="621792"/>
            <a:ext cx="7680960" cy="329184"/>
          </a:xfrm>
          <a:prstGeom prst="rect">
            <a:avLst/>
          </a:prstGeom>
          <a:noFill/>
          <a:ln/>
        </p:spPr>
        <p:txBody>
          <a:bodyPr wrap="square" lIns="0" tIns="0" rIns="0" bIns="0" rtlCol="0" anchor="ctr"/>
          <a:lstStyle/>
          <a:p>
            <a:pPr indent="0" marL="0">
              <a:buNone/>
            </a:pPr>
            <a:r>
              <a:rPr lang="en-US" sz="1150" b="1" spc="260" kern="0" dirty="0">
                <a:solidFill>
                  <a:srgbClr val="D6DAA7"/>
                </a:solidFill>
                <a:latin typeface="Arial" pitchFamily="34" charset="0"/>
                <a:ea typeface="Arial" pitchFamily="34" charset="-122"/>
                <a:cs typeface="Arial" pitchFamily="34" charset="-120"/>
              </a:rPr>
              <a:t>EKUSI LORE   ·   TURKANA COUNTY   ·   SENATE 2027</a:t>
            </a:r>
            <a:endParaRPr lang="en-US" sz="1150" dirty="0"/>
          </a:p>
        </p:txBody>
      </p:sp>
      <p:sp>
        <p:nvSpPr>
          <p:cNvPr id="4" name="Text 1"/>
          <p:cNvSpPr txBox="1"/>
          <p:nvPr/>
        </p:nvSpPr>
        <p:spPr>
          <a:xfrm>
            <a:off x="566928" y="1965960"/>
            <a:ext cx="7498080" cy="2651760"/>
          </a:xfrm>
          <a:prstGeom prst="rect">
            <a:avLst/>
          </a:prstGeom>
          <a:noFill/>
          <a:ln/>
        </p:spPr>
        <p:txBody>
          <a:bodyPr wrap="square" lIns="0" tIns="0" rIns="0" bIns="0" rtlCol="0" anchor="ctr"/>
          <a:lstStyle/>
          <a:p>
            <a:pPr indent="0" marL="0">
              <a:lnSpc>
                <a:spcPts val="5200"/>
              </a:lnSpc>
              <a:buNone/>
            </a:pPr>
            <a:r>
              <a:rPr lang="en-US" sz="4600" b="1" dirty="0">
                <a:solidFill>
                  <a:srgbClr val="F4F2EE"/>
                </a:solidFill>
                <a:latin typeface="Arial" pitchFamily="34" charset="0"/>
                <a:ea typeface="Arial" pitchFamily="34" charset="-122"/>
                <a:cs typeface="Arial" pitchFamily="34" charset="-120"/>
              </a:rPr>
              <a:t>We don't guess</a:t>
            </a:r>
            <a:endParaRPr lang="en-US" sz="4600" dirty="0"/>
          </a:p>
          <a:p>
            <a:pPr indent="0" marL="0">
              <a:lnSpc>
                <a:spcPts val="5200"/>
              </a:lnSpc>
              <a:buNone/>
            </a:pPr>
            <a:r>
              <a:rPr lang="en-US" sz="4600" b="1" dirty="0">
                <a:solidFill>
                  <a:srgbClr val="F4F2EE"/>
                </a:solidFill>
                <a:latin typeface="Arial" pitchFamily="34" charset="0"/>
                <a:ea typeface="Arial" pitchFamily="34" charset="-122"/>
                <a:cs typeface="Arial" pitchFamily="34" charset="-120"/>
              </a:rPr>
              <a:t>who is with us.</a:t>
            </a:r>
            <a:endParaRPr lang="en-US" sz="4600" dirty="0"/>
          </a:p>
          <a:p>
            <a:pPr indent="0" marL="0">
              <a:lnSpc>
                <a:spcPts val="5200"/>
              </a:lnSpc>
              <a:buNone/>
            </a:pPr>
            <a:r>
              <a:rPr lang="en-US" sz="4600" b="1" dirty="0">
                <a:solidFill>
                  <a:srgbClr val="F4F2EE"/>
                </a:solidFill>
                <a:latin typeface="Arial" pitchFamily="34" charset="0"/>
                <a:ea typeface="Arial" pitchFamily="34" charset="-122"/>
                <a:cs typeface="Arial" pitchFamily="34" charset="-120"/>
              </a:rPr>
              <a:t>We can name them.</a:t>
            </a:r>
            <a:endParaRPr lang="en-US" sz="4600" dirty="0"/>
          </a:p>
        </p:txBody>
      </p:sp>
      <p:sp>
        <p:nvSpPr>
          <p:cNvPr id="5" name="Text 2"/>
          <p:cNvSpPr txBox="1"/>
          <p:nvPr/>
        </p:nvSpPr>
        <p:spPr>
          <a:xfrm>
            <a:off x="566928" y="4754880"/>
            <a:ext cx="7040880" cy="640080"/>
          </a:xfrm>
          <a:prstGeom prst="rect">
            <a:avLst/>
          </a:prstGeom>
          <a:noFill/>
          <a:ln/>
        </p:spPr>
        <p:txBody>
          <a:bodyPr wrap="square" lIns="0" tIns="0" rIns="0" bIns="0" rtlCol="0" anchor="ctr"/>
          <a:lstStyle/>
          <a:p>
            <a:pPr indent="0" marL="0">
              <a:lnSpc>
                <a:spcPts val="2300"/>
              </a:lnSpc>
              <a:buNone/>
            </a:pPr>
            <a:r>
              <a:rPr lang="en-US" sz="1550" dirty="0">
                <a:solidFill>
                  <a:srgbClr val="B5C9BA"/>
                </a:solidFill>
                <a:latin typeface="Arial" pitchFamily="34" charset="0"/>
                <a:ea typeface="Arial" pitchFamily="34" charset="-122"/>
                <a:cs typeface="Arial" pitchFamily="34" charset="-120"/>
              </a:rPr>
              <a:t>A supporter register for Turkana, built so that every number we publish can survive being questioned.</a:t>
            </a:r>
            <a:endParaRPr lang="en-US" sz="1550" dirty="0"/>
          </a:p>
        </p:txBody>
      </p:sp>
      <p:sp>
        <p:nvSpPr>
          <p:cNvPr id="6" name="Shape 3"/>
          <p:cNvSpPr/>
          <p:nvPr/>
        </p:nvSpPr>
        <p:spPr>
          <a:xfrm>
            <a:off x="566928" y="5724144"/>
            <a:ext cx="11027664" cy="0"/>
          </a:xfrm>
          <a:prstGeom prst="line">
            <a:avLst/>
          </a:prstGeom>
          <a:noFill/>
          <a:ln w="12700">
            <a:solidFill>
              <a:srgbClr val="0E8455"/>
            </a:solidFill>
            <a:prstDash val="solid"/>
          </a:ln>
        </p:spPr>
      </p:sp>
      <p:sp>
        <p:nvSpPr>
          <p:cNvPr id="7" name="Text 4"/>
          <p:cNvSpPr txBox="1"/>
          <p:nvPr/>
        </p:nvSpPr>
        <p:spPr>
          <a:xfrm>
            <a:off x="566928" y="5870448"/>
            <a:ext cx="5486400" cy="292608"/>
          </a:xfrm>
          <a:prstGeom prst="rect">
            <a:avLst/>
          </a:prstGeom>
          <a:noFill/>
          <a:ln/>
        </p:spPr>
        <p:txBody>
          <a:bodyPr wrap="square" lIns="0" tIns="0" rIns="0" bIns="0" rtlCol="0" anchor="ctr"/>
          <a:lstStyle/>
          <a:p>
            <a:pPr indent="0" marL="0">
              <a:buNone/>
            </a:pPr>
            <a:r>
              <a:rPr lang="en-US" sz="1000" b="1" spc="200" kern="0" dirty="0">
                <a:solidFill>
                  <a:srgbClr val="D6DAA7"/>
                </a:solidFill>
                <a:latin typeface="Arial" pitchFamily="34" charset="0"/>
                <a:ea typeface="Arial" pitchFamily="34" charset="-122"/>
                <a:cs typeface="Arial" pitchFamily="34" charset="-120"/>
              </a:rPr>
              <a:t>AKIYAR   ·   COMMAND BRIEF</a:t>
            </a:r>
            <a:endParaRPr lang="en-US" sz="1000" dirty="0"/>
          </a:p>
        </p:txBody>
      </p:sp>
      <p:sp>
        <p:nvSpPr>
          <p:cNvPr id="8" name="Text 5"/>
          <p:cNvSpPr txBox="1"/>
          <p:nvPr/>
        </p:nvSpPr>
        <p:spPr>
          <a:xfrm>
            <a:off x="6108192" y="5870448"/>
            <a:ext cx="5486400" cy="292608"/>
          </a:xfrm>
          <a:prstGeom prst="rect">
            <a:avLst/>
          </a:prstGeom>
          <a:noFill/>
          <a:ln/>
        </p:spPr>
        <p:txBody>
          <a:bodyPr wrap="square" lIns="0" tIns="0" rIns="0" bIns="0" rtlCol="0" anchor="ctr"/>
          <a:lstStyle/>
          <a:p>
            <a:pPr algn="r" indent="0" marL="0">
              <a:buNone/>
            </a:pPr>
            <a:r>
              <a:rPr lang="en-US" sz="1000" dirty="0">
                <a:solidFill>
                  <a:srgbClr val="B5C9BA"/>
                </a:solidFill>
                <a:latin typeface="Arial" pitchFamily="34" charset="0"/>
                <a:ea typeface="Arial" pitchFamily="34" charset="-122"/>
                <a:cs typeface="Arial" pitchFamily="34" charset="-120"/>
              </a:rPr>
              <a:t>Brian Lokwawi Napeirot   ·   IT Manager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25835"/>
        </a:solidFill>
      </p:bgPr>
    </p:bg>
    <p:spTree>
      <p:nvGrpSpPr>
        <p:cNvPr id="1" name=""/>
        <p:cNvGrpSpPr/>
        <p:nvPr/>
      </p:nvGrpSpPr>
      <p:grpSpPr>
        <a:xfrm>
          <a:off x="0" y="0"/>
          <a:ext cx="0" cy="0"/>
          <a:chOff x="0" y="0"/>
          <a:chExt cx="0" cy="0"/>
        </a:xfrm>
      </p:grpSpPr>
      <p:pic>
        <p:nvPicPr>
          <p:cNvPr id="2" name="Image 0" descr="ekusi-mark-opt.png">    </p:cNvPr>
          <p:cNvPicPr>
            <a:picLocks noChangeAspect="1"/>
          </p:cNvPicPr>
          <p:nvPr/>
        </p:nvPicPr>
        <p:blipFill>
          <a:blip r:embed="rId1"/>
          <a:stretch>
            <a:fillRect/>
          </a:stretch>
        </p:blipFill>
        <p:spPr>
          <a:xfrm>
            <a:off x="566928" y="347472"/>
            <a:ext cx="619029" cy="566928"/>
          </a:xfrm>
          <a:prstGeom prst="rect">
            <a:avLst/>
          </a:prstGeom>
        </p:spPr>
      </p:pic>
      <p:sp>
        <p:nvSpPr>
          <p:cNvPr id="3" name="Text 0"/>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AGENDA</a:t>
            </a:r>
            <a:endParaRPr lang="en-US" sz="1100" dirty="0"/>
          </a:p>
        </p:txBody>
      </p:sp>
      <p:sp>
        <p:nvSpPr>
          <p:cNvPr id="4" name="Text 1"/>
          <p:cNvSpPr txBox="1"/>
          <p:nvPr/>
        </p:nvSpPr>
        <p:spPr>
          <a:xfrm>
            <a:off x="566928" y="1024128"/>
            <a:ext cx="52120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Ten minutes.</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Six things.</a:t>
            </a:r>
            <a:endParaRPr lang="en-US" sz="3400" dirty="0"/>
          </a:p>
        </p:txBody>
      </p:sp>
      <p:sp>
        <p:nvSpPr>
          <p:cNvPr id="5" name="Text 2"/>
          <p:cNvSpPr txBox="1"/>
          <p:nvPr/>
        </p:nvSpPr>
        <p:spPr>
          <a:xfrm>
            <a:off x="566928" y="2286000"/>
            <a:ext cx="4937760" cy="365760"/>
          </a:xfrm>
          <a:prstGeom prst="rect">
            <a:avLst/>
          </a:prstGeom>
          <a:noFill/>
          <a:ln/>
        </p:spPr>
        <p:txBody>
          <a:bodyPr wrap="square" lIns="0" tIns="0" rIns="0" bIns="0" rtlCol="0" anchor="ctr"/>
          <a:lstStyle/>
          <a:p>
            <a:pPr indent="0" marL="0">
              <a:buNone/>
            </a:pPr>
            <a:r>
              <a:rPr lang="en-US" sz="1200" i="1" dirty="0">
                <a:solidFill>
                  <a:srgbClr val="D6DAA7"/>
                </a:solidFill>
                <a:latin typeface="Arial" pitchFamily="34" charset="0"/>
                <a:ea typeface="Arial" pitchFamily="34" charset="-122"/>
                <a:cs typeface="Arial" pitchFamily="34" charset="-120"/>
              </a:rPr>
              <a:t>Click any line to jump straight to it.</a:t>
            </a:r>
            <a:endParaRPr lang="en-US" sz="1200" dirty="0"/>
          </a:p>
        </p:txBody>
      </p:sp>
      <p:sp>
        <p:nvSpPr>
          <p:cNvPr id="6" name="Shape 3"/>
          <p:cNvSpPr/>
          <p:nvPr/>
        </p:nvSpPr>
        <p:spPr>
          <a:xfrm>
            <a:off x="566928" y="2962656"/>
            <a:ext cx="4846320" cy="0"/>
          </a:xfrm>
          <a:prstGeom prst="line">
            <a:avLst/>
          </a:prstGeom>
          <a:noFill/>
          <a:ln w="12700">
            <a:solidFill>
              <a:srgbClr val="0E8455"/>
            </a:solidFill>
            <a:prstDash val="solid"/>
          </a:ln>
        </p:spPr>
      </p:sp>
      <p:sp>
        <p:nvSpPr>
          <p:cNvPr id="7" name="Text 4"/>
          <p:cNvSpPr txBox="1"/>
          <p:nvPr/>
        </p:nvSpPr>
        <p:spPr>
          <a:xfrm>
            <a:off x="566928" y="3127248"/>
            <a:ext cx="4846320" cy="274320"/>
          </a:xfrm>
          <a:prstGeom prst="rect">
            <a:avLst/>
          </a:prstGeom>
          <a:noFill/>
          <a:ln/>
        </p:spPr>
        <p:txBody>
          <a:bodyPr wrap="square" lIns="0" tIns="0" rIns="0" bIns="0" rtlCol="0" anchor="ctr"/>
          <a:lstStyle/>
          <a:p>
            <a:pPr indent="0" marL="0">
              <a:buNone/>
            </a:pPr>
            <a:r>
              <a:rPr lang="en-US" sz="1000" b="1" spc="180" kern="0" dirty="0">
                <a:solidFill>
                  <a:srgbClr val="D6DAA7"/>
                </a:solidFill>
                <a:latin typeface="Arial" pitchFamily="34" charset="0"/>
                <a:ea typeface="Arial" pitchFamily="34" charset="-122"/>
                <a:cs typeface="Arial" pitchFamily="34" charset="-120"/>
              </a:rPr>
              <a:t>WHAT WE ARE PLAYING FOR</a:t>
            </a:r>
            <a:endParaRPr lang="en-US" sz="1000" dirty="0"/>
          </a:p>
        </p:txBody>
      </p:sp>
      <p:sp>
        <p:nvSpPr>
          <p:cNvPr id="8" name="Text 5"/>
          <p:cNvSpPr txBox="1"/>
          <p:nvPr/>
        </p:nvSpPr>
        <p:spPr>
          <a:xfrm>
            <a:off x="566928" y="3584448"/>
            <a:ext cx="1920240" cy="457200"/>
          </a:xfrm>
          <a:prstGeom prst="rect">
            <a:avLst/>
          </a:prstGeom>
          <a:noFill/>
          <a:ln/>
        </p:spPr>
        <p:txBody>
          <a:bodyPr wrap="square" lIns="0" tIns="0" rIns="0" bIns="0" rtlCol="0" anchor="ctr"/>
          <a:lstStyle/>
          <a:p>
            <a:pPr indent="0" marL="0">
              <a:buNone/>
            </a:pPr>
            <a:r>
              <a:rPr lang="en-US" sz="2600" b="1" dirty="0">
                <a:solidFill>
                  <a:srgbClr val="FFB066"/>
                </a:solidFill>
                <a:latin typeface="Arial" pitchFamily="34" charset="0"/>
                <a:ea typeface="Arial" pitchFamily="34" charset="-122"/>
                <a:cs typeface="Arial" pitchFamily="34" charset="-120"/>
              </a:rPr>
              <a:t>238,528</a:t>
            </a:r>
            <a:endParaRPr lang="en-US" sz="2600" dirty="0"/>
          </a:p>
        </p:txBody>
      </p:sp>
      <p:sp>
        <p:nvSpPr>
          <p:cNvPr id="9" name="Text 6"/>
          <p:cNvSpPr txBox="1"/>
          <p:nvPr/>
        </p:nvSpPr>
        <p:spPr>
          <a:xfrm>
            <a:off x="2624328" y="3694176"/>
            <a:ext cx="2834640" cy="365760"/>
          </a:xfrm>
          <a:prstGeom prst="rect">
            <a:avLst/>
          </a:prstGeom>
          <a:noFill/>
          <a:ln/>
        </p:spPr>
        <p:txBody>
          <a:bodyPr wrap="square" lIns="0" tIns="0" rIns="0" bIns="0" rtlCol="0" anchor="ctr"/>
          <a:lstStyle/>
          <a:p>
            <a:pPr indent="0" marL="0">
              <a:buNone/>
            </a:pPr>
            <a:r>
              <a:rPr lang="en-US" sz="1150" dirty="0">
                <a:solidFill>
                  <a:srgbClr val="B5C9BA"/>
                </a:solidFill>
                <a:latin typeface="Arial" pitchFamily="34" charset="0"/>
                <a:ea typeface="Arial" pitchFamily="34" charset="-122"/>
                <a:cs typeface="Arial" pitchFamily="34" charset="-120"/>
              </a:rPr>
              <a:t>registered voters in Turkana</a:t>
            </a:r>
            <a:endParaRPr lang="en-US" sz="1150" dirty="0"/>
          </a:p>
        </p:txBody>
      </p:sp>
      <p:sp>
        <p:nvSpPr>
          <p:cNvPr id="10" name="Text 7"/>
          <p:cNvSpPr txBox="1"/>
          <p:nvPr/>
        </p:nvSpPr>
        <p:spPr>
          <a:xfrm>
            <a:off x="566928" y="4407408"/>
            <a:ext cx="1920240" cy="457200"/>
          </a:xfrm>
          <a:prstGeom prst="rect">
            <a:avLst/>
          </a:prstGeom>
          <a:noFill/>
          <a:ln/>
        </p:spPr>
        <p:txBody>
          <a:bodyPr wrap="square" lIns="0" tIns="0" rIns="0" bIns="0" rtlCol="0" anchor="ctr"/>
          <a:lstStyle/>
          <a:p>
            <a:pPr indent="0" marL="0">
              <a:buNone/>
            </a:pPr>
            <a:r>
              <a:rPr lang="en-US" sz="2600" b="1" dirty="0">
                <a:solidFill>
                  <a:srgbClr val="F4F2EE"/>
                </a:solidFill>
                <a:latin typeface="Arial" pitchFamily="34" charset="0"/>
                <a:ea typeface="Arial" pitchFamily="34" charset="-122"/>
                <a:cs typeface="Arial" pitchFamily="34" charset="-120"/>
              </a:rPr>
              <a:t>30</a:t>
            </a:r>
            <a:endParaRPr lang="en-US" sz="2600" dirty="0"/>
          </a:p>
        </p:txBody>
      </p:sp>
      <p:sp>
        <p:nvSpPr>
          <p:cNvPr id="11" name="Text 8"/>
          <p:cNvSpPr txBox="1"/>
          <p:nvPr/>
        </p:nvSpPr>
        <p:spPr>
          <a:xfrm>
            <a:off x="2624328" y="4517136"/>
            <a:ext cx="2834640" cy="365760"/>
          </a:xfrm>
          <a:prstGeom prst="rect">
            <a:avLst/>
          </a:prstGeom>
          <a:noFill/>
          <a:ln/>
        </p:spPr>
        <p:txBody>
          <a:bodyPr wrap="square" lIns="0" tIns="0" rIns="0" bIns="0" rtlCol="0" anchor="ctr"/>
          <a:lstStyle/>
          <a:p>
            <a:pPr indent="0" marL="0">
              <a:buNone/>
            </a:pPr>
            <a:r>
              <a:rPr lang="en-US" sz="1150" dirty="0">
                <a:solidFill>
                  <a:srgbClr val="B5C9BA"/>
                </a:solidFill>
                <a:latin typeface="Arial" pitchFamily="34" charset="0"/>
                <a:ea typeface="Arial" pitchFamily="34" charset="-122"/>
                <a:cs typeface="Arial" pitchFamily="34" charset="-120"/>
              </a:rPr>
              <a:t>wards, each with its own real total</a:t>
            </a:r>
            <a:endParaRPr lang="en-US" sz="1150" dirty="0"/>
          </a:p>
        </p:txBody>
      </p:sp>
      <p:sp>
        <p:nvSpPr>
          <p:cNvPr id="12" name="Text 9"/>
          <p:cNvSpPr txBox="1"/>
          <p:nvPr/>
        </p:nvSpPr>
        <p:spPr>
          <a:xfrm>
            <a:off x="566928" y="5230368"/>
            <a:ext cx="1920240" cy="457200"/>
          </a:xfrm>
          <a:prstGeom prst="rect">
            <a:avLst/>
          </a:prstGeom>
          <a:noFill/>
          <a:ln/>
        </p:spPr>
        <p:txBody>
          <a:bodyPr wrap="square" lIns="0" tIns="0" rIns="0" bIns="0" rtlCol="0" anchor="ctr"/>
          <a:lstStyle/>
          <a:p>
            <a:pPr indent="0" marL="0">
              <a:buNone/>
            </a:pPr>
            <a:r>
              <a:rPr lang="en-US" sz="2600" b="1" dirty="0">
                <a:solidFill>
                  <a:srgbClr val="F4F2EE"/>
                </a:solidFill>
                <a:latin typeface="Arial" pitchFamily="34" charset="0"/>
                <a:ea typeface="Arial" pitchFamily="34" charset="-122"/>
                <a:cs typeface="Arial" pitchFamily="34" charset="-120"/>
              </a:rPr>
              <a:t>559</a:t>
            </a:r>
            <a:endParaRPr lang="en-US" sz="2600" dirty="0"/>
          </a:p>
        </p:txBody>
      </p:sp>
      <p:sp>
        <p:nvSpPr>
          <p:cNvPr id="13" name="Text 10"/>
          <p:cNvSpPr txBox="1"/>
          <p:nvPr/>
        </p:nvSpPr>
        <p:spPr>
          <a:xfrm>
            <a:off x="2624328" y="5340096"/>
            <a:ext cx="2834640" cy="365760"/>
          </a:xfrm>
          <a:prstGeom prst="rect">
            <a:avLst/>
          </a:prstGeom>
          <a:noFill/>
          <a:ln/>
        </p:spPr>
        <p:txBody>
          <a:bodyPr wrap="square" lIns="0" tIns="0" rIns="0" bIns="0" rtlCol="0" anchor="ctr"/>
          <a:lstStyle/>
          <a:p>
            <a:pPr indent="0" marL="0">
              <a:buNone/>
            </a:pPr>
            <a:r>
              <a:rPr lang="en-US" sz="1150" dirty="0">
                <a:solidFill>
                  <a:srgbClr val="B5C9BA"/>
                </a:solidFill>
                <a:latin typeface="Arial" pitchFamily="34" charset="0"/>
                <a:ea typeface="Arial" pitchFamily="34" charset="-122"/>
                <a:cs typeface="Arial" pitchFamily="34" charset="-120"/>
              </a:rPr>
              <a:t>polling stations where it is counted</a:t>
            </a:r>
            <a:endParaRPr lang="en-US" sz="1150" dirty="0"/>
          </a:p>
        </p:txBody>
      </p:sp>
      <p:sp>
        <p:nvSpPr>
          <p:cNvPr id="14" name="Shape 11"/>
          <p:cNvSpPr/>
          <p:nvPr/>
        </p:nvSpPr>
        <p:spPr>
          <a:xfrm>
            <a:off x="5943600" y="1042416"/>
            <a:ext cx="5650992" cy="694944"/>
          </a:xfrm>
          <a:prstGeom prst="roundRect">
            <a:avLst>
              <a:gd name="adj" fmla="val 3947"/>
            </a:avLst>
          </a:prstGeom>
          <a:solidFill>
            <a:srgbClr val="01412A"/>
          </a:solidFill>
          <a:ln w="9525">
            <a:solidFill>
              <a:srgbClr val="0A6E45"/>
            </a:solidFill>
            <a:prstDash val="solid"/>
          </a:ln>
        </p:spPr>
      </p:sp>
      <p:sp>
        <p:nvSpPr>
          <p:cNvPr id="15" name="Text 12"/>
          <p:cNvSpPr txBox="1"/>
          <p:nvPr/>
        </p:nvSpPr>
        <p:spPr>
          <a:xfrm>
            <a:off x="6163056" y="1225296"/>
            <a:ext cx="457200" cy="329184"/>
          </a:xfrm>
          <a:prstGeom prst="rect">
            <a:avLst/>
          </a:prstGeom>
          <a:noFill/>
          <a:ln/>
        </p:spPr>
        <p:txBody>
          <a:bodyPr wrap="square" lIns="0" tIns="0" rIns="0" bIns="0" rtlCol="0" anchor="ctr"/>
          <a:lstStyle/>
          <a:p>
            <a:pPr indent="0" marL="0">
              <a:buNone/>
            </a:pPr>
            <a:r>
              <a:rPr lang="en-US" sz="1200" b="1" spc="100" kern="0" dirty="0">
                <a:solidFill>
                  <a:srgbClr val="FFB066"/>
                </a:solidFill>
                <a:latin typeface="Arial" pitchFamily="34" charset="0"/>
                <a:ea typeface="Arial" pitchFamily="34" charset="-122"/>
                <a:cs typeface="Arial" pitchFamily="34" charset="-120"/>
              </a:rPr>
              <a:t>01</a:t>
            </a:r>
            <a:endParaRPr lang="en-US" sz="1200" dirty="0"/>
          </a:p>
        </p:txBody>
      </p:sp>
      <p:sp>
        <p:nvSpPr>
          <p:cNvPr id="16" name="Text 13">
            <a:hlinkClick r:id="rId2" tooltip="The problem" action="ppaction://hlinksldjump"/>
          </p:cNvPr>
          <p:cNvSpPr txBox="1"/>
          <p:nvPr/>
        </p:nvSpPr>
        <p:spPr>
          <a:xfrm>
            <a:off x="6693408" y="1143000"/>
            <a:ext cx="3108960" cy="292608"/>
          </a:xfrm>
          <a:prstGeom prst="rect">
            <a:avLst/>
          </a:prstGeom>
          <a:noFill/>
          <a:ln/>
        </p:spPr>
        <p:txBody>
          <a:bodyPr wrap="square" lIns="0" tIns="0" rIns="0" bIns="0" rtlCol="0" anchor="ctr"/>
          <a:lstStyle/>
          <a:p>
            <a:pPr indent="0" marL="0">
              <a:buNone/>
            </a:pPr>
            <a:r>
              <a:rPr lang="en-US" sz="1450" b="1" u="sng" dirty="0">
                <a:solidFill>
                  <a:srgbClr val="F4F2EE"/>
                </a:solidFill>
                <a:latin typeface="Arial" pitchFamily="34" charset="0"/>
                <a:ea typeface="Arial" pitchFamily="34" charset="-122"/>
                <a:cs typeface="Arial" pitchFamily="34" charset="-120"/>
                <a:hlinkClick r:id="rId2" action="ppaction://hlinksldjump" tooltip="The problem">
                  <a:extLst>
                    <a:ext uri="{A12FA001-AC4F-418D-AE19-62706E023703}">
                      <ahyp:hlinkClr xmlns:ahyp="http://schemas.microsoft.com/office/drawing/2018/hyperlinkcolor" val="tx"/>
                    </a:ext>
                  </a:extLst>
                </a:hlinkClick>
              </a:rPr>
              <a:t>The problem</a:t>
            </a:r>
            <a:endParaRPr lang="en-US" sz="1450" dirty="0"/>
          </a:p>
        </p:txBody>
      </p:sp>
      <p:sp>
        <p:nvSpPr>
          <p:cNvPr id="17" name="Text 14"/>
          <p:cNvSpPr txBox="1"/>
          <p:nvPr/>
        </p:nvSpPr>
        <p:spPr>
          <a:xfrm>
            <a:off x="6693408" y="1426464"/>
            <a:ext cx="466344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Everyone in this race is guessing</a:t>
            </a:r>
            <a:endParaRPr lang="en-US" sz="1050" dirty="0"/>
          </a:p>
        </p:txBody>
      </p:sp>
      <p:sp>
        <p:nvSpPr>
          <p:cNvPr id="18" name="Shape 15"/>
          <p:cNvSpPr/>
          <p:nvPr/>
        </p:nvSpPr>
        <p:spPr>
          <a:xfrm>
            <a:off x="11228832" y="1344168"/>
            <a:ext cx="100584" cy="100584"/>
          </a:xfrm>
          <a:prstGeom prst="diamond">
            <a:avLst/>
          </a:prstGeom>
          <a:solidFill>
            <a:srgbClr val="D6DAA7"/>
          </a:solidFill>
          <a:ln/>
        </p:spPr>
      </p:sp>
      <p:sp>
        <p:nvSpPr>
          <p:cNvPr id="19" name="Shape 16"/>
          <p:cNvSpPr/>
          <p:nvPr/>
        </p:nvSpPr>
        <p:spPr>
          <a:xfrm>
            <a:off x="5943600" y="1865376"/>
            <a:ext cx="5650992" cy="694944"/>
          </a:xfrm>
          <a:prstGeom prst="roundRect">
            <a:avLst>
              <a:gd name="adj" fmla="val 3947"/>
            </a:avLst>
          </a:prstGeom>
          <a:solidFill>
            <a:srgbClr val="01412A"/>
          </a:solidFill>
          <a:ln w="9525">
            <a:solidFill>
              <a:srgbClr val="0A6E45"/>
            </a:solidFill>
            <a:prstDash val="solid"/>
          </a:ln>
        </p:spPr>
      </p:sp>
      <p:sp>
        <p:nvSpPr>
          <p:cNvPr id="20" name="Text 17"/>
          <p:cNvSpPr txBox="1"/>
          <p:nvPr/>
        </p:nvSpPr>
        <p:spPr>
          <a:xfrm>
            <a:off x="6163056" y="2048256"/>
            <a:ext cx="457200" cy="329184"/>
          </a:xfrm>
          <a:prstGeom prst="rect">
            <a:avLst/>
          </a:prstGeom>
          <a:noFill/>
          <a:ln/>
        </p:spPr>
        <p:txBody>
          <a:bodyPr wrap="square" lIns="0" tIns="0" rIns="0" bIns="0" rtlCol="0" anchor="ctr"/>
          <a:lstStyle/>
          <a:p>
            <a:pPr indent="0" marL="0">
              <a:buNone/>
            </a:pPr>
            <a:r>
              <a:rPr lang="en-US" sz="1200" b="1" spc="100" kern="0" dirty="0">
                <a:solidFill>
                  <a:srgbClr val="FFB066"/>
                </a:solidFill>
                <a:latin typeface="Arial" pitchFamily="34" charset="0"/>
                <a:ea typeface="Arial" pitchFamily="34" charset="-122"/>
                <a:cs typeface="Arial" pitchFamily="34" charset="-120"/>
              </a:rPr>
              <a:t>02</a:t>
            </a:r>
            <a:endParaRPr lang="en-US" sz="1200" dirty="0"/>
          </a:p>
        </p:txBody>
      </p:sp>
      <p:sp>
        <p:nvSpPr>
          <p:cNvPr id="21" name="Text 18">
            <a:hlinkClick r:id="rId3" tooltip="What we collect" action="ppaction://hlinksldjump"/>
          </p:cNvPr>
          <p:cNvSpPr txBox="1"/>
          <p:nvPr/>
        </p:nvSpPr>
        <p:spPr>
          <a:xfrm>
            <a:off x="6693408" y="1965960"/>
            <a:ext cx="3108960" cy="292608"/>
          </a:xfrm>
          <a:prstGeom prst="rect">
            <a:avLst/>
          </a:prstGeom>
          <a:noFill/>
          <a:ln/>
        </p:spPr>
        <p:txBody>
          <a:bodyPr wrap="square" lIns="0" tIns="0" rIns="0" bIns="0" rtlCol="0" anchor="ctr"/>
          <a:lstStyle/>
          <a:p>
            <a:pPr indent="0" marL="0">
              <a:buNone/>
            </a:pPr>
            <a:r>
              <a:rPr lang="en-US" sz="1450" b="1" u="sng" dirty="0">
                <a:solidFill>
                  <a:srgbClr val="F4F2EE"/>
                </a:solidFill>
                <a:latin typeface="Arial" pitchFamily="34" charset="0"/>
                <a:ea typeface="Arial" pitchFamily="34" charset="-122"/>
                <a:cs typeface="Arial" pitchFamily="34" charset="-120"/>
                <a:hlinkClick r:id="rId3" action="ppaction://hlinksldjump" tooltip="What we collect">
                  <a:extLst>
                    <a:ext uri="{A12FA001-AC4F-418D-AE19-62706E023703}">
                      <ahyp:hlinkClr xmlns:ahyp="http://schemas.microsoft.com/office/drawing/2018/hyperlinkcolor" val="tx"/>
                    </a:ext>
                  </a:extLst>
                </a:hlinkClick>
              </a:rPr>
              <a:t>What we collect</a:t>
            </a:r>
            <a:endParaRPr lang="en-US" sz="1450" dirty="0"/>
          </a:p>
        </p:txBody>
      </p:sp>
      <p:sp>
        <p:nvSpPr>
          <p:cNvPr id="22" name="Text 19"/>
          <p:cNvSpPr txBox="1"/>
          <p:nvPr/>
        </p:nvSpPr>
        <p:spPr>
          <a:xfrm>
            <a:off x="6693408" y="2249424"/>
            <a:ext cx="466344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One supporter, five facts</a:t>
            </a:r>
            <a:endParaRPr lang="en-US" sz="1050" dirty="0"/>
          </a:p>
        </p:txBody>
      </p:sp>
      <p:sp>
        <p:nvSpPr>
          <p:cNvPr id="23" name="Shape 20"/>
          <p:cNvSpPr/>
          <p:nvPr/>
        </p:nvSpPr>
        <p:spPr>
          <a:xfrm>
            <a:off x="11228832" y="2167128"/>
            <a:ext cx="100584" cy="100584"/>
          </a:xfrm>
          <a:prstGeom prst="diamond">
            <a:avLst/>
          </a:prstGeom>
          <a:solidFill>
            <a:srgbClr val="D6DAA7"/>
          </a:solidFill>
          <a:ln/>
        </p:spPr>
      </p:sp>
      <p:sp>
        <p:nvSpPr>
          <p:cNvPr id="24" name="Shape 21"/>
          <p:cNvSpPr/>
          <p:nvPr/>
        </p:nvSpPr>
        <p:spPr>
          <a:xfrm>
            <a:off x="5943600" y="2688336"/>
            <a:ext cx="5650992" cy="694944"/>
          </a:xfrm>
          <a:prstGeom prst="roundRect">
            <a:avLst>
              <a:gd name="adj" fmla="val 3947"/>
            </a:avLst>
          </a:prstGeom>
          <a:solidFill>
            <a:srgbClr val="01412A"/>
          </a:solidFill>
          <a:ln w="9525">
            <a:solidFill>
              <a:srgbClr val="0A6E45"/>
            </a:solidFill>
            <a:prstDash val="solid"/>
          </a:ln>
        </p:spPr>
      </p:sp>
      <p:sp>
        <p:nvSpPr>
          <p:cNvPr id="25" name="Text 22"/>
          <p:cNvSpPr txBox="1"/>
          <p:nvPr/>
        </p:nvSpPr>
        <p:spPr>
          <a:xfrm>
            <a:off x="6163056" y="2871216"/>
            <a:ext cx="457200" cy="329184"/>
          </a:xfrm>
          <a:prstGeom prst="rect">
            <a:avLst/>
          </a:prstGeom>
          <a:noFill/>
          <a:ln/>
        </p:spPr>
        <p:txBody>
          <a:bodyPr wrap="square" lIns="0" tIns="0" rIns="0" bIns="0" rtlCol="0" anchor="ctr"/>
          <a:lstStyle/>
          <a:p>
            <a:pPr indent="0" marL="0">
              <a:buNone/>
            </a:pPr>
            <a:r>
              <a:rPr lang="en-US" sz="1200" b="1" spc="100" kern="0" dirty="0">
                <a:solidFill>
                  <a:srgbClr val="FFB066"/>
                </a:solidFill>
                <a:latin typeface="Arial" pitchFamily="34" charset="0"/>
                <a:ea typeface="Arial" pitchFamily="34" charset="-122"/>
                <a:cs typeface="Arial" pitchFamily="34" charset="-120"/>
              </a:rPr>
              <a:t>03</a:t>
            </a:r>
            <a:endParaRPr lang="en-US" sz="1200" dirty="0"/>
          </a:p>
        </p:txBody>
      </p:sp>
      <p:sp>
        <p:nvSpPr>
          <p:cNvPr id="26" name="Text 23">
            <a:hlinkClick r:id="rId4" tooltip="Why saturation wins" action="ppaction://hlinksldjump"/>
          </p:cNvPr>
          <p:cNvSpPr txBox="1"/>
          <p:nvPr/>
        </p:nvSpPr>
        <p:spPr>
          <a:xfrm>
            <a:off x="6693408" y="2788920"/>
            <a:ext cx="3108960" cy="292608"/>
          </a:xfrm>
          <a:prstGeom prst="rect">
            <a:avLst/>
          </a:prstGeom>
          <a:noFill/>
          <a:ln/>
        </p:spPr>
        <p:txBody>
          <a:bodyPr wrap="square" lIns="0" tIns="0" rIns="0" bIns="0" rtlCol="0" anchor="ctr"/>
          <a:lstStyle/>
          <a:p>
            <a:pPr indent="0" marL="0">
              <a:buNone/>
            </a:pPr>
            <a:r>
              <a:rPr lang="en-US" sz="1450" b="1" u="sng" dirty="0">
                <a:solidFill>
                  <a:srgbClr val="F4F2EE"/>
                </a:solidFill>
                <a:latin typeface="Arial" pitchFamily="34" charset="0"/>
                <a:ea typeface="Arial" pitchFamily="34" charset="-122"/>
                <a:cs typeface="Arial" pitchFamily="34" charset="-120"/>
                <a:hlinkClick r:id="rId4" action="ppaction://hlinksldjump" tooltip="Why saturation wins">
                  <a:extLst>
                    <a:ext uri="{A12FA001-AC4F-418D-AE19-62706E023703}">
                      <ahyp:hlinkClr xmlns:ahyp="http://schemas.microsoft.com/office/drawing/2018/hyperlinkcolor" val="tx"/>
                    </a:ext>
                  </a:extLst>
                </a:hlinkClick>
              </a:rPr>
              <a:t>Why saturation wins</a:t>
            </a:r>
            <a:endParaRPr lang="en-US" sz="1450" dirty="0"/>
          </a:p>
        </p:txBody>
      </p:sp>
      <p:sp>
        <p:nvSpPr>
          <p:cNvPr id="27" name="Text 24"/>
          <p:cNvSpPr txBox="1"/>
          <p:nvPr/>
        </p:nvSpPr>
        <p:spPr>
          <a:xfrm>
            <a:off x="6693408" y="3072384"/>
            <a:ext cx="466344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Why share beats headcount</a:t>
            </a:r>
            <a:endParaRPr lang="en-US" sz="1050" dirty="0"/>
          </a:p>
        </p:txBody>
      </p:sp>
      <p:sp>
        <p:nvSpPr>
          <p:cNvPr id="28" name="Shape 25"/>
          <p:cNvSpPr/>
          <p:nvPr/>
        </p:nvSpPr>
        <p:spPr>
          <a:xfrm>
            <a:off x="11228832" y="2990088"/>
            <a:ext cx="100584" cy="100584"/>
          </a:xfrm>
          <a:prstGeom prst="diamond">
            <a:avLst/>
          </a:prstGeom>
          <a:solidFill>
            <a:srgbClr val="D6DAA7"/>
          </a:solidFill>
          <a:ln/>
        </p:spPr>
      </p:sp>
      <p:sp>
        <p:nvSpPr>
          <p:cNvPr id="29" name="Shape 26"/>
          <p:cNvSpPr/>
          <p:nvPr/>
        </p:nvSpPr>
        <p:spPr>
          <a:xfrm>
            <a:off x="5943600" y="3511296"/>
            <a:ext cx="5650992" cy="694944"/>
          </a:xfrm>
          <a:prstGeom prst="roundRect">
            <a:avLst>
              <a:gd name="adj" fmla="val 3947"/>
            </a:avLst>
          </a:prstGeom>
          <a:solidFill>
            <a:srgbClr val="01412A"/>
          </a:solidFill>
          <a:ln w="9525">
            <a:solidFill>
              <a:srgbClr val="0A6E45"/>
            </a:solidFill>
            <a:prstDash val="solid"/>
          </a:ln>
        </p:spPr>
      </p:sp>
      <p:sp>
        <p:nvSpPr>
          <p:cNvPr id="30" name="Text 27"/>
          <p:cNvSpPr txBox="1"/>
          <p:nvPr/>
        </p:nvSpPr>
        <p:spPr>
          <a:xfrm>
            <a:off x="6163056" y="3694176"/>
            <a:ext cx="457200" cy="329184"/>
          </a:xfrm>
          <a:prstGeom prst="rect">
            <a:avLst/>
          </a:prstGeom>
          <a:noFill/>
          <a:ln/>
        </p:spPr>
        <p:txBody>
          <a:bodyPr wrap="square" lIns="0" tIns="0" rIns="0" bIns="0" rtlCol="0" anchor="ctr"/>
          <a:lstStyle/>
          <a:p>
            <a:pPr indent="0" marL="0">
              <a:buNone/>
            </a:pPr>
            <a:r>
              <a:rPr lang="en-US" sz="1200" b="1" spc="100" kern="0" dirty="0">
                <a:solidFill>
                  <a:srgbClr val="FFB066"/>
                </a:solidFill>
                <a:latin typeface="Arial" pitchFamily="34" charset="0"/>
                <a:ea typeface="Arial" pitchFamily="34" charset="-122"/>
                <a:cs typeface="Arial" pitchFamily="34" charset="-120"/>
              </a:rPr>
              <a:t>04</a:t>
            </a:r>
            <a:endParaRPr lang="en-US" sz="1200" dirty="0"/>
          </a:p>
        </p:txBody>
      </p:sp>
      <p:sp>
        <p:nvSpPr>
          <p:cNvPr id="31" name="Text 28">
            <a:hlinkClick r:id="rId5" tooltip="Where to go next" action="ppaction://hlinksldjump"/>
          </p:cNvPr>
          <p:cNvSpPr txBox="1"/>
          <p:nvPr/>
        </p:nvSpPr>
        <p:spPr>
          <a:xfrm>
            <a:off x="6693408" y="3611880"/>
            <a:ext cx="3108960" cy="292608"/>
          </a:xfrm>
          <a:prstGeom prst="rect">
            <a:avLst/>
          </a:prstGeom>
          <a:noFill/>
          <a:ln/>
        </p:spPr>
        <p:txBody>
          <a:bodyPr wrap="square" lIns="0" tIns="0" rIns="0" bIns="0" rtlCol="0" anchor="ctr"/>
          <a:lstStyle/>
          <a:p>
            <a:pPr indent="0" marL="0">
              <a:buNone/>
            </a:pPr>
            <a:r>
              <a:rPr lang="en-US" sz="1450" b="1" u="sng" dirty="0">
                <a:solidFill>
                  <a:srgbClr val="F4F2EE"/>
                </a:solidFill>
                <a:latin typeface="Arial" pitchFamily="34" charset="0"/>
                <a:ea typeface="Arial" pitchFamily="34" charset="-122"/>
                <a:cs typeface="Arial" pitchFamily="34" charset="-120"/>
                <a:hlinkClick r:id="rId5" action="ppaction://hlinksldjump" tooltip="Where to go next">
                  <a:extLst>
                    <a:ext uri="{A12FA001-AC4F-418D-AE19-62706E023703}">
                      <ahyp:hlinkClr xmlns:ahyp="http://schemas.microsoft.com/office/drawing/2018/hyperlinkcolor" val="tx"/>
                    </a:ext>
                  </a:extLst>
                </a:hlinkClick>
              </a:rPr>
              <a:t>Where to go next</a:t>
            </a:r>
            <a:endParaRPr lang="en-US" sz="1450" dirty="0"/>
          </a:p>
        </p:txBody>
      </p:sp>
      <p:sp>
        <p:nvSpPr>
          <p:cNvPr id="32" name="Text 29"/>
          <p:cNvSpPr txBox="1"/>
          <p:nvPr/>
        </p:nvSpPr>
        <p:spPr>
          <a:xfrm>
            <a:off x="6693408" y="3895344"/>
            <a:ext cx="466344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The board picks the route</a:t>
            </a:r>
            <a:endParaRPr lang="en-US" sz="1050" dirty="0"/>
          </a:p>
        </p:txBody>
      </p:sp>
      <p:sp>
        <p:nvSpPr>
          <p:cNvPr id="33" name="Shape 30"/>
          <p:cNvSpPr/>
          <p:nvPr/>
        </p:nvSpPr>
        <p:spPr>
          <a:xfrm>
            <a:off x="11228832" y="3813048"/>
            <a:ext cx="100584" cy="100584"/>
          </a:xfrm>
          <a:prstGeom prst="diamond">
            <a:avLst/>
          </a:prstGeom>
          <a:solidFill>
            <a:srgbClr val="D6DAA7"/>
          </a:solidFill>
          <a:ln/>
        </p:spPr>
      </p:sp>
      <p:sp>
        <p:nvSpPr>
          <p:cNvPr id="34" name="Shape 31"/>
          <p:cNvSpPr/>
          <p:nvPr/>
        </p:nvSpPr>
        <p:spPr>
          <a:xfrm>
            <a:off x="5943600" y="4334256"/>
            <a:ext cx="5650992" cy="694944"/>
          </a:xfrm>
          <a:prstGeom prst="roundRect">
            <a:avLst>
              <a:gd name="adj" fmla="val 3947"/>
            </a:avLst>
          </a:prstGeom>
          <a:solidFill>
            <a:srgbClr val="01412A"/>
          </a:solidFill>
          <a:ln w="9525">
            <a:solidFill>
              <a:srgbClr val="0A6E45"/>
            </a:solidFill>
            <a:prstDash val="solid"/>
          </a:ln>
        </p:spPr>
      </p:sp>
      <p:sp>
        <p:nvSpPr>
          <p:cNvPr id="35" name="Text 32"/>
          <p:cNvSpPr txBox="1"/>
          <p:nvPr/>
        </p:nvSpPr>
        <p:spPr>
          <a:xfrm>
            <a:off x="6163056" y="4517136"/>
            <a:ext cx="457200" cy="329184"/>
          </a:xfrm>
          <a:prstGeom prst="rect">
            <a:avLst/>
          </a:prstGeom>
          <a:noFill/>
          <a:ln/>
        </p:spPr>
        <p:txBody>
          <a:bodyPr wrap="square" lIns="0" tIns="0" rIns="0" bIns="0" rtlCol="0" anchor="ctr"/>
          <a:lstStyle/>
          <a:p>
            <a:pPr indent="0" marL="0">
              <a:buNone/>
            </a:pPr>
            <a:r>
              <a:rPr lang="en-US" sz="1200" b="1" spc="100" kern="0" dirty="0">
                <a:solidFill>
                  <a:srgbClr val="FFB066"/>
                </a:solidFill>
                <a:latin typeface="Arial" pitchFamily="34" charset="0"/>
                <a:ea typeface="Arial" pitchFamily="34" charset="-122"/>
                <a:cs typeface="Arial" pitchFamily="34" charset="-120"/>
              </a:rPr>
              <a:t>05</a:t>
            </a:r>
            <a:endParaRPr lang="en-US" sz="1200" dirty="0"/>
          </a:p>
        </p:txBody>
      </p:sp>
      <p:sp>
        <p:nvSpPr>
          <p:cNvPr id="36" name="Text 33">
            <a:hlinkClick r:id="rId6" tooltip="Reaching all of Turkana" action="ppaction://hlinksldjump"/>
          </p:cNvPr>
          <p:cNvSpPr txBox="1"/>
          <p:nvPr/>
        </p:nvSpPr>
        <p:spPr>
          <a:xfrm>
            <a:off x="6693408" y="4434840"/>
            <a:ext cx="3108960" cy="292608"/>
          </a:xfrm>
          <a:prstGeom prst="rect">
            <a:avLst/>
          </a:prstGeom>
          <a:noFill/>
          <a:ln/>
        </p:spPr>
        <p:txBody>
          <a:bodyPr wrap="square" lIns="0" tIns="0" rIns="0" bIns="0" rtlCol="0" anchor="ctr"/>
          <a:lstStyle/>
          <a:p>
            <a:pPr indent="0" marL="0">
              <a:buNone/>
            </a:pPr>
            <a:r>
              <a:rPr lang="en-US" sz="1450" b="1" u="sng" dirty="0">
                <a:solidFill>
                  <a:srgbClr val="F4F2EE"/>
                </a:solidFill>
                <a:latin typeface="Arial" pitchFamily="34" charset="0"/>
                <a:ea typeface="Arial" pitchFamily="34" charset="-122"/>
                <a:cs typeface="Arial" pitchFamily="34" charset="-120"/>
                <a:hlinkClick r:id="rId6" action="ppaction://hlinksldjump" tooltip="Reaching all of Turkana">
                  <a:extLst>
                    <a:ext uri="{A12FA001-AC4F-418D-AE19-62706E023703}">
                      <ahyp:hlinkClr xmlns:ahyp="http://schemas.microsoft.com/office/drawing/2018/hyperlinkcolor" val="tx"/>
                    </a:ext>
                  </a:extLst>
                </a:hlinkClick>
              </a:rPr>
              <a:t>Reaching all of Turkana</a:t>
            </a:r>
            <a:endParaRPr lang="en-US" sz="1450" dirty="0"/>
          </a:p>
        </p:txBody>
      </p:sp>
      <p:sp>
        <p:nvSpPr>
          <p:cNvPr id="37" name="Text 34"/>
          <p:cNvSpPr txBox="1"/>
          <p:nvPr/>
        </p:nvSpPr>
        <p:spPr>
          <a:xfrm>
            <a:off x="6693408" y="4718304"/>
            <a:ext cx="466344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Two levers, costed honestly</a:t>
            </a:r>
            <a:endParaRPr lang="en-US" sz="1050" dirty="0"/>
          </a:p>
        </p:txBody>
      </p:sp>
      <p:sp>
        <p:nvSpPr>
          <p:cNvPr id="38" name="Shape 35"/>
          <p:cNvSpPr/>
          <p:nvPr/>
        </p:nvSpPr>
        <p:spPr>
          <a:xfrm>
            <a:off x="11228832" y="4636008"/>
            <a:ext cx="100584" cy="100584"/>
          </a:xfrm>
          <a:prstGeom prst="diamond">
            <a:avLst/>
          </a:prstGeom>
          <a:solidFill>
            <a:srgbClr val="D6DAA7"/>
          </a:solidFill>
          <a:ln/>
        </p:spPr>
      </p:sp>
      <p:sp>
        <p:nvSpPr>
          <p:cNvPr id="39" name="Shape 36"/>
          <p:cNvSpPr/>
          <p:nvPr/>
        </p:nvSpPr>
        <p:spPr>
          <a:xfrm>
            <a:off x="5943600" y="5157216"/>
            <a:ext cx="5650992" cy="694944"/>
          </a:xfrm>
          <a:prstGeom prst="roundRect">
            <a:avLst>
              <a:gd name="adj" fmla="val 3947"/>
            </a:avLst>
          </a:prstGeom>
          <a:solidFill>
            <a:srgbClr val="01412A"/>
          </a:solidFill>
          <a:ln w="9525">
            <a:solidFill>
              <a:srgbClr val="0A6E45"/>
            </a:solidFill>
            <a:prstDash val="solid"/>
          </a:ln>
        </p:spPr>
      </p:sp>
      <p:sp>
        <p:nvSpPr>
          <p:cNvPr id="40" name="Text 37"/>
          <p:cNvSpPr txBox="1"/>
          <p:nvPr/>
        </p:nvSpPr>
        <p:spPr>
          <a:xfrm>
            <a:off x="6163056" y="5340096"/>
            <a:ext cx="457200" cy="329184"/>
          </a:xfrm>
          <a:prstGeom prst="rect">
            <a:avLst/>
          </a:prstGeom>
          <a:noFill/>
          <a:ln/>
        </p:spPr>
        <p:txBody>
          <a:bodyPr wrap="square" lIns="0" tIns="0" rIns="0" bIns="0" rtlCol="0" anchor="ctr"/>
          <a:lstStyle/>
          <a:p>
            <a:pPr indent="0" marL="0">
              <a:buNone/>
            </a:pPr>
            <a:r>
              <a:rPr lang="en-US" sz="1200" b="1" spc="100" kern="0" dirty="0">
                <a:solidFill>
                  <a:srgbClr val="FFB066"/>
                </a:solidFill>
                <a:latin typeface="Arial" pitchFamily="34" charset="0"/>
                <a:ea typeface="Arial" pitchFamily="34" charset="-122"/>
                <a:cs typeface="Arial" pitchFamily="34" charset="-120"/>
              </a:rPr>
              <a:t>06</a:t>
            </a:r>
            <a:endParaRPr lang="en-US" sz="1200" dirty="0"/>
          </a:p>
        </p:txBody>
      </p:sp>
      <p:sp>
        <p:nvSpPr>
          <p:cNvPr id="41" name="Text 38">
            <a:hlinkClick r:id="rId7" tooltip="The first 90 days" action="ppaction://hlinksldjump"/>
          </p:cNvPr>
          <p:cNvSpPr txBox="1"/>
          <p:nvPr/>
        </p:nvSpPr>
        <p:spPr>
          <a:xfrm>
            <a:off x="6693408" y="5257800"/>
            <a:ext cx="3108960" cy="292608"/>
          </a:xfrm>
          <a:prstGeom prst="rect">
            <a:avLst/>
          </a:prstGeom>
          <a:noFill/>
          <a:ln/>
        </p:spPr>
        <p:txBody>
          <a:bodyPr wrap="square" lIns="0" tIns="0" rIns="0" bIns="0" rtlCol="0" anchor="ctr"/>
          <a:lstStyle/>
          <a:p>
            <a:pPr indent="0" marL="0">
              <a:buNone/>
            </a:pPr>
            <a:r>
              <a:rPr lang="en-US" sz="1450" b="1" u="sng" dirty="0">
                <a:solidFill>
                  <a:srgbClr val="F4F2EE"/>
                </a:solidFill>
                <a:latin typeface="Arial" pitchFamily="34" charset="0"/>
                <a:ea typeface="Arial" pitchFamily="34" charset="-122"/>
                <a:cs typeface="Arial" pitchFamily="34" charset="-120"/>
                <a:hlinkClick r:id="rId7" action="ppaction://hlinksldjump" tooltip="The first 90 days">
                  <a:extLst>
                    <a:ext uri="{A12FA001-AC4F-418D-AE19-62706E023703}">
                      <ahyp:hlinkClr xmlns:ahyp="http://schemas.microsoft.com/office/drawing/2018/hyperlinkcolor" val="tx"/>
                    </a:ext>
                  </a:extLst>
                </a:hlinkClick>
              </a:rPr>
              <a:t>The first 90 days</a:t>
            </a:r>
            <a:endParaRPr lang="en-US" sz="1450" dirty="0"/>
          </a:p>
        </p:txBody>
      </p:sp>
      <p:sp>
        <p:nvSpPr>
          <p:cNvPr id="42" name="Text 39"/>
          <p:cNvSpPr txBox="1"/>
          <p:nvPr/>
        </p:nvSpPr>
        <p:spPr>
          <a:xfrm>
            <a:off x="6693408" y="5541264"/>
            <a:ext cx="466344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And what I need from you</a:t>
            </a:r>
            <a:endParaRPr lang="en-US" sz="1050" dirty="0"/>
          </a:p>
        </p:txBody>
      </p:sp>
      <p:sp>
        <p:nvSpPr>
          <p:cNvPr id="43" name="Shape 40"/>
          <p:cNvSpPr/>
          <p:nvPr/>
        </p:nvSpPr>
        <p:spPr>
          <a:xfrm>
            <a:off x="11228832" y="5458968"/>
            <a:ext cx="100584" cy="100584"/>
          </a:xfrm>
          <a:prstGeom prst="diamond">
            <a:avLst/>
          </a:prstGeom>
          <a:solidFill>
            <a:srgbClr val="D6DAA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01  ·  THE PROBLEM</a:t>
            </a:r>
            <a:endParaRPr lang="en-US" sz="1100" dirty="0"/>
          </a:p>
        </p:txBody>
      </p:sp>
      <p:sp>
        <p:nvSpPr>
          <p:cNvPr id="5" name="Text 2"/>
          <p:cNvSpPr txBox="1"/>
          <p:nvPr/>
        </p:nvSpPr>
        <p:spPr>
          <a:xfrm>
            <a:off x="566928" y="1024128"/>
            <a:ext cx="52120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Everyone in this race</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is guessing.</a:t>
            </a:r>
            <a:endParaRPr lang="en-US" sz="3400" dirty="0"/>
          </a:p>
        </p:txBody>
      </p:sp>
      <p:sp>
        <p:nvSpPr>
          <p:cNvPr id="6" name="Text 3"/>
          <p:cNvSpPr txBox="1"/>
          <p:nvPr/>
        </p:nvSpPr>
        <p:spPr>
          <a:xfrm>
            <a:off x="566928" y="2395728"/>
            <a:ext cx="5532120" cy="1371600"/>
          </a:xfrm>
          <a:prstGeom prst="rect">
            <a:avLst/>
          </a:prstGeom>
          <a:noFill/>
          <a:ln/>
        </p:spPr>
        <p:txBody>
          <a:bodyPr wrap="square" lIns="0" tIns="0" rIns="0" bIns="0" rtlCol="0" anchor="t"/>
          <a:lstStyle/>
          <a:p>
            <a:pPr indent="0" marL="0">
              <a:lnSpc>
                <a:spcPts val="2175"/>
              </a:lnSpc>
              <a:buNone/>
            </a:pPr>
            <a:r>
              <a:rPr lang="en-US" sz="1450" dirty="0">
                <a:solidFill>
                  <a:srgbClr val="B5C9BA"/>
                </a:solidFill>
                <a:latin typeface="Arial" pitchFamily="34" charset="0"/>
                <a:ea typeface="Arial" pitchFamily="34" charset="-122"/>
                <a:cs typeface="Arial" pitchFamily="34" charset="-120"/>
              </a:rPr>
              <a:t>Turkana has 238,528 registered voters. Right now every campaign here, ours included, is working from crowd sizes, page likes and whatever the mobilisers report. None of it can be checked. On election eve you are left holding a number somebody invented, defended loudly.</a:t>
            </a:r>
            <a:endParaRPr lang="en-US" sz="1450" dirty="0"/>
          </a:p>
        </p:txBody>
      </p:sp>
      <p:sp>
        <p:nvSpPr>
          <p:cNvPr id="7" name="Shape 4"/>
          <p:cNvSpPr/>
          <p:nvPr/>
        </p:nvSpPr>
        <p:spPr>
          <a:xfrm>
            <a:off x="6537960" y="1024128"/>
            <a:ext cx="5056632" cy="4846320"/>
          </a:xfrm>
          <a:prstGeom prst="roundRect">
            <a:avLst>
              <a:gd name="adj" fmla="val 566"/>
            </a:avLst>
          </a:prstGeom>
          <a:solidFill>
            <a:srgbClr val="01412A"/>
          </a:solidFill>
          <a:ln w="9525">
            <a:solidFill>
              <a:srgbClr val="0A6E45"/>
            </a:solidFill>
            <a:prstDash val="solid"/>
          </a:ln>
        </p:spPr>
      </p:sp>
      <p:sp>
        <p:nvSpPr>
          <p:cNvPr id="8" name="Text 5"/>
          <p:cNvSpPr txBox="1"/>
          <p:nvPr/>
        </p:nvSpPr>
        <p:spPr>
          <a:xfrm>
            <a:off x="6922008" y="1353312"/>
            <a:ext cx="4297680" cy="274320"/>
          </a:xfrm>
          <a:prstGeom prst="rect">
            <a:avLst/>
          </a:prstGeom>
          <a:noFill/>
          <a:ln/>
        </p:spPr>
        <p:txBody>
          <a:bodyPr wrap="square" lIns="0" tIns="0" rIns="0" bIns="0" rtlCol="0" anchor="ctr"/>
          <a:lstStyle/>
          <a:p>
            <a:pPr indent="0" marL="0">
              <a:buNone/>
            </a:pPr>
            <a:r>
              <a:rPr lang="en-US" sz="1000" b="1" spc="180" kern="0" dirty="0">
                <a:solidFill>
                  <a:srgbClr val="D6DAA7"/>
                </a:solidFill>
                <a:latin typeface="Arial" pitchFamily="34" charset="0"/>
                <a:ea typeface="Arial" pitchFamily="34" charset="-122"/>
                <a:cs typeface="Arial" pitchFamily="34" charset="-120"/>
              </a:rPr>
              <a:t>WHAT A RIVAL WILL HAVE</a:t>
            </a:r>
            <a:endParaRPr lang="en-US" sz="1000" dirty="0"/>
          </a:p>
        </p:txBody>
      </p:sp>
      <p:sp>
        <p:nvSpPr>
          <p:cNvPr id="9" name="Shape 6"/>
          <p:cNvSpPr/>
          <p:nvPr/>
        </p:nvSpPr>
        <p:spPr>
          <a:xfrm>
            <a:off x="6922008" y="2039112"/>
            <a:ext cx="109728" cy="109728"/>
          </a:xfrm>
          <a:prstGeom prst="diamond">
            <a:avLst/>
          </a:prstGeom>
          <a:solidFill>
            <a:srgbClr val="D6DAA7"/>
          </a:solidFill>
          <a:ln/>
        </p:spPr>
      </p:sp>
      <p:sp>
        <p:nvSpPr>
          <p:cNvPr id="10" name="Text 7"/>
          <p:cNvSpPr txBox="1"/>
          <p:nvPr/>
        </p:nvSpPr>
        <p:spPr>
          <a:xfrm>
            <a:off x="7196328" y="1920240"/>
            <a:ext cx="4114800" cy="310896"/>
          </a:xfrm>
          <a:prstGeom prst="rect">
            <a:avLst/>
          </a:prstGeom>
          <a:noFill/>
          <a:ln/>
        </p:spPr>
        <p:txBody>
          <a:bodyPr wrap="square" lIns="0" tIns="0" rIns="0" bIns="0" rtlCol="0" anchor="ctr"/>
          <a:lstStyle/>
          <a:p>
            <a:pPr indent="0" marL="0">
              <a:buNone/>
            </a:pPr>
            <a:r>
              <a:rPr lang="en-US" sz="1400" b="1" dirty="0">
                <a:solidFill>
                  <a:srgbClr val="F4F2EE"/>
                </a:solidFill>
                <a:latin typeface="Arial" pitchFamily="34" charset="0"/>
                <a:ea typeface="Arial" pitchFamily="34" charset="-122"/>
                <a:cs typeface="Arial" pitchFamily="34" charset="-120"/>
              </a:rPr>
              <a:t>Crowd at the last rally</a:t>
            </a:r>
            <a:endParaRPr lang="en-US" sz="1400" dirty="0"/>
          </a:p>
        </p:txBody>
      </p:sp>
      <p:sp>
        <p:nvSpPr>
          <p:cNvPr id="11" name="Text 8"/>
          <p:cNvSpPr txBox="1"/>
          <p:nvPr/>
        </p:nvSpPr>
        <p:spPr>
          <a:xfrm>
            <a:off x="7196328" y="2221992"/>
            <a:ext cx="4114800" cy="274320"/>
          </a:xfrm>
          <a:prstGeom prst="rect">
            <a:avLst/>
          </a:prstGeom>
          <a:noFill/>
          <a:ln/>
        </p:spPr>
        <p:txBody>
          <a:bodyPr wrap="square" lIns="0" tIns="0" rIns="0" bIns="0" rtlCol="0" anchor="ctr"/>
          <a:lstStyle/>
          <a:p>
            <a:pPr indent="0" marL="0">
              <a:buNone/>
            </a:pPr>
            <a:r>
              <a:rPr lang="en-US" sz="1150" i="1" dirty="0">
                <a:solidFill>
                  <a:srgbClr val="B5C9BA"/>
                </a:solidFill>
                <a:latin typeface="Arial" pitchFamily="34" charset="0"/>
                <a:ea typeface="Arial" pitchFamily="34" charset="-122"/>
                <a:cs typeface="Arial" pitchFamily="34" charset="-120"/>
              </a:rPr>
              <a:t>counted by eye</a:t>
            </a:r>
            <a:endParaRPr lang="en-US" sz="1150" dirty="0"/>
          </a:p>
        </p:txBody>
      </p:sp>
      <p:sp>
        <p:nvSpPr>
          <p:cNvPr id="12" name="Shape 9"/>
          <p:cNvSpPr/>
          <p:nvPr/>
        </p:nvSpPr>
        <p:spPr>
          <a:xfrm>
            <a:off x="6922008" y="2916936"/>
            <a:ext cx="109728" cy="109728"/>
          </a:xfrm>
          <a:prstGeom prst="diamond">
            <a:avLst/>
          </a:prstGeom>
          <a:solidFill>
            <a:srgbClr val="D6DAA7"/>
          </a:solidFill>
          <a:ln/>
        </p:spPr>
      </p:sp>
      <p:sp>
        <p:nvSpPr>
          <p:cNvPr id="13" name="Text 10"/>
          <p:cNvSpPr txBox="1"/>
          <p:nvPr/>
        </p:nvSpPr>
        <p:spPr>
          <a:xfrm>
            <a:off x="7196328" y="2798064"/>
            <a:ext cx="4114800" cy="310896"/>
          </a:xfrm>
          <a:prstGeom prst="rect">
            <a:avLst/>
          </a:prstGeom>
          <a:noFill/>
          <a:ln/>
        </p:spPr>
        <p:txBody>
          <a:bodyPr wrap="square" lIns="0" tIns="0" rIns="0" bIns="0" rtlCol="0" anchor="ctr"/>
          <a:lstStyle/>
          <a:p>
            <a:pPr indent="0" marL="0">
              <a:buNone/>
            </a:pPr>
            <a:r>
              <a:rPr lang="en-US" sz="1400" b="1" dirty="0">
                <a:solidFill>
                  <a:srgbClr val="F4F2EE"/>
                </a:solidFill>
                <a:latin typeface="Arial" pitchFamily="34" charset="0"/>
                <a:ea typeface="Arial" pitchFamily="34" charset="-122"/>
                <a:cs typeface="Arial" pitchFamily="34" charset="-120"/>
              </a:rPr>
              <a:t>42,000 page likes</a:t>
            </a:r>
            <a:endParaRPr lang="en-US" sz="1400" dirty="0"/>
          </a:p>
        </p:txBody>
      </p:sp>
      <p:sp>
        <p:nvSpPr>
          <p:cNvPr id="14" name="Text 11"/>
          <p:cNvSpPr txBox="1"/>
          <p:nvPr/>
        </p:nvSpPr>
        <p:spPr>
          <a:xfrm>
            <a:off x="7196328" y="3099816"/>
            <a:ext cx="4114800" cy="274320"/>
          </a:xfrm>
          <a:prstGeom prst="rect">
            <a:avLst/>
          </a:prstGeom>
          <a:noFill/>
          <a:ln/>
        </p:spPr>
        <p:txBody>
          <a:bodyPr wrap="square" lIns="0" tIns="0" rIns="0" bIns="0" rtlCol="0" anchor="ctr"/>
          <a:lstStyle/>
          <a:p>
            <a:pPr indent="0" marL="0">
              <a:buNone/>
            </a:pPr>
            <a:r>
              <a:rPr lang="en-US" sz="1150" i="1" dirty="0">
                <a:solidFill>
                  <a:srgbClr val="B5C9BA"/>
                </a:solidFill>
                <a:latin typeface="Arial" pitchFamily="34" charset="0"/>
                <a:ea typeface="Arial" pitchFamily="34" charset="-122"/>
                <a:cs typeface="Arial" pitchFamily="34" charset="-120"/>
              </a:rPr>
              <a:t>half from outside Turkana</a:t>
            </a:r>
            <a:endParaRPr lang="en-US" sz="1150" dirty="0"/>
          </a:p>
        </p:txBody>
      </p:sp>
      <p:sp>
        <p:nvSpPr>
          <p:cNvPr id="15" name="Shape 12"/>
          <p:cNvSpPr/>
          <p:nvPr/>
        </p:nvSpPr>
        <p:spPr>
          <a:xfrm>
            <a:off x="6922008" y="3794760"/>
            <a:ext cx="109728" cy="109728"/>
          </a:xfrm>
          <a:prstGeom prst="diamond">
            <a:avLst/>
          </a:prstGeom>
          <a:solidFill>
            <a:srgbClr val="D6DAA7"/>
          </a:solidFill>
          <a:ln/>
        </p:spPr>
      </p:sp>
      <p:sp>
        <p:nvSpPr>
          <p:cNvPr id="16" name="Text 13"/>
          <p:cNvSpPr txBox="1"/>
          <p:nvPr/>
        </p:nvSpPr>
        <p:spPr>
          <a:xfrm>
            <a:off x="7196328" y="3675888"/>
            <a:ext cx="4114800" cy="310896"/>
          </a:xfrm>
          <a:prstGeom prst="rect">
            <a:avLst/>
          </a:prstGeom>
          <a:noFill/>
          <a:ln/>
        </p:spPr>
        <p:txBody>
          <a:bodyPr wrap="square" lIns="0" tIns="0" rIns="0" bIns="0" rtlCol="0" anchor="ctr"/>
          <a:lstStyle/>
          <a:p>
            <a:pPr indent="0" marL="0">
              <a:buNone/>
            </a:pPr>
            <a:r>
              <a:rPr lang="en-US" sz="1400" b="1" dirty="0">
                <a:solidFill>
                  <a:srgbClr val="F4F2EE"/>
                </a:solidFill>
                <a:latin typeface="Arial" pitchFamily="34" charset="0"/>
                <a:ea typeface="Arial" pitchFamily="34" charset="-122"/>
                <a:cs typeface="Arial" pitchFamily="34" charset="-120"/>
              </a:rPr>
              <a:t>A paper list of names</a:t>
            </a:r>
            <a:endParaRPr lang="en-US" sz="1400" dirty="0"/>
          </a:p>
        </p:txBody>
      </p:sp>
      <p:sp>
        <p:nvSpPr>
          <p:cNvPr id="17" name="Text 14"/>
          <p:cNvSpPr txBox="1"/>
          <p:nvPr/>
        </p:nvSpPr>
        <p:spPr>
          <a:xfrm>
            <a:off x="7196328" y="3977640"/>
            <a:ext cx="4114800" cy="274320"/>
          </a:xfrm>
          <a:prstGeom prst="rect">
            <a:avLst/>
          </a:prstGeom>
          <a:noFill/>
          <a:ln/>
        </p:spPr>
        <p:txBody>
          <a:bodyPr wrap="square" lIns="0" tIns="0" rIns="0" bIns="0" rtlCol="0" anchor="ctr"/>
          <a:lstStyle/>
          <a:p>
            <a:pPr indent="0" marL="0">
              <a:buNone/>
            </a:pPr>
            <a:r>
              <a:rPr lang="en-US" sz="1150" i="1" dirty="0">
                <a:solidFill>
                  <a:srgbClr val="B5C9BA"/>
                </a:solidFill>
                <a:latin typeface="Arial" pitchFamily="34" charset="0"/>
                <a:ea typeface="Arial" pitchFamily="34" charset="-122"/>
                <a:cs typeface="Arial" pitchFamily="34" charset="-120"/>
              </a:rPr>
              <a:t>no phone and no ward</a:t>
            </a:r>
            <a:endParaRPr lang="en-US" sz="1150" dirty="0"/>
          </a:p>
        </p:txBody>
      </p:sp>
      <p:sp>
        <p:nvSpPr>
          <p:cNvPr id="18" name="Shape 15"/>
          <p:cNvSpPr/>
          <p:nvPr/>
        </p:nvSpPr>
        <p:spPr>
          <a:xfrm>
            <a:off x="6922008" y="4672584"/>
            <a:ext cx="109728" cy="109728"/>
          </a:xfrm>
          <a:prstGeom prst="diamond">
            <a:avLst/>
          </a:prstGeom>
          <a:solidFill>
            <a:srgbClr val="D6DAA7"/>
          </a:solidFill>
          <a:ln/>
        </p:spPr>
      </p:sp>
      <p:sp>
        <p:nvSpPr>
          <p:cNvPr id="19" name="Text 16"/>
          <p:cNvSpPr txBox="1"/>
          <p:nvPr/>
        </p:nvSpPr>
        <p:spPr>
          <a:xfrm>
            <a:off x="7196328" y="4553712"/>
            <a:ext cx="4114800" cy="310896"/>
          </a:xfrm>
          <a:prstGeom prst="rect">
            <a:avLst/>
          </a:prstGeom>
          <a:noFill/>
          <a:ln/>
        </p:spPr>
        <p:txBody>
          <a:bodyPr wrap="square" lIns="0" tIns="0" rIns="0" bIns="0" rtlCol="0" anchor="ctr"/>
          <a:lstStyle/>
          <a:p>
            <a:pPr indent="0" marL="0">
              <a:buNone/>
            </a:pPr>
            <a:r>
              <a:rPr lang="en-US" sz="1400" b="1" dirty="0">
                <a:solidFill>
                  <a:srgbClr val="F4F2EE"/>
                </a:solidFill>
                <a:latin typeface="Arial" pitchFamily="34" charset="0"/>
                <a:ea typeface="Arial" pitchFamily="34" charset="-122"/>
                <a:cs typeface="Arial" pitchFamily="34" charset="-120"/>
              </a:rPr>
              <a:t>“We are strong in the north”</a:t>
            </a:r>
            <a:endParaRPr lang="en-US" sz="1400" dirty="0"/>
          </a:p>
        </p:txBody>
      </p:sp>
      <p:sp>
        <p:nvSpPr>
          <p:cNvPr id="20" name="Text 17"/>
          <p:cNvSpPr txBox="1"/>
          <p:nvPr/>
        </p:nvSpPr>
        <p:spPr>
          <a:xfrm>
            <a:off x="7196328" y="4855464"/>
            <a:ext cx="4114800" cy="274320"/>
          </a:xfrm>
          <a:prstGeom prst="rect">
            <a:avLst/>
          </a:prstGeom>
          <a:noFill/>
          <a:ln/>
        </p:spPr>
        <p:txBody>
          <a:bodyPr wrap="square" lIns="0" tIns="0" rIns="0" bIns="0" rtlCol="0" anchor="ctr"/>
          <a:lstStyle/>
          <a:p>
            <a:pPr indent="0" marL="0">
              <a:buNone/>
            </a:pPr>
            <a:r>
              <a:rPr lang="en-US" sz="1150" i="1" dirty="0">
                <a:solidFill>
                  <a:srgbClr val="B5C9BA"/>
                </a:solidFill>
                <a:latin typeface="Arial" pitchFamily="34" charset="0"/>
                <a:ea typeface="Arial" pitchFamily="34" charset="-122"/>
                <a:cs typeface="Arial" pitchFamily="34" charset="-120"/>
              </a:rPr>
              <a:t>nobody has measured it</a:t>
            </a:r>
            <a:endParaRPr lang="en-US" sz="1150" dirty="0"/>
          </a:p>
        </p:txBody>
      </p:sp>
      <p:sp>
        <p:nvSpPr>
          <p:cNvPr id="21" name="Shape 18"/>
          <p:cNvSpPr/>
          <p:nvPr/>
        </p:nvSpPr>
        <p:spPr>
          <a:xfrm>
            <a:off x="6922008" y="5230368"/>
            <a:ext cx="4297680" cy="0"/>
          </a:xfrm>
          <a:prstGeom prst="line">
            <a:avLst/>
          </a:prstGeom>
          <a:noFill/>
          <a:ln w="12700">
            <a:solidFill>
              <a:srgbClr val="0E8455"/>
            </a:solidFill>
            <a:prstDash val="solid"/>
          </a:ln>
        </p:spPr>
      </p:sp>
      <p:sp>
        <p:nvSpPr>
          <p:cNvPr id="22" name="Text 19"/>
          <p:cNvSpPr txBox="1"/>
          <p:nvPr/>
        </p:nvSpPr>
        <p:spPr>
          <a:xfrm>
            <a:off x="6922008" y="5376672"/>
            <a:ext cx="4297680" cy="292608"/>
          </a:xfrm>
          <a:prstGeom prst="rect">
            <a:avLst/>
          </a:prstGeom>
          <a:noFill/>
          <a:ln/>
        </p:spPr>
        <p:txBody>
          <a:bodyPr wrap="square" lIns="0" tIns="0" rIns="0" bIns="0" rtlCol="0" anchor="ctr"/>
          <a:lstStyle/>
          <a:p>
            <a:pPr indent="0" marL="0">
              <a:buNone/>
            </a:pPr>
            <a:r>
              <a:rPr lang="en-US" sz="1250" b="1" dirty="0">
                <a:solidFill>
                  <a:srgbClr val="FFB066"/>
                </a:solidFill>
                <a:latin typeface="Arial" pitchFamily="34" charset="0"/>
                <a:ea typeface="Arial" pitchFamily="34" charset="-122"/>
                <a:cs typeface="Arial" pitchFamily="34" charset="-120"/>
              </a:rPr>
              <a:t>None of it survives one hard question.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02  ·  WHAT WE COLLECT</a:t>
            </a:r>
            <a:endParaRPr lang="en-US" sz="1100" dirty="0"/>
          </a:p>
        </p:txBody>
      </p:sp>
      <p:sp>
        <p:nvSpPr>
          <p:cNvPr id="5" name="Text 2"/>
          <p:cNvSpPr txBox="1"/>
          <p:nvPr/>
        </p:nvSpPr>
        <p:spPr>
          <a:xfrm>
            <a:off x="566928" y="1024128"/>
            <a:ext cx="52120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One supporter.</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Five facts.</a:t>
            </a:r>
            <a:endParaRPr lang="en-US" sz="3400" dirty="0"/>
          </a:p>
        </p:txBody>
      </p:sp>
      <p:sp>
        <p:nvSpPr>
          <p:cNvPr id="6" name="Text 3"/>
          <p:cNvSpPr txBox="1"/>
          <p:nvPr/>
        </p:nvSpPr>
        <p:spPr>
          <a:xfrm>
            <a:off x="566928" y="2304288"/>
            <a:ext cx="5074920" cy="1371600"/>
          </a:xfrm>
          <a:prstGeom prst="rect">
            <a:avLst/>
          </a:prstGeom>
          <a:noFill/>
          <a:ln/>
        </p:spPr>
        <p:txBody>
          <a:bodyPr wrap="square" lIns="0" tIns="0" rIns="0" bIns="0" rtlCol="0" anchor="t"/>
          <a:lstStyle/>
          <a:p>
            <a:pPr indent="0" marL="0">
              <a:lnSpc>
                <a:spcPts val="2175"/>
              </a:lnSpc>
              <a:buNone/>
            </a:pPr>
            <a:r>
              <a:rPr lang="en-US" sz="1450" dirty="0">
                <a:solidFill>
                  <a:srgbClr val="B5C9BA"/>
                </a:solidFill>
                <a:latin typeface="Arial" pitchFamily="34" charset="0"/>
                <a:ea typeface="Arial" pitchFamily="34" charset="-122"/>
                <a:cs typeface="Arial" pitchFamily="34" charset="-120"/>
              </a:rPr>
              <a:t>Somebody signs up in ninety seconds, then a code arrives by SMS. Until they type that code back, they are not on the register. That one rule is what lets us defend every figure we publish.</a:t>
            </a:r>
            <a:endParaRPr lang="en-US" sz="1450" dirty="0"/>
          </a:p>
        </p:txBody>
      </p:sp>
      <p:sp>
        <p:nvSpPr>
          <p:cNvPr id="7" name="Shape 4"/>
          <p:cNvSpPr/>
          <p:nvPr/>
        </p:nvSpPr>
        <p:spPr>
          <a:xfrm>
            <a:off x="5943600" y="1042416"/>
            <a:ext cx="5650992" cy="822960"/>
          </a:xfrm>
          <a:prstGeom prst="roundRect">
            <a:avLst>
              <a:gd name="adj" fmla="val 3333"/>
            </a:avLst>
          </a:prstGeom>
          <a:solidFill>
            <a:srgbClr val="01412A"/>
          </a:solidFill>
          <a:ln w="9525">
            <a:solidFill>
              <a:srgbClr val="0A6E45"/>
            </a:solidFill>
            <a:prstDash val="solid"/>
          </a:ln>
        </p:spPr>
      </p:sp>
      <p:sp>
        <p:nvSpPr>
          <p:cNvPr id="8" name="Shape 5"/>
          <p:cNvSpPr/>
          <p:nvPr/>
        </p:nvSpPr>
        <p:spPr>
          <a:xfrm>
            <a:off x="6217920" y="1399032"/>
            <a:ext cx="118872" cy="118872"/>
          </a:xfrm>
          <a:prstGeom prst="diamond">
            <a:avLst/>
          </a:prstGeom>
          <a:solidFill>
            <a:srgbClr val="FFB066"/>
          </a:solidFill>
          <a:ln/>
        </p:spPr>
      </p:sp>
      <p:sp>
        <p:nvSpPr>
          <p:cNvPr id="9" name="Text 6"/>
          <p:cNvSpPr txBox="1"/>
          <p:nvPr/>
        </p:nvSpPr>
        <p:spPr>
          <a:xfrm>
            <a:off x="6510528" y="1179576"/>
            <a:ext cx="4846320" cy="292608"/>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Their name</a:t>
            </a:r>
            <a:endParaRPr lang="en-US" sz="1450" dirty="0"/>
          </a:p>
        </p:txBody>
      </p:sp>
      <p:sp>
        <p:nvSpPr>
          <p:cNvPr id="10" name="Text 7"/>
          <p:cNvSpPr txBox="1"/>
          <p:nvPr/>
        </p:nvSpPr>
        <p:spPr>
          <a:xfrm>
            <a:off x="6510528" y="1472184"/>
            <a:ext cx="4846320" cy="274320"/>
          </a:xfrm>
          <a:prstGeom prst="rect">
            <a:avLst/>
          </a:prstGeom>
          <a:noFill/>
          <a:ln/>
        </p:spPr>
        <p:txBody>
          <a:bodyPr wrap="square" lIns="0" tIns="0" rIns="0" bIns="0" rtlCol="0" anchor="ctr"/>
          <a:lstStyle/>
          <a:p>
            <a:pPr indent="0" marL="0">
              <a:buNone/>
            </a:pPr>
            <a:r>
              <a:rPr lang="en-US" sz="1100" dirty="0">
                <a:solidFill>
                  <a:srgbClr val="B5C9BA"/>
                </a:solidFill>
                <a:latin typeface="Arial" pitchFamily="34" charset="0"/>
                <a:ea typeface="Arial" pitchFamily="34" charset="-122"/>
                <a:cs typeface="Arial" pitchFamily="34" charset="-120"/>
              </a:rPr>
              <a:t>So a coordinator greets a real person</a:t>
            </a:r>
            <a:endParaRPr lang="en-US" sz="1100" dirty="0"/>
          </a:p>
        </p:txBody>
      </p:sp>
      <p:sp>
        <p:nvSpPr>
          <p:cNvPr id="11" name="Shape 8"/>
          <p:cNvSpPr/>
          <p:nvPr/>
        </p:nvSpPr>
        <p:spPr>
          <a:xfrm>
            <a:off x="5943600" y="2002536"/>
            <a:ext cx="5650992" cy="822960"/>
          </a:xfrm>
          <a:prstGeom prst="roundRect">
            <a:avLst>
              <a:gd name="adj" fmla="val 3333"/>
            </a:avLst>
          </a:prstGeom>
          <a:solidFill>
            <a:srgbClr val="01412A"/>
          </a:solidFill>
          <a:ln w="9525">
            <a:solidFill>
              <a:srgbClr val="0A6E45"/>
            </a:solidFill>
            <a:prstDash val="solid"/>
          </a:ln>
        </p:spPr>
      </p:sp>
      <p:sp>
        <p:nvSpPr>
          <p:cNvPr id="12" name="Shape 9"/>
          <p:cNvSpPr/>
          <p:nvPr/>
        </p:nvSpPr>
        <p:spPr>
          <a:xfrm>
            <a:off x="6217920" y="2359152"/>
            <a:ext cx="118872" cy="118872"/>
          </a:xfrm>
          <a:prstGeom prst="diamond">
            <a:avLst/>
          </a:prstGeom>
          <a:solidFill>
            <a:srgbClr val="FFB066"/>
          </a:solidFill>
          <a:ln/>
        </p:spPr>
      </p:sp>
      <p:sp>
        <p:nvSpPr>
          <p:cNvPr id="13" name="Text 10"/>
          <p:cNvSpPr txBox="1"/>
          <p:nvPr/>
        </p:nvSpPr>
        <p:spPr>
          <a:xfrm>
            <a:off x="6510528" y="2139696"/>
            <a:ext cx="4846320" cy="292608"/>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Their phone, confirmed</a:t>
            </a:r>
            <a:endParaRPr lang="en-US" sz="1450" dirty="0"/>
          </a:p>
        </p:txBody>
      </p:sp>
      <p:sp>
        <p:nvSpPr>
          <p:cNvPr id="14" name="Text 11"/>
          <p:cNvSpPr txBox="1"/>
          <p:nvPr/>
        </p:nvSpPr>
        <p:spPr>
          <a:xfrm>
            <a:off x="6510528" y="2432304"/>
            <a:ext cx="4846320" cy="274320"/>
          </a:xfrm>
          <a:prstGeom prst="rect">
            <a:avLst/>
          </a:prstGeom>
          <a:noFill/>
          <a:ln/>
        </p:spPr>
        <p:txBody>
          <a:bodyPr wrap="square" lIns="0" tIns="0" rIns="0" bIns="0" rtlCol="0" anchor="ctr"/>
          <a:lstStyle/>
          <a:p>
            <a:pPr indent="0" marL="0">
              <a:buNone/>
            </a:pPr>
            <a:r>
              <a:rPr lang="en-US" sz="1100" dirty="0">
                <a:solidFill>
                  <a:srgbClr val="B5C9BA"/>
                </a:solidFill>
                <a:latin typeface="Arial" pitchFamily="34" charset="0"/>
                <a:ea typeface="Arial" pitchFamily="34" charset="-122"/>
                <a:cs typeface="Arial" pitchFamily="34" charset="-120"/>
              </a:rPr>
              <a:t>One person, one number. That is the proof.</a:t>
            </a:r>
            <a:endParaRPr lang="en-US" sz="1100" dirty="0"/>
          </a:p>
        </p:txBody>
      </p:sp>
      <p:sp>
        <p:nvSpPr>
          <p:cNvPr id="15" name="Shape 12"/>
          <p:cNvSpPr/>
          <p:nvPr/>
        </p:nvSpPr>
        <p:spPr>
          <a:xfrm>
            <a:off x="5943600" y="2962656"/>
            <a:ext cx="5650992" cy="822960"/>
          </a:xfrm>
          <a:prstGeom prst="roundRect">
            <a:avLst>
              <a:gd name="adj" fmla="val 3333"/>
            </a:avLst>
          </a:prstGeom>
          <a:solidFill>
            <a:srgbClr val="01412A"/>
          </a:solidFill>
          <a:ln w="9525">
            <a:solidFill>
              <a:srgbClr val="0A6E45"/>
            </a:solidFill>
            <a:prstDash val="solid"/>
          </a:ln>
        </p:spPr>
      </p:sp>
      <p:sp>
        <p:nvSpPr>
          <p:cNvPr id="16" name="Shape 13"/>
          <p:cNvSpPr/>
          <p:nvPr/>
        </p:nvSpPr>
        <p:spPr>
          <a:xfrm>
            <a:off x="6217920" y="3319272"/>
            <a:ext cx="118872" cy="118872"/>
          </a:xfrm>
          <a:prstGeom prst="diamond">
            <a:avLst/>
          </a:prstGeom>
          <a:solidFill>
            <a:srgbClr val="FFB066"/>
          </a:solidFill>
          <a:ln/>
        </p:spPr>
      </p:sp>
      <p:sp>
        <p:nvSpPr>
          <p:cNvPr id="17" name="Text 14"/>
          <p:cNvSpPr txBox="1"/>
          <p:nvPr/>
        </p:nvSpPr>
        <p:spPr>
          <a:xfrm>
            <a:off x="6510528" y="3099816"/>
            <a:ext cx="4846320" cy="292608"/>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Their ward</a:t>
            </a:r>
            <a:endParaRPr lang="en-US" sz="1450" dirty="0"/>
          </a:p>
        </p:txBody>
      </p:sp>
      <p:sp>
        <p:nvSpPr>
          <p:cNvPr id="18" name="Text 15"/>
          <p:cNvSpPr txBox="1"/>
          <p:nvPr/>
        </p:nvSpPr>
        <p:spPr>
          <a:xfrm>
            <a:off x="6510528" y="3392424"/>
            <a:ext cx="4846320" cy="274320"/>
          </a:xfrm>
          <a:prstGeom prst="rect">
            <a:avLst/>
          </a:prstGeom>
          <a:noFill/>
          <a:ln/>
        </p:spPr>
        <p:txBody>
          <a:bodyPr wrap="square" lIns="0" tIns="0" rIns="0" bIns="0" rtlCol="0" anchor="ctr"/>
          <a:lstStyle/>
          <a:p>
            <a:pPr indent="0" marL="0">
              <a:buNone/>
            </a:pPr>
            <a:r>
              <a:rPr lang="en-US" sz="1100" dirty="0">
                <a:solidFill>
                  <a:srgbClr val="B5C9BA"/>
                </a:solidFill>
                <a:latin typeface="Arial" pitchFamily="34" charset="0"/>
                <a:ea typeface="Arial" pitchFamily="34" charset="-122"/>
                <a:cs typeface="Arial" pitchFamily="34" charset="-120"/>
              </a:rPr>
              <a:t>Turns a headcount into a percentage</a:t>
            </a:r>
            <a:endParaRPr lang="en-US" sz="1100" dirty="0"/>
          </a:p>
        </p:txBody>
      </p:sp>
      <p:sp>
        <p:nvSpPr>
          <p:cNvPr id="19" name="Shape 16"/>
          <p:cNvSpPr/>
          <p:nvPr/>
        </p:nvSpPr>
        <p:spPr>
          <a:xfrm>
            <a:off x="5943600" y="3922776"/>
            <a:ext cx="5650992" cy="822960"/>
          </a:xfrm>
          <a:prstGeom prst="roundRect">
            <a:avLst>
              <a:gd name="adj" fmla="val 3333"/>
            </a:avLst>
          </a:prstGeom>
          <a:solidFill>
            <a:srgbClr val="01412A"/>
          </a:solidFill>
          <a:ln w="9525">
            <a:solidFill>
              <a:srgbClr val="0A6E45"/>
            </a:solidFill>
            <a:prstDash val="solid"/>
          </a:ln>
        </p:spPr>
      </p:sp>
      <p:sp>
        <p:nvSpPr>
          <p:cNvPr id="20" name="Shape 17"/>
          <p:cNvSpPr/>
          <p:nvPr/>
        </p:nvSpPr>
        <p:spPr>
          <a:xfrm>
            <a:off x="6217920" y="4279392"/>
            <a:ext cx="118872" cy="118872"/>
          </a:xfrm>
          <a:prstGeom prst="diamond">
            <a:avLst/>
          </a:prstGeom>
          <a:solidFill>
            <a:srgbClr val="FFB066"/>
          </a:solidFill>
          <a:ln/>
        </p:spPr>
      </p:sp>
      <p:sp>
        <p:nvSpPr>
          <p:cNvPr id="21" name="Text 18"/>
          <p:cNvSpPr txBox="1"/>
          <p:nvPr/>
        </p:nvSpPr>
        <p:spPr>
          <a:xfrm>
            <a:off x="6510528" y="4059936"/>
            <a:ext cx="4846320" cy="292608"/>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Their polling station</a:t>
            </a:r>
            <a:endParaRPr lang="en-US" sz="1450" dirty="0"/>
          </a:p>
        </p:txBody>
      </p:sp>
      <p:sp>
        <p:nvSpPr>
          <p:cNvPr id="22" name="Text 19"/>
          <p:cNvSpPr txBox="1"/>
          <p:nvPr/>
        </p:nvSpPr>
        <p:spPr>
          <a:xfrm>
            <a:off x="6510528" y="4352544"/>
            <a:ext cx="4846320" cy="274320"/>
          </a:xfrm>
          <a:prstGeom prst="rect">
            <a:avLst/>
          </a:prstGeom>
          <a:noFill/>
          <a:ln/>
        </p:spPr>
        <p:txBody>
          <a:bodyPr wrap="square" lIns="0" tIns="0" rIns="0" bIns="0" rtlCol="0" anchor="ctr"/>
          <a:lstStyle/>
          <a:p>
            <a:pPr indent="0" marL="0">
              <a:buNone/>
            </a:pPr>
            <a:r>
              <a:rPr lang="en-US" sz="1100" dirty="0">
                <a:solidFill>
                  <a:srgbClr val="B5C9BA"/>
                </a:solidFill>
                <a:latin typeface="Arial" pitchFamily="34" charset="0"/>
                <a:ea typeface="Arial" pitchFamily="34" charset="-122"/>
                <a:cs typeface="Arial" pitchFamily="34" charset="-120"/>
              </a:rPr>
              <a:t>Where their vote is actually counted</a:t>
            </a:r>
            <a:endParaRPr lang="en-US" sz="1100" dirty="0"/>
          </a:p>
        </p:txBody>
      </p:sp>
      <p:sp>
        <p:nvSpPr>
          <p:cNvPr id="23" name="Shape 20"/>
          <p:cNvSpPr/>
          <p:nvPr/>
        </p:nvSpPr>
        <p:spPr>
          <a:xfrm>
            <a:off x="5943600" y="4882896"/>
            <a:ext cx="5650992" cy="822960"/>
          </a:xfrm>
          <a:prstGeom prst="roundRect">
            <a:avLst>
              <a:gd name="adj" fmla="val 3333"/>
            </a:avLst>
          </a:prstGeom>
          <a:solidFill>
            <a:srgbClr val="01412A"/>
          </a:solidFill>
          <a:ln w="9525">
            <a:solidFill>
              <a:srgbClr val="0A6E45"/>
            </a:solidFill>
            <a:prstDash val="solid"/>
          </a:ln>
        </p:spPr>
      </p:sp>
      <p:sp>
        <p:nvSpPr>
          <p:cNvPr id="24" name="Shape 21"/>
          <p:cNvSpPr/>
          <p:nvPr/>
        </p:nvSpPr>
        <p:spPr>
          <a:xfrm>
            <a:off x="6217920" y="5239512"/>
            <a:ext cx="118872" cy="118872"/>
          </a:xfrm>
          <a:prstGeom prst="diamond">
            <a:avLst/>
          </a:prstGeom>
          <a:solidFill>
            <a:srgbClr val="FFB066"/>
          </a:solidFill>
          <a:ln/>
        </p:spPr>
      </p:sp>
      <p:sp>
        <p:nvSpPr>
          <p:cNvPr id="25" name="Text 22"/>
          <p:cNvSpPr txBox="1"/>
          <p:nvPr/>
        </p:nvSpPr>
        <p:spPr>
          <a:xfrm>
            <a:off x="6510528" y="5020056"/>
            <a:ext cx="4846320" cy="292608"/>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Their chief's area</a:t>
            </a:r>
            <a:endParaRPr lang="en-US" sz="1450" dirty="0"/>
          </a:p>
        </p:txBody>
      </p:sp>
      <p:sp>
        <p:nvSpPr>
          <p:cNvPr id="26" name="Text 23"/>
          <p:cNvSpPr txBox="1"/>
          <p:nvPr/>
        </p:nvSpPr>
        <p:spPr>
          <a:xfrm>
            <a:off x="6510528" y="5312664"/>
            <a:ext cx="4846320" cy="274320"/>
          </a:xfrm>
          <a:prstGeom prst="rect">
            <a:avLst/>
          </a:prstGeom>
          <a:noFill/>
          <a:ln/>
        </p:spPr>
        <p:txBody>
          <a:bodyPr wrap="square" lIns="0" tIns="0" rIns="0" bIns="0" rtlCol="0" anchor="ctr"/>
          <a:lstStyle/>
          <a:p>
            <a:pPr indent="0" marL="0">
              <a:buNone/>
            </a:pPr>
            <a:r>
              <a:rPr lang="en-US" sz="1100" dirty="0">
                <a:solidFill>
                  <a:srgbClr val="B5C9BA"/>
                </a:solidFill>
                <a:latin typeface="Arial" pitchFamily="34" charset="0"/>
                <a:ea typeface="Arial" pitchFamily="34" charset="-122"/>
                <a:cs typeface="Arial" pitchFamily="34" charset="-120"/>
              </a:rPr>
              <a:t>How you call a baraza they will attend</a:t>
            </a:r>
            <a:endParaRPr lang="en-US" sz="1100" dirty="0"/>
          </a:p>
        </p:txBody>
      </p:sp>
      <p:sp>
        <p:nvSpPr>
          <p:cNvPr id="27" name="Shape 24"/>
          <p:cNvSpPr/>
          <p:nvPr/>
        </p:nvSpPr>
        <p:spPr>
          <a:xfrm>
            <a:off x="566928" y="4645152"/>
            <a:ext cx="5074920" cy="1225296"/>
          </a:xfrm>
          <a:prstGeom prst="roundRect">
            <a:avLst>
              <a:gd name="adj" fmla="val 2239"/>
            </a:avLst>
          </a:prstGeom>
          <a:solidFill>
            <a:srgbClr val="013322"/>
          </a:solidFill>
          <a:ln w="12700">
            <a:solidFill>
              <a:srgbClr val="F47B20"/>
            </a:solidFill>
            <a:prstDash val="solid"/>
          </a:ln>
        </p:spPr>
      </p:sp>
      <p:sp>
        <p:nvSpPr>
          <p:cNvPr id="28" name="Text 25"/>
          <p:cNvSpPr txBox="1"/>
          <p:nvPr/>
        </p:nvSpPr>
        <p:spPr>
          <a:xfrm>
            <a:off x="877824" y="4809744"/>
            <a:ext cx="4480560" cy="329184"/>
          </a:xfrm>
          <a:prstGeom prst="rect">
            <a:avLst/>
          </a:prstGeom>
          <a:noFill/>
          <a:ln/>
        </p:spPr>
        <p:txBody>
          <a:bodyPr wrap="square" lIns="0" tIns="0" rIns="0" bIns="0" rtlCol="0" anchor="ctr"/>
          <a:lstStyle/>
          <a:p>
            <a:pPr indent="0" marL="0">
              <a:buNone/>
            </a:pPr>
            <a:r>
              <a:rPr lang="en-US" sz="1600" b="1" dirty="0">
                <a:solidFill>
                  <a:srgbClr val="FFB066"/>
                </a:solidFill>
                <a:latin typeface="Arial" pitchFamily="34" charset="0"/>
                <a:ea typeface="Arial" pitchFamily="34" charset="-122"/>
                <a:cs typeface="Arial" pitchFamily="34" charset="-120"/>
              </a:rPr>
              <a:t>No SMS, no supporter.</a:t>
            </a:r>
            <a:endParaRPr lang="en-US" sz="1600" dirty="0"/>
          </a:p>
        </p:txBody>
      </p:sp>
      <p:sp>
        <p:nvSpPr>
          <p:cNvPr id="29" name="Text 26"/>
          <p:cNvSpPr txBox="1"/>
          <p:nvPr/>
        </p:nvSpPr>
        <p:spPr>
          <a:xfrm>
            <a:off x="877824" y="5138928"/>
            <a:ext cx="4480560" cy="566928"/>
          </a:xfrm>
          <a:prstGeom prst="rect">
            <a:avLst/>
          </a:prstGeom>
          <a:noFill/>
          <a:ln/>
        </p:spPr>
        <p:txBody>
          <a:bodyPr wrap="square" lIns="0" tIns="0" rIns="0" bIns="0" rtlCol="0" anchor="ctr"/>
          <a:lstStyle/>
          <a:p>
            <a:pPr indent="0" marL="0">
              <a:lnSpc>
                <a:spcPts val="1600"/>
              </a:lnSpc>
              <a:buNone/>
            </a:pPr>
            <a:r>
              <a:rPr lang="en-US" sz="1150" dirty="0">
                <a:solidFill>
                  <a:srgbClr val="B5C9BA"/>
                </a:solidFill>
                <a:latin typeface="Arial" pitchFamily="34" charset="0"/>
                <a:ea typeface="Arial" pitchFamily="34" charset="-122"/>
                <a:cs typeface="Arial" pitchFamily="34" charset="-120"/>
              </a:rPr>
              <a:t>A signature, a shout at a rally or a follow online never enters a published figure.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03  ·  WHY SATURATION WINS</a:t>
            </a:r>
            <a:endParaRPr lang="en-US" sz="1100" dirty="0"/>
          </a:p>
        </p:txBody>
      </p:sp>
      <p:sp>
        <p:nvSpPr>
          <p:cNvPr id="5" name="Text 2"/>
          <p:cNvSpPr txBox="1"/>
          <p:nvPr/>
        </p:nvSpPr>
        <p:spPr>
          <a:xfrm>
            <a:off x="566928" y="1024128"/>
            <a:ext cx="52120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Headcount lies.</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Share does not.</a:t>
            </a:r>
            <a:endParaRPr lang="en-US" sz="3400" dirty="0"/>
          </a:p>
        </p:txBody>
      </p:sp>
      <p:sp>
        <p:nvSpPr>
          <p:cNvPr id="6" name="Text 3"/>
          <p:cNvSpPr txBox="1"/>
          <p:nvPr/>
        </p:nvSpPr>
        <p:spPr>
          <a:xfrm>
            <a:off x="566928" y="2304288"/>
            <a:ext cx="5029200" cy="1371600"/>
          </a:xfrm>
          <a:prstGeom prst="rect">
            <a:avLst/>
          </a:prstGeom>
          <a:noFill/>
          <a:ln/>
        </p:spPr>
        <p:txBody>
          <a:bodyPr wrap="square" lIns="0" tIns="0" rIns="0" bIns="0" rtlCol="0" anchor="t"/>
          <a:lstStyle/>
          <a:p>
            <a:pPr indent="0" marL="0">
              <a:lnSpc>
                <a:spcPts val="2100"/>
              </a:lnSpc>
              <a:buNone/>
            </a:pPr>
            <a:r>
              <a:rPr lang="en-US" sz="1400" dirty="0">
                <a:solidFill>
                  <a:srgbClr val="B5C9BA"/>
                </a:solidFill>
                <a:latin typeface="Arial" pitchFamily="34" charset="0"/>
                <a:ea typeface="Arial" pitchFamily="34" charset="-122"/>
                <a:cs typeface="Arial" pitchFamily="34" charset="-120"/>
              </a:rPr>
              <a:t>Lodwar Township gives us our biggest crowd of supporters. Lokiriama has less than half as many and is the stronger ward, because it has far fewer voters to win. Judge a ward against its own size and the map starts telling you where to drive.</a:t>
            </a:r>
            <a:endParaRPr lang="en-US" sz="1400" dirty="0"/>
          </a:p>
        </p:txBody>
      </p:sp>
      <p:sp>
        <p:nvSpPr>
          <p:cNvPr id="7" name="Shape 4"/>
          <p:cNvSpPr/>
          <p:nvPr/>
        </p:nvSpPr>
        <p:spPr>
          <a:xfrm>
            <a:off x="566928" y="4023360"/>
            <a:ext cx="2423160" cy="1810512"/>
          </a:xfrm>
          <a:prstGeom prst="roundRect">
            <a:avLst>
              <a:gd name="adj" fmla="val 1515"/>
            </a:avLst>
          </a:prstGeom>
          <a:solidFill>
            <a:srgbClr val="01412A"/>
          </a:solidFill>
          <a:ln w="9525">
            <a:solidFill>
              <a:srgbClr val="0A6E45"/>
            </a:solidFill>
            <a:prstDash val="solid"/>
          </a:ln>
        </p:spPr>
      </p:sp>
      <p:sp>
        <p:nvSpPr>
          <p:cNvPr id="8" name="Text 5"/>
          <p:cNvSpPr txBox="1"/>
          <p:nvPr/>
        </p:nvSpPr>
        <p:spPr>
          <a:xfrm>
            <a:off x="804672" y="4206240"/>
            <a:ext cx="1965960" cy="457200"/>
          </a:xfrm>
          <a:prstGeom prst="rect">
            <a:avLst/>
          </a:prstGeom>
          <a:noFill/>
          <a:ln/>
        </p:spPr>
        <p:txBody>
          <a:bodyPr wrap="square" lIns="0" tIns="0" rIns="0" bIns="0" rtlCol="0" anchor="ctr"/>
          <a:lstStyle/>
          <a:p>
            <a:pPr indent="0" marL="0">
              <a:lnSpc>
                <a:spcPts val="1400"/>
              </a:lnSpc>
              <a:buNone/>
            </a:pPr>
            <a:r>
              <a:rPr lang="en-US" sz="1100" b="1" dirty="0">
                <a:solidFill>
                  <a:srgbClr val="D6DAA7"/>
                </a:solidFill>
                <a:latin typeface="Arial" pitchFamily="34" charset="0"/>
                <a:ea typeface="Arial" pitchFamily="34" charset="-122"/>
                <a:cs typeface="Arial" pitchFamily="34" charset="-120"/>
              </a:rPr>
              <a:t>Lodwar Township</a:t>
            </a:r>
            <a:endParaRPr lang="en-US" sz="1100" dirty="0"/>
          </a:p>
        </p:txBody>
      </p:sp>
      <p:sp>
        <p:nvSpPr>
          <p:cNvPr id="9" name="Text 6"/>
          <p:cNvSpPr txBox="1"/>
          <p:nvPr/>
        </p:nvSpPr>
        <p:spPr>
          <a:xfrm>
            <a:off x="804672" y="4681728"/>
            <a:ext cx="1965960" cy="548640"/>
          </a:xfrm>
          <a:prstGeom prst="rect">
            <a:avLst/>
          </a:prstGeom>
          <a:noFill/>
          <a:ln/>
        </p:spPr>
        <p:txBody>
          <a:bodyPr wrap="square" lIns="0" tIns="0" rIns="0" bIns="0" rtlCol="0" anchor="ctr"/>
          <a:lstStyle/>
          <a:p>
            <a:pPr indent="0" marL="0">
              <a:buNone/>
            </a:pPr>
            <a:r>
              <a:rPr lang="en-US" sz="3000" b="1" dirty="0">
                <a:solidFill>
                  <a:srgbClr val="B5C9BA"/>
                </a:solidFill>
                <a:latin typeface="Arial" pitchFamily="34" charset="0"/>
                <a:ea typeface="Arial" pitchFamily="34" charset="-122"/>
                <a:cs typeface="Arial" pitchFamily="34" charset="-120"/>
              </a:rPr>
              <a:t>3.55%</a:t>
            </a:r>
            <a:endParaRPr lang="en-US" sz="3000" dirty="0"/>
          </a:p>
        </p:txBody>
      </p:sp>
      <p:sp>
        <p:nvSpPr>
          <p:cNvPr id="10" name="Text 7"/>
          <p:cNvSpPr txBox="1"/>
          <p:nvPr/>
        </p:nvSpPr>
        <p:spPr>
          <a:xfrm>
            <a:off x="804672" y="5230368"/>
            <a:ext cx="1965960" cy="256032"/>
          </a:xfrm>
          <a:prstGeom prst="rect">
            <a:avLst/>
          </a:prstGeom>
          <a:noFill/>
          <a:ln/>
        </p:spPr>
        <p:txBody>
          <a:bodyPr wrap="square" lIns="0" tIns="0" rIns="0" bIns="0" rtlCol="0" anchor="ctr"/>
          <a:lstStyle/>
          <a:p>
            <a:pPr indent="0" marL="0">
              <a:buNone/>
            </a:pPr>
            <a:r>
              <a:rPr lang="en-US" sz="1150" dirty="0">
                <a:solidFill>
                  <a:srgbClr val="F4F2EE"/>
                </a:solidFill>
                <a:latin typeface="Arial" pitchFamily="34" charset="0"/>
                <a:ea typeface="Arial" pitchFamily="34" charset="-122"/>
                <a:cs typeface="Arial" pitchFamily="34" charset="-120"/>
              </a:rPr>
              <a:t>614 supporters</a:t>
            </a:r>
            <a:endParaRPr lang="en-US" sz="1150" dirty="0"/>
          </a:p>
        </p:txBody>
      </p:sp>
      <p:sp>
        <p:nvSpPr>
          <p:cNvPr id="11" name="Text 8"/>
          <p:cNvSpPr txBox="1"/>
          <p:nvPr/>
        </p:nvSpPr>
        <p:spPr>
          <a:xfrm>
            <a:off x="804672" y="5468112"/>
            <a:ext cx="196596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of 17,273 voters</a:t>
            </a:r>
            <a:endParaRPr lang="en-US" sz="1050" dirty="0"/>
          </a:p>
        </p:txBody>
      </p:sp>
      <p:sp>
        <p:nvSpPr>
          <p:cNvPr id="12" name="Shape 9"/>
          <p:cNvSpPr/>
          <p:nvPr/>
        </p:nvSpPr>
        <p:spPr>
          <a:xfrm>
            <a:off x="3218688" y="4023360"/>
            <a:ext cx="2423160" cy="1810512"/>
          </a:xfrm>
          <a:prstGeom prst="roundRect">
            <a:avLst>
              <a:gd name="adj" fmla="val 1515"/>
            </a:avLst>
          </a:prstGeom>
          <a:solidFill>
            <a:srgbClr val="013322"/>
          </a:solidFill>
          <a:ln w="9525">
            <a:solidFill>
              <a:srgbClr val="0A6E45"/>
            </a:solidFill>
            <a:prstDash val="solid"/>
          </a:ln>
        </p:spPr>
      </p:sp>
      <p:sp>
        <p:nvSpPr>
          <p:cNvPr id="13" name="Text 10"/>
          <p:cNvSpPr txBox="1"/>
          <p:nvPr/>
        </p:nvSpPr>
        <p:spPr>
          <a:xfrm>
            <a:off x="3456432" y="4206240"/>
            <a:ext cx="1965960" cy="457200"/>
          </a:xfrm>
          <a:prstGeom prst="rect">
            <a:avLst/>
          </a:prstGeom>
          <a:noFill/>
          <a:ln/>
        </p:spPr>
        <p:txBody>
          <a:bodyPr wrap="square" lIns="0" tIns="0" rIns="0" bIns="0" rtlCol="0" anchor="ctr"/>
          <a:lstStyle/>
          <a:p>
            <a:pPr indent="0" marL="0">
              <a:lnSpc>
                <a:spcPts val="1400"/>
              </a:lnSpc>
              <a:buNone/>
            </a:pPr>
            <a:r>
              <a:rPr lang="en-US" sz="1100" b="1" dirty="0">
                <a:solidFill>
                  <a:srgbClr val="D6DAA7"/>
                </a:solidFill>
                <a:latin typeface="Arial" pitchFamily="34" charset="0"/>
                <a:ea typeface="Arial" pitchFamily="34" charset="-122"/>
                <a:cs typeface="Arial" pitchFamily="34" charset="-120"/>
              </a:rPr>
              <a:t>Lokiriama/Lorengippi</a:t>
            </a:r>
            <a:endParaRPr lang="en-US" sz="1100" dirty="0"/>
          </a:p>
        </p:txBody>
      </p:sp>
      <p:sp>
        <p:nvSpPr>
          <p:cNvPr id="14" name="Text 11"/>
          <p:cNvSpPr txBox="1"/>
          <p:nvPr/>
        </p:nvSpPr>
        <p:spPr>
          <a:xfrm>
            <a:off x="3456432" y="4681728"/>
            <a:ext cx="1965960" cy="548640"/>
          </a:xfrm>
          <a:prstGeom prst="rect">
            <a:avLst/>
          </a:prstGeom>
          <a:noFill/>
          <a:ln/>
        </p:spPr>
        <p:txBody>
          <a:bodyPr wrap="square" lIns="0" tIns="0" rIns="0" bIns="0" rtlCol="0" anchor="ctr"/>
          <a:lstStyle/>
          <a:p>
            <a:pPr indent="0" marL="0">
              <a:buNone/>
            </a:pPr>
            <a:r>
              <a:rPr lang="en-US" sz="3000" b="1" dirty="0">
                <a:solidFill>
                  <a:srgbClr val="FFB066"/>
                </a:solidFill>
                <a:latin typeface="Arial" pitchFamily="34" charset="0"/>
                <a:ea typeface="Arial" pitchFamily="34" charset="-122"/>
                <a:cs typeface="Arial" pitchFamily="34" charset="-120"/>
              </a:rPr>
              <a:t>5.25%</a:t>
            </a:r>
            <a:endParaRPr lang="en-US" sz="3000" dirty="0"/>
          </a:p>
        </p:txBody>
      </p:sp>
      <p:sp>
        <p:nvSpPr>
          <p:cNvPr id="15" name="Text 12"/>
          <p:cNvSpPr txBox="1"/>
          <p:nvPr/>
        </p:nvSpPr>
        <p:spPr>
          <a:xfrm>
            <a:off x="3456432" y="5230368"/>
            <a:ext cx="1965960" cy="256032"/>
          </a:xfrm>
          <a:prstGeom prst="rect">
            <a:avLst/>
          </a:prstGeom>
          <a:noFill/>
          <a:ln/>
        </p:spPr>
        <p:txBody>
          <a:bodyPr wrap="square" lIns="0" tIns="0" rIns="0" bIns="0" rtlCol="0" anchor="ctr"/>
          <a:lstStyle/>
          <a:p>
            <a:pPr indent="0" marL="0">
              <a:buNone/>
            </a:pPr>
            <a:r>
              <a:rPr lang="en-US" sz="1150" dirty="0">
                <a:solidFill>
                  <a:srgbClr val="F4F2EE"/>
                </a:solidFill>
                <a:latin typeface="Arial" pitchFamily="34" charset="0"/>
                <a:ea typeface="Arial" pitchFamily="34" charset="-122"/>
                <a:cs typeface="Arial" pitchFamily="34" charset="-120"/>
              </a:rPr>
              <a:t>254 supporters</a:t>
            </a:r>
            <a:endParaRPr lang="en-US" sz="1150" dirty="0"/>
          </a:p>
        </p:txBody>
      </p:sp>
      <p:sp>
        <p:nvSpPr>
          <p:cNvPr id="16" name="Text 13"/>
          <p:cNvSpPr txBox="1"/>
          <p:nvPr/>
        </p:nvSpPr>
        <p:spPr>
          <a:xfrm>
            <a:off x="3456432" y="5468112"/>
            <a:ext cx="1965960" cy="256032"/>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of 4,835 voters</a:t>
            </a:r>
            <a:endParaRPr lang="en-US" sz="1050" dirty="0"/>
          </a:p>
        </p:txBody>
      </p:sp>
      <p:graphicFrame>
        <p:nvGraphicFramePr>
          <p:cNvPr id="17" name="Chart 0" descr=""/>
          <p:cNvGraphicFramePr/>
          <p:nvPr/>
        </p:nvGraphicFramePr>
        <p:xfrm>
          <a:off x="5943600" y="1042416"/>
          <a:ext cx="5650992" cy="4791456"/>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04  ·  WHERE TO GO NEXT</a:t>
            </a:r>
            <a:endParaRPr lang="en-US" sz="1100" dirty="0"/>
          </a:p>
        </p:txBody>
      </p:sp>
      <p:sp>
        <p:nvSpPr>
          <p:cNvPr id="5" name="Text 2"/>
          <p:cNvSpPr txBox="1"/>
          <p:nvPr/>
        </p:nvSpPr>
        <p:spPr>
          <a:xfrm>
            <a:off x="566928" y="1024128"/>
            <a:ext cx="52120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The board picks</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the route.</a:t>
            </a:r>
            <a:endParaRPr lang="en-US" sz="3400" dirty="0"/>
          </a:p>
        </p:txBody>
      </p:sp>
      <p:sp>
        <p:nvSpPr>
          <p:cNvPr id="6" name="Text 3"/>
          <p:cNvSpPr txBox="1"/>
          <p:nvPr/>
        </p:nvSpPr>
        <p:spPr>
          <a:xfrm>
            <a:off x="566928" y="2304288"/>
            <a:ext cx="5029200" cy="1371600"/>
          </a:xfrm>
          <a:prstGeom prst="rect">
            <a:avLst/>
          </a:prstGeom>
          <a:noFill/>
          <a:ln/>
        </p:spPr>
        <p:txBody>
          <a:bodyPr wrap="square" lIns="0" tIns="0" rIns="0" bIns="0" rtlCol="0" anchor="t"/>
          <a:lstStyle/>
          <a:p>
            <a:pPr indent="0" marL="0">
              <a:lnSpc>
                <a:spcPts val="2100"/>
              </a:lnSpc>
              <a:buNone/>
            </a:pPr>
            <a:r>
              <a:rPr lang="en-US" sz="1400" dirty="0">
                <a:solidFill>
                  <a:srgbClr val="B5C9BA"/>
                </a:solidFill>
                <a:latin typeface="Arial" pitchFamily="34" charset="0"/>
                <a:ea typeface="Arial" pitchFamily="34" charset="-122"/>
                <a:cs typeface="Arial" pitchFamily="34" charset="-120"/>
              </a:rPr>
              <a:t>Twenty of our thirty wards are still cold, under three per cent. Cold does not mean hostile. It means nobody has asked yet. Turkwel alone holds 19,528 voters and has barely been touched. These six are the emptiest boxes on the whole board.</a:t>
            </a:r>
            <a:endParaRPr lang="en-US" sz="1400" dirty="0"/>
          </a:p>
        </p:txBody>
      </p:sp>
      <p:sp>
        <p:nvSpPr>
          <p:cNvPr id="7" name="Text 4"/>
          <p:cNvSpPr txBox="1"/>
          <p:nvPr/>
        </p:nvSpPr>
        <p:spPr>
          <a:xfrm>
            <a:off x="566928" y="4224528"/>
            <a:ext cx="1645920" cy="658368"/>
          </a:xfrm>
          <a:prstGeom prst="rect">
            <a:avLst/>
          </a:prstGeom>
          <a:noFill/>
          <a:ln/>
        </p:spPr>
        <p:txBody>
          <a:bodyPr wrap="square" lIns="0" tIns="0" rIns="0" bIns="0" rtlCol="0" anchor="ctr"/>
          <a:lstStyle/>
          <a:p>
            <a:pPr indent="0" marL="0">
              <a:buNone/>
            </a:pPr>
            <a:r>
              <a:rPr lang="en-US" sz="3800" b="1" dirty="0">
                <a:solidFill>
                  <a:srgbClr val="B5C9BA"/>
                </a:solidFill>
                <a:latin typeface="Arial" pitchFamily="34" charset="0"/>
                <a:ea typeface="Arial" pitchFamily="34" charset="-122"/>
                <a:cs typeface="Arial" pitchFamily="34" charset="-120"/>
              </a:rPr>
              <a:t>20</a:t>
            </a:r>
            <a:endParaRPr lang="en-US" sz="3800" dirty="0"/>
          </a:p>
        </p:txBody>
      </p:sp>
      <p:sp>
        <p:nvSpPr>
          <p:cNvPr id="8" name="Text 5"/>
          <p:cNvSpPr txBox="1"/>
          <p:nvPr/>
        </p:nvSpPr>
        <p:spPr>
          <a:xfrm>
            <a:off x="566928" y="4882896"/>
            <a:ext cx="1645920" cy="292608"/>
          </a:xfrm>
          <a:prstGeom prst="rect">
            <a:avLst/>
          </a:prstGeom>
          <a:noFill/>
          <a:ln/>
        </p:spPr>
        <p:txBody>
          <a:bodyPr wrap="square" lIns="0" tIns="0" rIns="0" bIns="0" rtlCol="0" anchor="ctr"/>
          <a:lstStyle/>
          <a:p>
            <a:pPr indent="0" marL="0">
              <a:buNone/>
            </a:pPr>
            <a:r>
              <a:rPr lang="en-US" sz="1000" b="1" spc="160" kern="0" dirty="0">
                <a:solidFill>
                  <a:srgbClr val="D6DAA7"/>
                </a:solidFill>
                <a:latin typeface="Arial" pitchFamily="34" charset="0"/>
                <a:ea typeface="Arial" pitchFamily="34" charset="-122"/>
                <a:cs typeface="Arial" pitchFamily="34" charset="-120"/>
              </a:rPr>
              <a:t>wards still cold</a:t>
            </a:r>
            <a:endParaRPr lang="en-US" sz="1000" dirty="0"/>
          </a:p>
        </p:txBody>
      </p:sp>
      <p:sp>
        <p:nvSpPr>
          <p:cNvPr id="9" name="Text 6"/>
          <p:cNvSpPr txBox="1"/>
          <p:nvPr/>
        </p:nvSpPr>
        <p:spPr>
          <a:xfrm>
            <a:off x="2304288" y="4224528"/>
            <a:ext cx="1645920" cy="658368"/>
          </a:xfrm>
          <a:prstGeom prst="rect">
            <a:avLst/>
          </a:prstGeom>
          <a:noFill/>
          <a:ln/>
        </p:spPr>
        <p:txBody>
          <a:bodyPr wrap="square" lIns="0" tIns="0" rIns="0" bIns="0" rtlCol="0" anchor="ctr"/>
          <a:lstStyle/>
          <a:p>
            <a:pPr indent="0" marL="0">
              <a:buNone/>
            </a:pPr>
            <a:r>
              <a:rPr lang="en-US" sz="3800" b="1" dirty="0">
                <a:solidFill>
                  <a:srgbClr val="FFB066"/>
                </a:solidFill>
                <a:latin typeface="Arial" pitchFamily="34" charset="0"/>
                <a:ea typeface="Arial" pitchFamily="34" charset="-122"/>
                <a:cs typeface="Arial" pitchFamily="34" charset="-120"/>
              </a:rPr>
              <a:t>4,981</a:t>
            </a:r>
            <a:endParaRPr lang="en-US" sz="3800" dirty="0"/>
          </a:p>
        </p:txBody>
      </p:sp>
      <p:sp>
        <p:nvSpPr>
          <p:cNvPr id="10" name="Text 7"/>
          <p:cNvSpPr txBox="1"/>
          <p:nvPr/>
        </p:nvSpPr>
        <p:spPr>
          <a:xfrm>
            <a:off x="2304288" y="4882896"/>
            <a:ext cx="1645920" cy="292608"/>
          </a:xfrm>
          <a:prstGeom prst="rect">
            <a:avLst/>
          </a:prstGeom>
          <a:noFill/>
          <a:ln/>
        </p:spPr>
        <p:txBody>
          <a:bodyPr wrap="square" lIns="0" tIns="0" rIns="0" bIns="0" rtlCol="0" anchor="ctr"/>
          <a:lstStyle/>
          <a:p>
            <a:pPr indent="0" marL="0">
              <a:buNone/>
            </a:pPr>
            <a:r>
              <a:rPr lang="en-US" sz="1000" b="1" spc="160" kern="0" dirty="0">
                <a:solidFill>
                  <a:srgbClr val="D6DAA7"/>
                </a:solidFill>
                <a:latin typeface="Arial" pitchFamily="34" charset="0"/>
                <a:ea typeface="Arial" pitchFamily="34" charset="-122"/>
                <a:cs typeface="Arial" pitchFamily="34" charset="-120"/>
              </a:rPr>
              <a:t>verified today</a:t>
            </a:r>
            <a:endParaRPr lang="en-US" sz="1000" dirty="0"/>
          </a:p>
        </p:txBody>
      </p:sp>
      <p:sp>
        <p:nvSpPr>
          <p:cNvPr id="11" name="Text 8"/>
          <p:cNvSpPr txBox="1"/>
          <p:nvPr/>
        </p:nvSpPr>
        <p:spPr>
          <a:xfrm>
            <a:off x="4041648" y="4224528"/>
            <a:ext cx="1645920" cy="658368"/>
          </a:xfrm>
          <a:prstGeom prst="rect">
            <a:avLst/>
          </a:prstGeom>
          <a:noFill/>
          <a:ln/>
        </p:spPr>
        <p:txBody>
          <a:bodyPr wrap="square" lIns="0" tIns="0" rIns="0" bIns="0" rtlCol="0" anchor="ctr"/>
          <a:lstStyle/>
          <a:p>
            <a:pPr indent="0" marL="0">
              <a:buNone/>
            </a:pPr>
            <a:r>
              <a:rPr lang="en-US" sz="3800" b="1" dirty="0">
                <a:solidFill>
                  <a:srgbClr val="F4F2EE"/>
                </a:solidFill>
                <a:latin typeface="Arial" pitchFamily="34" charset="0"/>
                <a:ea typeface="Arial" pitchFamily="34" charset="-122"/>
                <a:cs typeface="Arial" pitchFamily="34" charset="-120"/>
              </a:rPr>
              <a:t>2.09%</a:t>
            </a:r>
            <a:endParaRPr lang="en-US" sz="3800" dirty="0"/>
          </a:p>
        </p:txBody>
      </p:sp>
      <p:sp>
        <p:nvSpPr>
          <p:cNvPr id="12" name="Text 9"/>
          <p:cNvSpPr txBox="1"/>
          <p:nvPr/>
        </p:nvSpPr>
        <p:spPr>
          <a:xfrm>
            <a:off x="4041648" y="4882896"/>
            <a:ext cx="1645920" cy="292608"/>
          </a:xfrm>
          <a:prstGeom prst="rect">
            <a:avLst/>
          </a:prstGeom>
          <a:noFill/>
          <a:ln/>
        </p:spPr>
        <p:txBody>
          <a:bodyPr wrap="square" lIns="0" tIns="0" rIns="0" bIns="0" rtlCol="0" anchor="ctr"/>
          <a:lstStyle/>
          <a:p>
            <a:pPr indent="0" marL="0">
              <a:buNone/>
            </a:pPr>
            <a:r>
              <a:rPr lang="en-US" sz="1000" b="1" spc="160" kern="0" dirty="0">
                <a:solidFill>
                  <a:srgbClr val="D6DAA7"/>
                </a:solidFill>
                <a:latin typeface="Arial" pitchFamily="34" charset="0"/>
                <a:ea typeface="Arial" pitchFamily="34" charset="-122"/>
                <a:cs typeface="Arial" pitchFamily="34" charset="-120"/>
              </a:rPr>
              <a:t>of the county</a:t>
            </a:r>
            <a:endParaRPr lang="en-US" sz="1000" dirty="0"/>
          </a:p>
        </p:txBody>
      </p:sp>
      <p:graphicFrame>
        <p:nvGraphicFramePr>
          <p:cNvPr id="13" name="Chart 0" descr=""/>
          <p:cNvGraphicFramePr/>
          <p:nvPr/>
        </p:nvGraphicFramePr>
        <p:xfrm>
          <a:off x="5943600" y="1042416"/>
          <a:ext cx="5650992" cy="4791456"/>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THE WHOLE COUNTY</a:t>
            </a:r>
            <a:endParaRPr lang="en-US" sz="1100" dirty="0"/>
          </a:p>
        </p:txBody>
      </p:sp>
      <p:sp>
        <p:nvSpPr>
          <p:cNvPr id="5" name="Text 2"/>
          <p:cNvSpPr txBox="1"/>
          <p:nvPr/>
        </p:nvSpPr>
        <p:spPr>
          <a:xfrm>
            <a:off x="566928" y="1024128"/>
            <a:ext cx="493776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Thirty wards,</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one screen.</a:t>
            </a:r>
            <a:endParaRPr lang="en-US" sz="3400" dirty="0"/>
          </a:p>
        </p:txBody>
      </p:sp>
      <p:sp>
        <p:nvSpPr>
          <p:cNvPr id="6" name="Text 3"/>
          <p:cNvSpPr txBox="1"/>
          <p:nvPr/>
        </p:nvSpPr>
        <p:spPr>
          <a:xfrm>
            <a:off x="5943600" y="1042416"/>
            <a:ext cx="5650992" cy="1280160"/>
          </a:xfrm>
          <a:prstGeom prst="rect">
            <a:avLst/>
          </a:prstGeom>
          <a:noFill/>
          <a:ln/>
        </p:spPr>
        <p:txBody>
          <a:bodyPr wrap="square" lIns="0" tIns="0" rIns="0" bIns="0" rtlCol="0" anchor="ctr"/>
          <a:lstStyle/>
          <a:p>
            <a:pPr indent="0" marL="0">
              <a:lnSpc>
                <a:spcPts val="1800"/>
              </a:lnSpc>
              <a:buNone/>
            </a:pPr>
            <a:r>
              <a:rPr lang="en-US" sz="1250" dirty="0">
                <a:solidFill>
                  <a:srgbClr val="B5C9BA"/>
                </a:solidFill>
                <a:latin typeface="Arial" pitchFamily="34" charset="0"/>
                <a:ea typeface="Arial" pitchFamily="34" charset="-122"/>
                <a:cs typeface="Arial" pitchFamily="34" charset="-120"/>
              </a:rPr>
              <a:t>One tile for each ward, grouped by constituency and placed roughly where those wards sit on the ground, north at the top and the south below. Every tile is the same size on purpose. The northern wards are huge and nearly empty, so drawn to land area they would swamp the map while holding a fraction of the vote.</a:t>
            </a:r>
            <a:endParaRPr lang="en-US" sz="1250" dirty="0"/>
          </a:p>
        </p:txBody>
      </p:sp>
      <p:sp>
        <p:nvSpPr>
          <p:cNvPr id="7" name="Shape 4"/>
          <p:cNvSpPr/>
          <p:nvPr/>
        </p:nvSpPr>
        <p:spPr>
          <a:xfrm>
            <a:off x="5943600" y="2377440"/>
            <a:ext cx="256032" cy="164592"/>
          </a:xfrm>
          <a:prstGeom prst="rect">
            <a:avLst/>
          </a:prstGeom>
          <a:solidFill>
            <a:srgbClr val="A85410"/>
          </a:solidFill>
          <a:ln/>
        </p:spPr>
      </p:sp>
      <p:sp>
        <p:nvSpPr>
          <p:cNvPr id="8" name="Text 5"/>
          <p:cNvSpPr txBox="1"/>
          <p:nvPr/>
        </p:nvSpPr>
        <p:spPr>
          <a:xfrm>
            <a:off x="6291072" y="2304288"/>
            <a:ext cx="1536192" cy="292608"/>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Cold  under 3%</a:t>
            </a:r>
            <a:endParaRPr lang="en-US" sz="1050" dirty="0"/>
          </a:p>
        </p:txBody>
      </p:sp>
      <p:sp>
        <p:nvSpPr>
          <p:cNvPr id="9" name="Shape 6"/>
          <p:cNvSpPr/>
          <p:nvPr/>
        </p:nvSpPr>
        <p:spPr>
          <a:xfrm>
            <a:off x="7827264" y="2377440"/>
            <a:ext cx="256032" cy="164592"/>
          </a:xfrm>
          <a:prstGeom prst="rect">
            <a:avLst/>
          </a:prstGeom>
          <a:solidFill>
            <a:srgbClr val="F47B20"/>
          </a:solidFill>
          <a:ln/>
        </p:spPr>
      </p:sp>
      <p:sp>
        <p:nvSpPr>
          <p:cNvPr id="10" name="Text 7"/>
          <p:cNvSpPr txBox="1"/>
          <p:nvPr/>
        </p:nvSpPr>
        <p:spPr>
          <a:xfrm>
            <a:off x="8174736" y="2304288"/>
            <a:ext cx="1536192" cy="292608"/>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Working  3 to 8%</a:t>
            </a:r>
            <a:endParaRPr lang="en-US" sz="1050" dirty="0"/>
          </a:p>
        </p:txBody>
      </p:sp>
      <p:sp>
        <p:nvSpPr>
          <p:cNvPr id="11" name="Shape 8"/>
          <p:cNvSpPr/>
          <p:nvPr/>
        </p:nvSpPr>
        <p:spPr>
          <a:xfrm>
            <a:off x="9710928" y="2377440"/>
            <a:ext cx="256032" cy="164592"/>
          </a:xfrm>
          <a:prstGeom prst="rect">
            <a:avLst/>
          </a:prstGeom>
          <a:solidFill>
            <a:srgbClr val="FFC98A"/>
          </a:solidFill>
          <a:ln/>
        </p:spPr>
      </p:sp>
      <p:sp>
        <p:nvSpPr>
          <p:cNvPr id="12" name="Text 9"/>
          <p:cNvSpPr txBox="1"/>
          <p:nvPr/>
        </p:nvSpPr>
        <p:spPr>
          <a:xfrm>
            <a:off x="10058400" y="2304288"/>
            <a:ext cx="1536192" cy="292608"/>
          </a:xfrm>
          <a:prstGeom prst="rect">
            <a:avLst/>
          </a:prstGeom>
          <a:noFill/>
          <a:ln/>
        </p:spPr>
        <p:txBody>
          <a:bodyPr wrap="square" lIns="0" tIns="0" rIns="0" bIns="0" rtlCol="0" anchor="ctr"/>
          <a:lstStyle/>
          <a:p>
            <a:pPr indent="0" marL="0">
              <a:buNone/>
            </a:pPr>
            <a:r>
              <a:rPr lang="en-US" sz="1050" dirty="0">
                <a:solidFill>
                  <a:srgbClr val="B5C9BA"/>
                </a:solidFill>
                <a:latin typeface="Arial" pitchFamily="34" charset="0"/>
                <a:ea typeface="Arial" pitchFamily="34" charset="-122"/>
                <a:cs typeface="Arial" pitchFamily="34" charset="-120"/>
              </a:rPr>
              <a:t>Holding  over 8%</a:t>
            </a:r>
            <a:endParaRPr lang="en-US" sz="1050" dirty="0"/>
          </a:p>
        </p:txBody>
      </p:sp>
      <p:sp>
        <p:nvSpPr>
          <p:cNvPr id="13" name="Text 10">
            <a:hlinkClick r:id="rId3" tooltip="Opens the interactive board"/>
          </p:cNvPr>
          <p:cNvSpPr txBox="1"/>
          <p:nvPr/>
        </p:nvSpPr>
        <p:spPr>
          <a:xfrm>
            <a:off x="566928" y="2304288"/>
            <a:ext cx="4937760" cy="292608"/>
          </a:xfrm>
          <a:prstGeom prst="rect">
            <a:avLst/>
          </a:prstGeom>
          <a:noFill/>
          <a:ln/>
        </p:spPr>
        <p:txBody>
          <a:bodyPr wrap="square" lIns="0" tIns="0" rIns="0" bIns="0" rtlCol="0" anchor="ctr"/>
          <a:lstStyle/>
          <a:p>
            <a:pPr indent="0" marL="0">
              <a:buNone/>
            </a:pPr>
            <a:r>
              <a:rPr lang="en-US" sz="1200" b="1" u="sng" dirty="0">
                <a:solidFill>
                  <a:srgbClr val="FFB066"/>
                </a:solidFill>
                <a:latin typeface="Arial" pitchFamily="34" charset="0"/>
                <a:ea typeface="Arial" pitchFamily="34" charset="-122"/>
                <a:cs typeface="Arial" pitchFamily="34" charset="-120"/>
                <a:hlinkClick r:id="rId3" invalidUrl="" action="" tgtFrame="" tooltip="Opens the interactive board" history="1" highlightClick="0" endSnd="0">
                  <a:extLst>
                    <a:ext uri="{A12FA001-AC4F-418D-AE19-62706E023703}">
                      <ahyp:hlinkClr xmlns:ahyp="http://schemas.microsoft.com/office/drawing/2018/hyperlinkcolor" val="tx"/>
                    </a:ext>
                  </a:extLst>
                </a:hlinkClick>
              </a:rPr>
              <a:t>Open the live map and tap any ward for its polling stations</a:t>
            </a:r>
            <a:endParaRPr lang="en-US" sz="1200" dirty="0"/>
          </a:p>
        </p:txBody>
      </p:sp>
      <p:sp>
        <p:nvSpPr>
          <p:cNvPr id="14" name="Text 11"/>
          <p:cNvSpPr txBox="1"/>
          <p:nvPr/>
        </p:nvSpPr>
        <p:spPr>
          <a:xfrm>
            <a:off x="566928" y="2688336"/>
            <a:ext cx="11027664" cy="182880"/>
          </a:xfrm>
          <a:prstGeom prst="rect">
            <a:avLst/>
          </a:prstGeom>
          <a:noFill/>
          <a:ln/>
        </p:spPr>
        <p:txBody>
          <a:bodyPr wrap="square" lIns="0" tIns="0" rIns="0" bIns="0" rtlCol="0" anchor="ctr"/>
          <a:lstStyle/>
          <a:p>
            <a:pPr indent="0" marL="0">
              <a:buNone/>
            </a:pPr>
            <a:r>
              <a:rPr lang="en-US" sz="850" b="1" spc="150" kern="0" dirty="0">
                <a:solidFill>
                  <a:srgbClr val="D6DAA7"/>
                </a:solidFill>
                <a:latin typeface="Arial" pitchFamily="34" charset="0"/>
                <a:ea typeface="Arial" pitchFamily="34" charset="-122"/>
                <a:cs typeface="Arial" pitchFamily="34" charset="-120"/>
              </a:rPr>
              <a:t>TURKANA NORTH</a:t>
            </a:r>
            <a:endParaRPr lang="en-US" sz="850" dirty="0"/>
          </a:p>
        </p:txBody>
      </p:sp>
      <p:sp>
        <p:nvSpPr>
          <p:cNvPr id="15" name="Shape 12"/>
          <p:cNvSpPr/>
          <p:nvPr/>
        </p:nvSpPr>
        <p:spPr>
          <a:xfrm>
            <a:off x="566928" y="2907792"/>
            <a:ext cx="1784604" cy="530352"/>
          </a:xfrm>
          <a:prstGeom prst="roundRect">
            <a:avLst>
              <a:gd name="adj" fmla="val 8621"/>
            </a:avLst>
          </a:prstGeom>
          <a:solidFill>
            <a:srgbClr val="A85410"/>
          </a:solidFill>
          <a:ln/>
        </p:spPr>
      </p:sp>
      <p:sp>
        <p:nvSpPr>
          <p:cNvPr id="16" name="Text 13"/>
          <p:cNvSpPr txBox="1"/>
          <p:nvPr/>
        </p:nvSpPr>
        <p:spPr>
          <a:xfrm>
            <a:off x="640080" y="2953512"/>
            <a:ext cx="163830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2.17%</a:t>
            </a:r>
            <a:endParaRPr lang="en-US" sz="1100" dirty="0"/>
          </a:p>
        </p:txBody>
      </p:sp>
      <p:sp>
        <p:nvSpPr>
          <p:cNvPr id="17" name="Text 14"/>
          <p:cNvSpPr txBox="1"/>
          <p:nvPr/>
        </p:nvSpPr>
        <p:spPr>
          <a:xfrm>
            <a:off x="640080" y="3191256"/>
            <a:ext cx="163830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Kaeris</a:t>
            </a:r>
            <a:endParaRPr lang="en-US" sz="700" dirty="0"/>
          </a:p>
        </p:txBody>
      </p:sp>
      <p:sp>
        <p:nvSpPr>
          <p:cNvPr id="18" name="Shape 15"/>
          <p:cNvSpPr/>
          <p:nvPr/>
        </p:nvSpPr>
        <p:spPr>
          <a:xfrm>
            <a:off x="2415540" y="2907792"/>
            <a:ext cx="1784604" cy="530352"/>
          </a:xfrm>
          <a:prstGeom prst="roundRect">
            <a:avLst>
              <a:gd name="adj" fmla="val 8621"/>
            </a:avLst>
          </a:prstGeom>
          <a:solidFill>
            <a:srgbClr val="A85410"/>
          </a:solidFill>
          <a:ln/>
        </p:spPr>
      </p:sp>
      <p:sp>
        <p:nvSpPr>
          <p:cNvPr id="19" name="Text 16"/>
          <p:cNvSpPr txBox="1"/>
          <p:nvPr/>
        </p:nvSpPr>
        <p:spPr>
          <a:xfrm>
            <a:off x="2488692" y="2953512"/>
            <a:ext cx="163830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1.91%</a:t>
            </a:r>
            <a:endParaRPr lang="en-US" sz="1100" dirty="0"/>
          </a:p>
        </p:txBody>
      </p:sp>
      <p:sp>
        <p:nvSpPr>
          <p:cNvPr id="20" name="Text 17"/>
          <p:cNvSpPr txBox="1"/>
          <p:nvPr/>
        </p:nvSpPr>
        <p:spPr>
          <a:xfrm>
            <a:off x="2488692" y="3191256"/>
            <a:ext cx="163830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Lake Zone</a:t>
            </a:r>
            <a:endParaRPr lang="en-US" sz="700" dirty="0"/>
          </a:p>
        </p:txBody>
      </p:sp>
      <p:sp>
        <p:nvSpPr>
          <p:cNvPr id="21" name="Shape 18"/>
          <p:cNvSpPr/>
          <p:nvPr/>
        </p:nvSpPr>
        <p:spPr>
          <a:xfrm>
            <a:off x="4264152" y="2907792"/>
            <a:ext cx="1784604" cy="530352"/>
          </a:xfrm>
          <a:prstGeom prst="roundRect">
            <a:avLst>
              <a:gd name="adj" fmla="val 8621"/>
            </a:avLst>
          </a:prstGeom>
          <a:solidFill>
            <a:srgbClr val="A85410"/>
          </a:solidFill>
          <a:ln/>
        </p:spPr>
      </p:sp>
      <p:sp>
        <p:nvSpPr>
          <p:cNvPr id="22" name="Text 19"/>
          <p:cNvSpPr txBox="1"/>
          <p:nvPr/>
        </p:nvSpPr>
        <p:spPr>
          <a:xfrm>
            <a:off x="4337304" y="2953512"/>
            <a:ext cx="163830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0.36%</a:t>
            </a:r>
            <a:endParaRPr lang="en-US" sz="1100" dirty="0"/>
          </a:p>
        </p:txBody>
      </p:sp>
      <p:sp>
        <p:nvSpPr>
          <p:cNvPr id="23" name="Text 20"/>
          <p:cNvSpPr txBox="1"/>
          <p:nvPr/>
        </p:nvSpPr>
        <p:spPr>
          <a:xfrm>
            <a:off x="4337304" y="3191256"/>
            <a:ext cx="163830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Lapur</a:t>
            </a:r>
            <a:endParaRPr lang="en-US" sz="700" dirty="0"/>
          </a:p>
        </p:txBody>
      </p:sp>
      <p:sp>
        <p:nvSpPr>
          <p:cNvPr id="24" name="Shape 21"/>
          <p:cNvSpPr/>
          <p:nvPr/>
        </p:nvSpPr>
        <p:spPr>
          <a:xfrm>
            <a:off x="6112764" y="2907792"/>
            <a:ext cx="1784604" cy="530352"/>
          </a:xfrm>
          <a:prstGeom prst="roundRect">
            <a:avLst>
              <a:gd name="adj" fmla="val 8621"/>
            </a:avLst>
          </a:prstGeom>
          <a:solidFill>
            <a:srgbClr val="A85410"/>
          </a:solidFill>
          <a:ln/>
        </p:spPr>
      </p:sp>
      <p:sp>
        <p:nvSpPr>
          <p:cNvPr id="25" name="Text 22"/>
          <p:cNvSpPr txBox="1"/>
          <p:nvPr/>
        </p:nvSpPr>
        <p:spPr>
          <a:xfrm>
            <a:off x="6185916" y="2953512"/>
            <a:ext cx="163830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1.33%</a:t>
            </a:r>
            <a:endParaRPr lang="en-US" sz="1100" dirty="0"/>
          </a:p>
        </p:txBody>
      </p:sp>
      <p:sp>
        <p:nvSpPr>
          <p:cNvPr id="26" name="Text 23"/>
          <p:cNvSpPr txBox="1"/>
          <p:nvPr/>
        </p:nvSpPr>
        <p:spPr>
          <a:xfrm>
            <a:off x="6185916" y="3191256"/>
            <a:ext cx="163830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Kaaleng/Kaikor</a:t>
            </a:r>
            <a:endParaRPr lang="en-US" sz="700" dirty="0"/>
          </a:p>
        </p:txBody>
      </p:sp>
      <p:sp>
        <p:nvSpPr>
          <p:cNvPr id="27" name="Shape 24"/>
          <p:cNvSpPr/>
          <p:nvPr/>
        </p:nvSpPr>
        <p:spPr>
          <a:xfrm>
            <a:off x="7961376" y="2907792"/>
            <a:ext cx="1784604" cy="530352"/>
          </a:xfrm>
          <a:prstGeom prst="roundRect">
            <a:avLst>
              <a:gd name="adj" fmla="val 8621"/>
            </a:avLst>
          </a:prstGeom>
          <a:solidFill>
            <a:srgbClr val="A85410"/>
          </a:solidFill>
          <a:ln/>
        </p:spPr>
      </p:sp>
      <p:sp>
        <p:nvSpPr>
          <p:cNvPr id="28" name="Text 25"/>
          <p:cNvSpPr txBox="1"/>
          <p:nvPr/>
        </p:nvSpPr>
        <p:spPr>
          <a:xfrm>
            <a:off x="8034528" y="2953512"/>
            <a:ext cx="163830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1.71%</a:t>
            </a:r>
            <a:endParaRPr lang="en-US" sz="1100" dirty="0"/>
          </a:p>
        </p:txBody>
      </p:sp>
      <p:sp>
        <p:nvSpPr>
          <p:cNvPr id="29" name="Text 26"/>
          <p:cNvSpPr txBox="1"/>
          <p:nvPr/>
        </p:nvSpPr>
        <p:spPr>
          <a:xfrm>
            <a:off x="8034528" y="3191256"/>
            <a:ext cx="163830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Kibish</a:t>
            </a:r>
            <a:endParaRPr lang="en-US" sz="700" dirty="0"/>
          </a:p>
        </p:txBody>
      </p:sp>
      <p:sp>
        <p:nvSpPr>
          <p:cNvPr id="30" name="Shape 27"/>
          <p:cNvSpPr/>
          <p:nvPr/>
        </p:nvSpPr>
        <p:spPr>
          <a:xfrm>
            <a:off x="9809988" y="2907792"/>
            <a:ext cx="1784604" cy="530352"/>
          </a:xfrm>
          <a:prstGeom prst="roundRect">
            <a:avLst>
              <a:gd name="adj" fmla="val 8621"/>
            </a:avLst>
          </a:prstGeom>
          <a:solidFill>
            <a:srgbClr val="A85410"/>
          </a:solidFill>
          <a:ln/>
        </p:spPr>
      </p:sp>
      <p:sp>
        <p:nvSpPr>
          <p:cNvPr id="31" name="Text 28"/>
          <p:cNvSpPr txBox="1"/>
          <p:nvPr/>
        </p:nvSpPr>
        <p:spPr>
          <a:xfrm>
            <a:off x="9883140" y="2953512"/>
            <a:ext cx="163830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1.38%</a:t>
            </a:r>
            <a:endParaRPr lang="en-US" sz="1100" dirty="0"/>
          </a:p>
        </p:txBody>
      </p:sp>
      <p:sp>
        <p:nvSpPr>
          <p:cNvPr id="32" name="Text 29"/>
          <p:cNvSpPr txBox="1"/>
          <p:nvPr/>
        </p:nvSpPr>
        <p:spPr>
          <a:xfrm>
            <a:off x="9883140" y="3191256"/>
            <a:ext cx="163830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Nakalale</a:t>
            </a:r>
            <a:endParaRPr lang="en-US" sz="700" dirty="0"/>
          </a:p>
        </p:txBody>
      </p:sp>
      <p:sp>
        <p:nvSpPr>
          <p:cNvPr id="33" name="Text 30"/>
          <p:cNvSpPr txBox="1"/>
          <p:nvPr/>
        </p:nvSpPr>
        <p:spPr>
          <a:xfrm>
            <a:off x="566928" y="3584448"/>
            <a:ext cx="5394960" cy="182880"/>
          </a:xfrm>
          <a:prstGeom prst="rect">
            <a:avLst/>
          </a:prstGeom>
          <a:noFill/>
          <a:ln/>
        </p:spPr>
        <p:txBody>
          <a:bodyPr wrap="square" lIns="0" tIns="0" rIns="0" bIns="0" rtlCol="0" anchor="ctr"/>
          <a:lstStyle/>
          <a:p>
            <a:pPr indent="0" marL="0">
              <a:buNone/>
            </a:pPr>
            <a:r>
              <a:rPr lang="en-US" sz="850" b="1" spc="150" kern="0" dirty="0">
                <a:solidFill>
                  <a:srgbClr val="D6DAA7"/>
                </a:solidFill>
                <a:latin typeface="Arial" pitchFamily="34" charset="0"/>
                <a:ea typeface="Arial" pitchFamily="34" charset="-122"/>
                <a:cs typeface="Arial" pitchFamily="34" charset="-120"/>
              </a:rPr>
              <a:t>TURKANA WEST</a:t>
            </a:r>
            <a:endParaRPr lang="en-US" sz="850" dirty="0"/>
          </a:p>
        </p:txBody>
      </p:sp>
      <p:sp>
        <p:nvSpPr>
          <p:cNvPr id="34" name="Shape 31"/>
          <p:cNvSpPr/>
          <p:nvPr/>
        </p:nvSpPr>
        <p:spPr>
          <a:xfrm>
            <a:off x="566928" y="3803904"/>
            <a:ext cx="1300734" cy="530352"/>
          </a:xfrm>
          <a:prstGeom prst="roundRect">
            <a:avLst>
              <a:gd name="adj" fmla="val 8621"/>
            </a:avLst>
          </a:prstGeom>
          <a:solidFill>
            <a:srgbClr val="F47B20"/>
          </a:solidFill>
          <a:ln/>
        </p:spPr>
      </p:sp>
      <p:sp>
        <p:nvSpPr>
          <p:cNvPr id="35" name="Text 32"/>
          <p:cNvSpPr txBox="1"/>
          <p:nvPr/>
        </p:nvSpPr>
        <p:spPr>
          <a:xfrm>
            <a:off x="640080" y="3849624"/>
            <a:ext cx="115443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3.11%</a:t>
            </a:r>
            <a:endParaRPr lang="en-US" sz="1100" dirty="0"/>
          </a:p>
        </p:txBody>
      </p:sp>
      <p:sp>
        <p:nvSpPr>
          <p:cNvPr id="36" name="Text 33"/>
          <p:cNvSpPr txBox="1"/>
          <p:nvPr/>
        </p:nvSpPr>
        <p:spPr>
          <a:xfrm>
            <a:off x="640080" y="4087368"/>
            <a:ext cx="115443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Kakuma</a:t>
            </a:r>
            <a:endParaRPr lang="en-US" sz="700" dirty="0"/>
          </a:p>
        </p:txBody>
      </p:sp>
      <p:sp>
        <p:nvSpPr>
          <p:cNvPr id="37" name="Shape 34"/>
          <p:cNvSpPr/>
          <p:nvPr/>
        </p:nvSpPr>
        <p:spPr>
          <a:xfrm>
            <a:off x="1931670" y="3803904"/>
            <a:ext cx="1300734" cy="530352"/>
          </a:xfrm>
          <a:prstGeom prst="roundRect">
            <a:avLst>
              <a:gd name="adj" fmla="val 8621"/>
            </a:avLst>
          </a:prstGeom>
          <a:solidFill>
            <a:srgbClr val="F47B20"/>
          </a:solidFill>
          <a:ln/>
        </p:spPr>
      </p:sp>
      <p:sp>
        <p:nvSpPr>
          <p:cNvPr id="38" name="Text 35"/>
          <p:cNvSpPr txBox="1"/>
          <p:nvPr/>
        </p:nvSpPr>
        <p:spPr>
          <a:xfrm>
            <a:off x="2004822" y="3849624"/>
            <a:ext cx="115443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4.74%</a:t>
            </a:r>
            <a:endParaRPr lang="en-US" sz="1100" dirty="0"/>
          </a:p>
        </p:txBody>
      </p:sp>
      <p:sp>
        <p:nvSpPr>
          <p:cNvPr id="39" name="Text 36"/>
          <p:cNvSpPr txBox="1"/>
          <p:nvPr/>
        </p:nvSpPr>
        <p:spPr>
          <a:xfrm>
            <a:off x="2004822" y="4087368"/>
            <a:ext cx="115443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Lopur</a:t>
            </a:r>
            <a:endParaRPr lang="en-US" sz="700" dirty="0"/>
          </a:p>
        </p:txBody>
      </p:sp>
      <p:sp>
        <p:nvSpPr>
          <p:cNvPr id="40" name="Shape 37"/>
          <p:cNvSpPr/>
          <p:nvPr/>
        </p:nvSpPr>
        <p:spPr>
          <a:xfrm>
            <a:off x="3296412" y="3803904"/>
            <a:ext cx="1300734" cy="530352"/>
          </a:xfrm>
          <a:prstGeom prst="roundRect">
            <a:avLst>
              <a:gd name="adj" fmla="val 8621"/>
            </a:avLst>
          </a:prstGeom>
          <a:solidFill>
            <a:srgbClr val="F47B20"/>
          </a:solidFill>
          <a:ln/>
        </p:spPr>
      </p:sp>
      <p:sp>
        <p:nvSpPr>
          <p:cNvPr id="41" name="Text 38"/>
          <p:cNvSpPr txBox="1"/>
          <p:nvPr/>
        </p:nvSpPr>
        <p:spPr>
          <a:xfrm>
            <a:off x="3369564" y="3849624"/>
            <a:ext cx="115443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3.31%</a:t>
            </a:r>
            <a:endParaRPr lang="en-US" sz="1100" dirty="0"/>
          </a:p>
        </p:txBody>
      </p:sp>
      <p:sp>
        <p:nvSpPr>
          <p:cNvPr id="42" name="Text 39"/>
          <p:cNvSpPr txBox="1"/>
          <p:nvPr/>
        </p:nvSpPr>
        <p:spPr>
          <a:xfrm>
            <a:off x="3369564" y="4087368"/>
            <a:ext cx="115443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Letea</a:t>
            </a:r>
            <a:endParaRPr lang="en-US" sz="700" dirty="0"/>
          </a:p>
        </p:txBody>
      </p:sp>
      <p:sp>
        <p:nvSpPr>
          <p:cNvPr id="43" name="Shape 40"/>
          <p:cNvSpPr/>
          <p:nvPr/>
        </p:nvSpPr>
        <p:spPr>
          <a:xfrm>
            <a:off x="4661154" y="3803904"/>
            <a:ext cx="1300734" cy="530352"/>
          </a:xfrm>
          <a:prstGeom prst="roundRect">
            <a:avLst>
              <a:gd name="adj" fmla="val 8621"/>
            </a:avLst>
          </a:prstGeom>
          <a:solidFill>
            <a:srgbClr val="A85410"/>
          </a:solidFill>
          <a:ln/>
        </p:spPr>
      </p:sp>
      <p:sp>
        <p:nvSpPr>
          <p:cNvPr id="44" name="Text 41"/>
          <p:cNvSpPr txBox="1"/>
          <p:nvPr/>
        </p:nvSpPr>
        <p:spPr>
          <a:xfrm>
            <a:off x="4734306" y="3849624"/>
            <a:ext cx="115443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0.87%</a:t>
            </a:r>
            <a:endParaRPr lang="en-US" sz="1100" dirty="0"/>
          </a:p>
        </p:txBody>
      </p:sp>
      <p:sp>
        <p:nvSpPr>
          <p:cNvPr id="45" name="Text 42"/>
          <p:cNvSpPr txBox="1"/>
          <p:nvPr/>
        </p:nvSpPr>
        <p:spPr>
          <a:xfrm>
            <a:off x="4734306" y="4087368"/>
            <a:ext cx="115443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Songot</a:t>
            </a:r>
            <a:endParaRPr lang="en-US" sz="700" dirty="0"/>
          </a:p>
        </p:txBody>
      </p:sp>
      <p:sp>
        <p:nvSpPr>
          <p:cNvPr id="46" name="Shape 43"/>
          <p:cNvSpPr/>
          <p:nvPr/>
        </p:nvSpPr>
        <p:spPr>
          <a:xfrm>
            <a:off x="566928" y="4398264"/>
            <a:ext cx="1300734" cy="530352"/>
          </a:xfrm>
          <a:prstGeom prst="roundRect">
            <a:avLst>
              <a:gd name="adj" fmla="val 8621"/>
            </a:avLst>
          </a:prstGeom>
          <a:solidFill>
            <a:srgbClr val="A85410"/>
          </a:solidFill>
          <a:ln/>
        </p:spPr>
      </p:sp>
      <p:sp>
        <p:nvSpPr>
          <p:cNvPr id="47" name="Text 44"/>
          <p:cNvSpPr txBox="1"/>
          <p:nvPr/>
        </p:nvSpPr>
        <p:spPr>
          <a:xfrm>
            <a:off x="640080" y="4443984"/>
            <a:ext cx="115443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0.98%</a:t>
            </a:r>
            <a:endParaRPr lang="en-US" sz="1100" dirty="0"/>
          </a:p>
        </p:txBody>
      </p:sp>
      <p:sp>
        <p:nvSpPr>
          <p:cNvPr id="48" name="Text 45"/>
          <p:cNvSpPr txBox="1"/>
          <p:nvPr/>
        </p:nvSpPr>
        <p:spPr>
          <a:xfrm>
            <a:off x="640080" y="4681728"/>
            <a:ext cx="115443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Kalobeyei</a:t>
            </a:r>
            <a:endParaRPr lang="en-US" sz="700" dirty="0"/>
          </a:p>
        </p:txBody>
      </p:sp>
      <p:sp>
        <p:nvSpPr>
          <p:cNvPr id="49" name="Shape 46"/>
          <p:cNvSpPr/>
          <p:nvPr/>
        </p:nvSpPr>
        <p:spPr>
          <a:xfrm>
            <a:off x="1931670" y="4398264"/>
            <a:ext cx="1300734" cy="530352"/>
          </a:xfrm>
          <a:prstGeom prst="roundRect">
            <a:avLst>
              <a:gd name="adj" fmla="val 8621"/>
            </a:avLst>
          </a:prstGeom>
          <a:solidFill>
            <a:srgbClr val="A85410"/>
          </a:solidFill>
          <a:ln/>
        </p:spPr>
      </p:sp>
      <p:sp>
        <p:nvSpPr>
          <p:cNvPr id="50" name="Text 47"/>
          <p:cNvSpPr txBox="1"/>
          <p:nvPr/>
        </p:nvSpPr>
        <p:spPr>
          <a:xfrm>
            <a:off x="2004822" y="4443984"/>
            <a:ext cx="115443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0.78%</a:t>
            </a:r>
            <a:endParaRPr lang="en-US" sz="1100" dirty="0"/>
          </a:p>
        </p:txBody>
      </p:sp>
      <p:sp>
        <p:nvSpPr>
          <p:cNvPr id="51" name="Text 48"/>
          <p:cNvSpPr txBox="1"/>
          <p:nvPr/>
        </p:nvSpPr>
        <p:spPr>
          <a:xfrm>
            <a:off x="2004822" y="4681728"/>
            <a:ext cx="115443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Lokichoggio</a:t>
            </a:r>
            <a:endParaRPr lang="en-US" sz="700" dirty="0"/>
          </a:p>
        </p:txBody>
      </p:sp>
      <p:sp>
        <p:nvSpPr>
          <p:cNvPr id="52" name="Shape 49"/>
          <p:cNvSpPr/>
          <p:nvPr/>
        </p:nvSpPr>
        <p:spPr>
          <a:xfrm>
            <a:off x="3296412" y="4398264"/>
            <a:ext cx="1300734" cy="530352"/>
          </a:xfrm>
          <a:prstGeom prst="roundRect">
            <a:avLst>
              <a:gd name="adj" fmla="val 8621"/>
            </a:avLst>
          </a:prstGeom>
          <a:solidFill>
            <a:srgbClr val="A85410"/>
          </a:solidFill>
          <a:ln/>
        </p:spPr>
      </p:sp>
      <p:sp>
        <p:nvSpPr>
          <p:cNvPr id="53" name="Text 50"/>
          <p:cNvSpPr txBox="1"/>
          <p:nvPr/>
        </p:nvSpPr>
        <p:spPr>
          <a:xfrm>
            <a:off x="3369564" y="4443984"/>
            <a:ext cx="115443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0.36%</a:t>
            </a:r>
            <a:endParaRPr lang="en-US" sz="1100" dirty="0"/>
          </a:p>
        </p:txBody>
      </p:sp>
      <p:sp>
        <p:nvSpPr>
          <p:cNvPr id="54" name="Text 51"/>
          <p:cNvSpPr txBox="1"/>
          <p:nvPr/>
        </p:nvSpPr>
        <p:spPr>
          <a:xfrm>
            <a:off x="3369564" y="4681728"/>
            <a:ext cx="115443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Nanaam</a:t>
            </a:r>
            <a:endParaRPr lang="en-US" sz="700" dirty="0"/>
          </a:p>
        </p:txBody>
      </p:sp>
      <p:sp>
        <p:nvSpPr>
          <p:cNvPr id="55" name="Text 52"/>
          <p:cNvSpPr txBox="1"/>
          <p:nvPr/>
        </p:nvSpPr>
        <p:spPr>
          <a:xfrm>
            <a:off x="6199632" y="3584448"/>
            <a:ext cx="5394960" cy="182880"/>
          </a:xfrm>
          <a:prstGeom prst="rect">
            <a:avLst/>
          </a:prstGeom>
          <a:noFill/>
          <a:ln/>
        </p:spPr>
        <p:txBody>
          <a:bodyPr wrap="square" lIns="0" tIns="0" rIns="0" bIns="0" rtlCol="0" anchor="ctr"/>
          <a:lstStyle/>
          <a:p>
            <a:pPr indent="0" marL="0">
              <a:buNone/>
            </a:pPr>
            <a:r>
              <a:rPr lang="en-US" sz="850" b="1" spc="150" kern="0" dirty="0">
                <a:solidFill>
                  <a:srgbClr val="D6DAA7"/>
                </a:solidFill>
                <a:latin typeface="Arial" pitchFamily="34" charset="0"/>
                <a:ea typeface="Arial" pitchFamily="34" charset="-122"/>
                <a:cs typeface="Arial" pitchFamily="34" charset="-120"/>
              </a:rPr>
              <a:t>TURKANA CENTRAL</a:t>
            </a:r>
            <a:endParaRPr lang="en-US" sz="850" dirty="0"/>
          </a:p>
        </p:txBody>
      </p:sp>
      <p:sp>
        <p:nvSpPr>
          <p:cNvPr id="56" name="Shape 53"/>
          <p:cNvSpPr/>
          <p:nvPr/>
        </p:nvSpPr>
        <p:spPr>
          <a:xfrm>
            <a:off x="6199632" y="3803904"/>
            <a:ext cx="1755648" cy="530352"/>
          </a:xfrm>
          <a:prstGeom prst="roundRect">
            <a:avLst>
              <a:gd name="adj" fmla="val 8621"/>
            </a:avLst>
          </a:prstGeom>
          <a:solidFill>
            <a:srgbClr val="A85410"/>
          </a:solidFill>
          <a:ln/>
        </p:spPr>
      </p:sp>
      <p:sp>
        <p:nvSpPr>
          <p:cNvPr id="57" name="Text 54"/>
          <p:cNvSpPr txBox="1"/>
          <p:nvPr/>
        </p:nvSpPr>
        <p:spPr>
          <a:xfrm>
            <a:off x="6272784" y="3849624"/>
            <a:ext cx="1609344"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0.30%</a:t>
            </a:r>
            <a:endParaRPr lang="en-US" sz="1100" dirty="0"/>
          </a:p>
        </p:txBody>
      </p:sp>
      <p:sp>
        <p:nvSpPr>
          <p:cNvPr id="58" name="Text 55"/>
          <p:cNvSpPr txBox="1"/>
          <p:nvPr/>
        </p:nvSpPr>
        <p:spPr>
          <a:xfrm>
            <a:off x="6272784" y="4087368"/>
            <a:ext cx="1609344"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Kerio Delta</a:t>
            </a:r>
            <a:endParaRPr lang="en-US" sz="700" dirty="0"/>
          </a:p>
        </p:txBody>
      </p:sp>
      <p:sp>
        <p:nvSpPr>
          <p:cNvPr id="59" name="Shape 56"/>
          <p:cNvSpPr/>
          <p:nvPr/>
        </p:nvSpPr>
        <p:spPr>
          <a:xfrm>
            <a:off x="8019288" y="3803904"/>
            <a:ext cx="1755648" cy="530352"/>
          </a:xfrm>
          <a:prstGeom prst="roundRect">
            <a:avLst>
              <a:gd name="adj" fmla="val 8621"/>
            </a:avLst>
          </a:prstGeom>
          <a:solidFill>
            <a:srgbClr val="F47B20"/>
          </a:solidFill>
          <a:ln/>
        </p:spPr>
      </p:sp>
      <p:sp>
        <p:nvSpPr>
          <p:cNvPr id="60" name="Text 57"/>
          <p:cNvSpPr txBox="1"/>
          <p:nvPr/>
        </p:nvSpPr>
        <p:spPr>
          <a:xfrm>
            <a:off x="8092440" y="3849624"/>
            <a:ext cx="1609344"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3.88%</a:t>
            </a:r>
            <a:endParaRPr lang="en-US" sz="1100" dirty="0"/>
          </a:p>
        </p:txBody>
      </p:sp>
      <p:sp>
        <p:nvSpPr>
          <p:cNvPr id="61" name="Text 58"/>
          <p:cNvSpPr txBox="1"/>
          <p:nvPr/>
        </p:nvSpPr>
        <p:spPr>
          <a:xfrm>
            <a:off x="8092440" y="4087368"/>
            <a:ext cx="1609344"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Kang'atotha</a:t>
            </a:r>
            <a:endParaRPr lang="en-US" sz="700" dirty="0"/>
          </a:p>
        </p:txBody>
      </p:sp>
      <p:sp>
        <p:nvSpPr>
          <p:cNvPr id="62" name="Shape 59"/>
          <p:cNvSpPr/>
          <p:nvPr/>
        </p:nvSpPr>
        <p:spPr>
          <a:xfrm>
            <a:off x="9838944" y="3803904"/>
            <a:ext cx="1755648" cy="530352"/>
          </a:xfrm>
          <a:prstGeom prst="roundRect">
            <a:avLst>
              <a:gd name="adj" fmla="val 8621"/>
            </a:avLst>
          </a:prstGeom>
          <a:solidFill>
            <a:srgbClr val="A85410"/>
          </a:solidFill>
          <a:ln/>
        </p:spPr>
      </p:sp>
      <p:sp>
        <p:nvSpPr>
          <p:cNvPr id="63" name="Text 60"/>
          <p:cNvSpPr txBox="1"/>
          <p:nvPr/>
        </p:nvSpPr>
        <p:spPr>
          <a:xfrm>
            <a:off x="9912096" y="3849624"/>
            <a:ext cx="1609344"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0.32%</a:t>
            </a:r>
            <a:endParaRPr lang="en-US" sz="1100" dirty="0"/>
          </a:p>
        </p:txBody>
      </p:sp>
      <p:sp>
        <p:nvSpPr>
          <p:cNvPr id="64" name="Text 61"/>
          <p:cNvSpPr txBox="1"/>
          <p:nvPr/>
        </p:nvSpPr>
        <p:spPr>
          <a:xfrm>
            <a:off x="9912096" y="4087368"/>
            <a:ext cx="1609344"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Kalokol</a:t>
            </a:r>
            <a:endParaRPr lang="en-US" sz="700" dirty="0"/>
          </a:p>
        </p:txBody>
      </p:sp>
      <p:sp>
        <p:nvSpPr>
          <p:cNvPr id="65" name="Shape 62"/>
          <p:cNvSpPr/>
          <p:nvPr/>
        </p:nvSpPr>
        <p:spPr>
          <a:xfrm>
            <a:off x="6199632" y="4398264"/>
            <a:ext cx="1755648" cy="530352"/>
          </a:xfrm>
          <a:prstGeom prst="roundRect">
            <a:avLst>
              <a:gd name="adj" fmla="val 8621"/>
            </a:avLst>
          </a:prstGeom>
          <a:solidFill>
            <a:srgbClr val="F47B20"/>
          </a:solidFill>
          <a:ln/>
        </p:spPr>
      </p:sp>
      <p:sp>
        <p:nvSpPr>
          <p:cNvPr id="66" name="Text 63"/>
          <p:cNvSpPr txBox="1"/>
          <p:nvPr/>
        </p:nvSpPr>
        <p:spPr>
          <a:xfrm>
            <a:off x="6272784" y="4443984"/>
            <a:ext cx="1609344"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3.55%</a:t>
            </a:r>
            <a:endParaRPr lang="en-US" sz="1100" dirty="0"/>
          </a:p>
        </p:txBody>
      </p:sp>
      <p:sp>
        <p:nvSpPr>
          <p:cNvPr id="67" name="Text 64"/>
          <p:cNvSpPr txBox="1"/>
          <p:nvPr/>
        </p:nvSpPr>
        <p:spPr>
          <a:xfrm>
            <a:off x="6272784" y="4681728"/>
            <a:ext cx="1609344"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Lodwar Twp</a:t>
            </a:r>
            <a:endParaRPr lang="en-US" sz="700" dirty="0"/>
          </a:p>
        </p:txBody>
      </p:sp>
      <p:sp>
        <p:nvSpPr>
          <p:cNvPr id="68" name="Shape 65"/>
          <p:cNvSpPr/>
          <p:nvPr/>
        </p:nvSpPr>
        <p:spPr>
          <a:xfrm>
            <a:off x="8019288" y="4398264"/>
            <a:ext cx="1755648" cy="530352"/>
          </a:xfrm>
          <a:prstGeom prst="roundRect">
            <a:avLst>
              <a:gd name="adj" fmla="val 8621"/>
            </a:avLst>
          </a:prstGeom>
          <a:solidFill>
            <a:srgbClr val="A85410"/>
          </a:solidFill>
          <a:ln/>
        </p:spPr>
      </p:sp>
      <p:sp>
        <p:nvSpPr>
          <p:cNvPr id="69" name="Text 66"/>
          <p:cNvSpPr txBox="1"/>
          <p:nvPr/>
        </p:nvSpPr>
        <p:spPr>
          <a:xfrm>
            <a:off x="8092440" y="4443984"/>
            <a:ext cx="1609344"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1.20%</a:t>
            </a:r>
            <a:endParaRPr lang="en-US" sz="1100" dirty="0"/>
          </a:p>
        </p:txBody>
      </p:sp>
      <p:sp>
        <p:nvSpPr>
          <p:cNvPr id="70" name="Text 67"/>
          <p:cNvSpPr txBox="1"/>
          <p:nvPr/>
        </p:nvSpPr>
        <p:spPr>
          <a:xfrm>
            <a:off x="8092440" y="4681728"/>
            <a:ext cx="1609344"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Kanamkemer</a:t>
            </a:r>
            <a:endParaRPr lang="en-US" sz="700" dirty="0"/>
          </a:p>
        </p:txBody>
      </p:sp>
      <p:sp>
        <p:nvSpPr>
          <p:cNvPr id="71" name="Text 68"/>
          <p:cNvSpPr txBox="1"/>
          <p:nvPr/>
        </p:nvSpPr>
        <p:spPr>
          <a:xfrm>
            <a:off x="566928" y="5074920"/>
            <a:ext cx="3517697" cy="182880"/>
          </a:xfrm>
          <a:prstGeom prst="rect">
            <a:avLst/>
          </a:prstGeom>
          <a:noFill/>
          <a:ln/>
        </p:spPr>
        <p:txBody>
          <a:bodyPr wrap="square" lIns="0" tIns="0" rIns="0" bIns="0" rtlCol="0" anchor="ctr"/>
          <a:lstStyle/>
          <a:p>
            <a:pPr indent="0" marL="0">
              <a:buNone/>
            </a:pPr>
            <a:r>
              <a:rPr lang="en-US" sz="850" b="1" spc="150" kern="0" dirty="0">
                <a:solidFill>
                  <a:srgbClr val="D6DAA7"/>
                </a:solidFill>
                <a:latin typeface="Arial" pitchFamily="34" charset="0"/>
                <a:ea typeface="Arial" pitchFamily="34" charset="-122"/>
                <a:cs typeface="Arial" pitchFamily="34" charset="-120"/>
              </a:rPr>
              <a:t>LOIMA</a:t>
            </a:r>
            <a:endParaRPr lang="en-US" sz="850" dirty="0"/>
          </a:p>
        </p:txBody>
      </p:sp>
      <p:sp>
        <p:nvSpPr>
          <p:cNvPr id="72" name="Shape 69"/>
          <p:cNvSpPr/>
          <p:nvPr/>
        </p:nvSpPr>
        <p:spPr>
          <a:xfrm>
            <a:off x="566928" y="5294376"/>
            <a:ext cx="1726844" cy="530352"/>
          </a:xfrm>
          <a:prstGeom prst="roundRect">
            <a:avLst>
              <a:gd name="adj" fmla="val 8621"/>
            </a:avLst>
          </a:prstGeom>
          <a:solidFill>
            <a:srgbClr val="F47B20"/>
          </a:solidFill>
          <a:ln/>
        </p:spPr>
      </p:sp>
      <p:sp>
        <p:nvSpPr>
          <p:cNvPr id="73" name="Text 70"/>
          <p:cNvSpPr txBox="1"/>
          <p:nvPr/>
        </p:nvSpPr>
        <p:spPr>
          <a:xfrm>
            <a:off x="640080" y="5340096"/>
            <a:ext cx="158054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3.80%</a:t>
            </a:r>
            <a:endParaRPr lang="en-US" sz="1100" dirty="0"/>
          </a:p>
        </p:txBody>
      </p:sp>
      <p:sp>
        <p:nvSpPr>
          <p:cNvPr id="74" name="Text 71"/>
          <p:cNvSpPr txBox="1"/>
          <p:nvPr/>
        </p:nvSpPr>
        <p:spPr>
          <a:xfrm>
            <a:off x="640080" y="5577840"/>
            <a:ext cx="158054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Kotaruk/Lobei</a:t>
            </a:r>
            <a:endParaRPr lang="en-US" sz="700" dirty="0"/>
          </a:p>
        </p:txBody>
      </p:sp>
      <p:sp>
        <p:nvSpPr>
          <p:cNvPr id="75" name="Shape 72"/>
          <p:cNvSpPr/>
          <p:nvPr/>
        </p:nvSpPr>
        <p:spPr>
          <a:xfrm>
            <a:off x="2357780" y="5294376"/>
            <a:ext cx="1726844" cy="530352"/>
          </a:xfrm>
          <a:prstGeom prst="roundRect">
            <a:avLst>
              <a:gd name="adj" fmla="val 8621"/>
            </a:avLst>
          </a:prstGeom>
          <a:solidFill>
            <a:srgbClr val="A85410"/>
          </a:solidFill>
          <a:ln/>
        </p:spPr>
      </p:sp>
      <p:sp>
        <p:nvSpPr>
          <p:cNvPr id="76" name="Text 73"/>
          <p:cNvSpPr txBox="1"/>
          <p:nvPr/>
        </p:nvSpPr>
        <p:spPr>
          <a:xfrm>
            <a:off x="2430932" y="5340096"/>
            <a:ext cx="158054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2.09%</a:t>
            </a:r>
            <a:endParaRPr lang="en-US" sz="1100" dirty="0"/>
          </a:p>
        </p:txBody>
      </p:sp>
      <p:sp>
        <p:nvSpPr>
          <p:cNvPr id="77" name="Text 74"/>
          <p:cNvSpPr txBox="1"/>
          <p:nvPr/>
        </p:nvSpPr>
        <p:spPr>
          <a:xfrm>
            <a:off x="2430932" y="5577840"/>
            <a:ext cx="158054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Turkwel</a:t>
            </a:r>
            <a:endParaRPr lang="en-US" sz="700" dirty="0"/>
          </a:p>
        </p:txBody>
      </p:sp>
      <p:sp>
        <p:nvSpPr>
          <p:cNvPr id="78" name="Shape 75"/>
          <p:cNvSpPr/>
          <p:nvPr/>
        </p:nvSpPr>
        <p:spPr>
          <a:xfrm>
            <a:off x="566928" y="5888736"/>
            <a:ext cx="1726844" cy="530352"/>
          </a:xfrm>
          <a:prstGeom prst="roundRect">
            <a:avLst>
              <a:gd name="adj" fmla="val 8621"/>
            </a:avLst>
          </a:prstGeom>
          <a:solidFill>
            <a:srgbClr val="A85410"/>
          </a:solidFill>
          <a:ln/>
        </p:spPr>
      </p:sp>
      <p:sp>
        <p:nvSpPr>
          <p:cNvPr id="79" name="Text 76"/>
          <p:cNvSpPr txBox="1"/>
          <p:nvPr/>
        </p:nvSpPr>
        <p:spPr>
          <a:xfrm>
            <a:off x="640080" y="5934456"/>
            <a:ext cx="158054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0.23%</a:t>
            </a:r>
            <a:endParaRPr lang="en-US" sz="1100" dirty="0"/>
          </a:p>
        </p:txBody>
      </p:sp>
      <p:sp>
        <p:nvSpPr>
          <p:cNvPr id="80" name="Text 77"/>
          <p:cNvSpPr txBox="1"/>
          <p:nvPr/>
        </p:nvSpPr>
        <p:spPr>
          <a:xfrm>
            <a:off x="640080" y="6172200"/>
            <a:ext cx="158054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Loima</a:t>
            </a:r>
            <a:endParaRPr lang="en-US" sz="700" dirty="0"/>
          </a:p>
        </p:txBody>
      </p:sp>
      <p:sp>
        <p:nvSpPr>
          <p:cNvPr id="81" name="Shape 78"/>
          <p:cNvSpPr/>
          <p:nvPr/>
        </p:nvSpPr>
        <p:spPr>
          <a:xfrm>
            <a:off x="2357780" y="5888736"/>
            <a:ext cx="1726844" cy="530352"/>
          </a:xfrm>
          <a:prstGeom prst="roundRect">
            <a:avLst>
              <a:gd name="adj" fmla="val 8621"/>
            </a:avLst>
          </a:prstGeom>
          <a:solidFill>
            <a:srgbClr val="F47B20"/>
          </a:solidFill>
          <a:ln/>
        </p:spPr>
      </p:sp>
      <p:sp>
        <p:nvSpPr>
          <p:cNvPr id="82" name="Text 79"/>
          <p:cNvSpPr txBox="1"/>
          <p:nvPr/>
        </p:nvSpPr>
        <p:spPr>
          <a:xfrm>
            <a:off x="2430932" y="5934456"/>
            <a:ext cx="158054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5.25%</a:t>
            </a:r>
            <a:endParaRPr lang="en-US" sz="1100" dirty="0"/>
          </a:p>
        </p:txBody>
      </p:sp>
      <p:sp>
        <p:nvSpPr>
          <p:cNvPr id="83" name="Text 80"/>
          <p:cNvSpPr txBox="1"/>
          <p:nvPr/>
        </p:nvSpPr>
        <p:spPr>
          <a:xfrm>
            <a:off x="2430932" y="6172200"/>
            <a:ext cx="158054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Lokiriama</a:t>
            </a:r>
            <a:endParaRPr lang="en-US" sz="700" dirty="0"/>
          </a:p>
        </p:txBody>
      </p:sp>
      <p:sp>
        <p:nvSpPr>
          <p:cNvPr id="84" name="Text 81"/>
          <p:cNvSpPr txBox="1"/>
          <p:nvPr/>
        </p:nvSpPr>
        <p:spPr>
          <a:xfrm>
            <a:off x="4322369" y="5074920"/>
            <a:ext cx="3517697" cy="182880"/>
          </a:xfrm>
          <a:prstGeom prst="rect">
            <a:avLst/>
          </a:prstGeom>
          <a:noFill/>
          <a:ln/>
        </p:spPr>
        <p:txBody>
          <a:bodyPr wrap="square" lIns="0" tIns="0" rIns="0" bIns="0" rtlCol="0" anchor="ctr"/>
          <a:lstStyle/>
          <a:p>
            <a:pPr indent="0" marL="0">
              <a:buNone/>
            </a:pPr>
            <a:r>
              <a:rPr lang="en-US" sz="850" b="1" spc="150" kern="0" dirty="0">
                <a:solidFill>
                  <a:srgbClr val="D6DAA7"/>
                </a:solidFill>
                <a:latin typeface="Arial" pitchFamily="34" charset="0"/>
                <a:ea typeface="Arial" pitchFamily="34" charset="-122"/>
                <a:cs typeface="Arial" pitchFamily="34" charset="-120"/>
              </a:rPr>
              <a:t>TURKANA SOUTH</a:t>
            </a:r>
            <a:endParaRPr lang="en-US" sz="850" dirty="0"/>
          </a:p>
        </p:txBody>
      </p:sp>
      <p:sp>
        <p:nvSpPr>
          <p:cNvPr id="85" name="Shape 82"/>
          <p:cNvSpPr/>
          <p:nvPr/>
        </p:nvSpPr>
        <p:spPr>
          <a:xfrm>
            <a:off x="4322369" y="5294376"/>
            <a:ext cx="1129894" cy="530352"/>
          </a:xfrm>
          <a:prstGeom prst="roundRect">
            <a:avLst>
              <a:gd name="adj" fmla="val 8621"/>
            </a:avLst>
          </a:prstGeom>
          <a:solidFill>
            <a:srgbClr val="F47B20"/>
          </a:solidFill>
          <a:ln/>
        </p:spPr>
      </p:sp>
      <p:sp>
        <p:nvSpPr>
          <p:cNvPr id="86" name="Text 83"/>
          <p:cNvSpPr txBox="1"/>
          <p:nvPr/>
        </p:nvSpPr>
        <p:spPr>
          <a:xfrm>
            <a:off x="4395521" y="5340096"/>
            <a:ext cx="98359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3.74%</a:t>
            </a:r>
            <a:endParaRPr lang="en-US" sz="1100" dirty="0"/>
          </a:p>
        </p:txBody>
      </p:sp>
      <p:sp>
        <p:nvSpPr>
          <p:cNvPr id="87" name="Text 84"/>
          <p:cNvSpPr txBox="1"/>
          <p:nvPr/>
        </p:nvSpPr>
        <p:spPr>
          <a:xfrm>
            <a:off x="4395521" y="5577840"/>
            <a:ext cx="98359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Kaputir</a:t>
            </a:r>
            <a:endParaRPr lang="en-US" sz="700" dirty="0"/>
          </a:p>
        </p:txBody>
      </p:sp>
      <p:sp>
        <p:nvSpPr>
          <p:cNvPr id="88" name="Shape 85"/>
          <p:cNvSpPr/>
          <p:nvPr/>
        </p:nvSpPr>
        <p:spPr>
          <a:xfrm>
            <a:off x="5516270" y="5294376"/>
            <a:ext cx="1129894" cy="530352"/>
          </a:xfrm>
          <a:prstGeom prst="roundRect">
            <a:avLst>
              <a:gd name="adj" fmla="val 8621"/>
            </a:avLst>
          </a:prstGeom>
          <a:solidFill>
            <a:srgbClr val="F47B20"/>
          </a:solidFill>
          <a:ln/>
        </p:spPr>
      </p:sp>
      <p:sp>
        <p:nvSpPr>
          <p:cNvPr id="89" name="Text 86"/>
          <p:cNvSpPr txBox="1"/>
          <p:nvPr/>
        </p:nvSpPr>
        <p:spPr>
          <a:xfrm>
            <a:off x="5589422" y="5340096"/>
            <a:ext cx="98359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3.80%</a:t>
            </a:r>
            <a:endParaRPr lang="en-US" sz="1100" dirty="0"/>
          </a:p>
        </p:txBody>
      </p:sp>
      <p:sp>
        <p:nvSpPr>
          <p:cNvPr id="90" name="Text 87"/>
          <p:cNvSpPr txBox="1"/>
          <p:nvPr/>
        </p:nvSpPr>
        <p:spPr>
          <a:xfrm>
            <a:off x="5589422" y="5577840"/>
            <a:ext cx="98359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Katilu</a:t>
            </a:r>
            <a:endParaRPr lang="en-US" sz="700" dirty="0"/>
          </a:p>
        </p:txBody>
      </p:sp>
      <p:sp>
        <p:nvSpPr>
          <p:cNvPr id="91" name="Shape 88"/>
          <p:cNvSpPr/>
          <p:nvPr/>
        </p:nvSpPr>
        <p:spPr>
          <a:xfrm>
            <a:off x="6710172" y="5294376"/>
            <a:ext cx="1129894" cy="530352"/>
          </a:xfrm>
          <a:prstGeom prst="roundRect">
            <a:avLst>
              <a:gd name="adj" fmla="val 8621"/>
            </a:avLst>
          </a:prstGeom>
          <a:solidFill>
            <a:srgbClr val="A85410"/>
          </a:solidFill>
          <a:ln/>
        </p:spPr>
      </p:sp>
      <p:sp>
        <p:nvSpPr>
          <p:cNvPr id="92" name="Text 89"/>
          <p:cNvSpPr txBox="1"/>
          <p:nvPr/>
        </p:nvSpPr>
        <p:spPr>
          <a:xfrm>
            <a:off x="6783324" y="5340096"/>
            <a:ext cx="98359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0.52%</a:t>
            </a:r>
            <a:endParaRPr lang="en-US" sz="1100" dirty="0"/>
          </a:p>
        </p:txBody>
      </p:sp>
      <p:sp>
        <p:nvSpPr>
          <p:cNvPr id="93" name="Text 90"/>
          <p:cNvSpPr txBox="1"/>
          <p:nvPr/>
        </p:nvSpPr>
        <p:spPr>
          <a:xfrm>
            <a:off x="6783324" y="5577840"/>
            <a:ext cx="98359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Lobokat</a:t>
            </a:r>
            <a:endParaRPr lang="en-US" sz="700" dirty="0"/>
          </a:p>
        </p:txBody>
      </p:sp>
      <p:sp>
        <p:nvSpPr>
          <p:cNvPr id="94" name="Shape 91"/>
          <p:cNvSpPr/>
          <p:nvPr/>
        </p:nvSpPr>
        <p:spPr>
          <a:xfrm>
            <a:off x="4322369" y="5888736"/>
            <a:ext cx="1129894" cy="530352"/>
          </a:xfrm>
          <a:prstGeom prst="roundRect">
            <a:avLst>
              <a:gd name="adj" fmla="val 8621"/>
            </a:avLst>
          </a:prstGeom>
          <a:solidFill>
            <a:srgbClr val="A85410"/>
          </a:solidFill>
          <a:ln/>
        </p:spPr>
      </p:sp>
      <p:sp>
        <p:nvSpPr>
          <p:cNvPr id="95" name="Text 92"/>
          <p:cNvSpPr txBox="1"/>
          <p:nvPr/>
        </p:nvSpPr>
        <p:spPr>
          <a:xfrm>
            <a:off x="4395521" y="5934456"/>
            <a:ext cx="98359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0.37%</a:t>
            </a:r>
            <a:endParaRPr lang="en-US" sz="1100" dirty="0"/>
          </a:p>
        </p:txBody>
      </p:sp>
      <p:sp>
        <p:nvSpPr>
          <p:cNvPr id="96" name="Text 93"/>
          <p:cNvSpPr txBox="1"/>
          <p:nvPr/>
        </p:nvSpPr>
        <p:spPr>
          <a:xfrm>
            <a:off x="4395521" y="6172200"/>
            <a:ext cx="98359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Kalapata</a:t>
            </a:r>
            <a:endParaRPr lang="en-US" sz="700" dirty="0"/>
          </a:p>
        </p:txBody>
      </p:sp>
      <p:sp>
        <p:nvSpPr>
          <p:cNvPr id="97" name="Shape 94"/>
          <p:cNvSpPr/>
          <p:nvPr/>
        </p:nvSpPr>
        <p:spPr>
          <a:xfrm>
            <a:off x="5516270" y="5888736"/>
            <a:ext cx="1129894" cy="530352"/>
          </a:xfrm>
          <a:prstGeom prst="roundRect">
            <a:avLst>
              <a:gd name="adj" fmla="val 8621"/>
            </a:avLst>
          </a:prstGeom>
          <a:solidFill>
            <a:srgbClr val="A85410"/>
          </a:solidFill>
          <a:ln/>
        </p:spPr>
      </p:sp>
      <p:sp>
        <p:nvSpPr>
          <p:cNvPr id="98" name="Text 95"/>
          <p:cNvSpPr txBox="1"/>
          <p:nvPr/>
        </p:nvSpPr>
        <p:spPr>
          <a:xfrm>
            <a:off x="5589422" y="5934456"/>
            <a:ext cx="98359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0.96%</a:t>
            </a:r>
            <a:endParaRPr lang="en-US" sz="1100" dirty="0"/>
          </a:p>
        </p:txBody>
      </p:sp>
      <p:sp>
        <p:nvSpPr>
          <p:cNvPr id="99" name="Text 96"/>
          <p:cNvSpPr txBox="1"/>
          <p:nvPr/>
        </p:nvSpPr>
        <p:spPr>
          <a:xfrm>
            <a:off x="5589422" y="6172200"/>
            <a:ext cx="98359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Lokichar</a:t>
            </a:r>
            <a:endParaRPr lang="en-US" sz="700" dirty="0"/>
          </a:p>
        </p:txBody>
      </p:sp>
      <p:sp>
        <p:nvSpPr>
          <p:cNvPr id="100" name="Text 97"/>
          <p:cNvSpPr txBox="1"/>
          <p:nvPr/>
        </p:nvSpPr>
        <p:spPr>
          <a:xfrm>
            <a:off x="8077810" y="5074920"/>
            <a:ext cx="3517697" cy="182880"/>
          </a:xfrm>
          <a:prstGeom prst="rect">
            <a:avLst/>
          </a:prstGeom>
          <a:noFill/>
          <a:ln/>
        </p:spPr>
        <p:txBody>
          <a:bodyPr wrap="square" lIns="0" tIns="0" rIns="0" bIns="0" rtlCol="0" anchor="ctr"/>
          <a:lstStyle/>
          <a:p>
            <a:pPr indent="0" marL="0">
              <a:buNone/>
            </a:pPr>
            <a:r>
              <a:rPr lang="en-US" sz="850" b="1" spc="150" kern="0" dirty="0">
                <a:solidFill>
                  <a:srgbClr val="D6DAA7"/>
                </a:solidFill>
                <a:latin typeface="Arial" pitchFamily="34" charset="0"/>
                <a:ea typeface="Arial" pitchFamily="34" charset="-122"/>
                <a:cs typeface="Arial" pitchFamily="34" charset="-120"/>
              </a:rPr>
              <a:t>TURKANA EAST</a:t>
            </a:r>
            <a:endParaRPr lang="en-US" sz="850" dirty="0"/>
          </a:p>
        </p:txBody>
      </p:sp>
      <p:sp>
        <p:nvSpPr>
          <p:cNvPr id="101" name="Shape 98"/>
          <p:cNvSpPr/>
          <p:nvPr/>
        </p:nvSpPr>
        <p:spPr>
          <a:xfrm>
            <a:off x="8077810" y="5294376"/>
            <a:ext cx="1726844" cy="530352"/>
          </a:xfrm>
          <a:prstGeom prst="roundRect">
            <a:avLst>
              <a:gd name="adj" fmla="val 8621"/>
            </a:avLst>
          </a:prstGeom>
          <a:solidFill>
            <a:srgbClr val="A85410"/>
          </a:solidFill>
          <a:ln/>
        </p:spPr>
      </p:sp>
      <p:sp>
        <p:nvSpPr>
          <p:cNvPr id="102" name="Text 99"/>
          <p:cNvSpPr txBox="1"/>
          <p:nvPr/>
        </p:nvSpPr>
        <p:spPr>
          <a:xfrm>
            <a:off x="8150962" y="5340096"/>
            <a:ext cx="158054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0.56%</a:t>
            </a:r>
            <a:endParaRPr lang="en-US" sz="1100" dirty="0"/>
          </a:p>
        </p:txBody>
      </p:sp>
      <p:sp>
        <p:nvSpPr>
          <p:cNvPr id="103" name="Text 100"/>
          <p:cNvSpPr txBox="1"/>
          <p:nvPr/>
        </p:nvSpPr>
        <p:spPr>
          <a:xfrm>
            <a:off x="8150962" y="5577840"/>
            <a:ext cx="158054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Kapedo</a:t>
            </a:r>
            <a:endParaRPr lang="en-US" sz="700" dirty="0"/>
          </a:p>
        </p:txBody>
      </p:sp>
      <p:sp>
        <p:nvSpPr>
          <p:cNvPr id="104" name="Shape 101"/>
          <p:cNvSpPr/>
          <p:nvPr/>
        </p:nvSpPr>
        <p:spPr>
          <a:xfrm>
            <a:off x="9868662" y="5294376"/>
            <a:ext cx="1726844" cy="530352"/>
          </a:xfrm>
          <a:prstGeom prst="roundRect">
            <a:avLst>
              <a:gd name="adj" fmla="val 8621"/>
            </a:avLst>
          </a:prstGeom>
          <a:solidFill>
            <a:srgbClr val="F47B20"/>
          </a:solidFill>
          <a:ln/>
        </p:spPr>
      </p:sp>
      <p:sp>
        <p:nvSpPr>
          <p:cNvPr id="105" name="Text 102"/>
          <p:cNvSpPr txBox="1"/>
          <p:nvPr/>
        </p:nvSpPr>
        <p:spPr>
          <a:xfrm>
            <a:off x="9941814" y="5340096"/>
            <a:ext cx="1580540" cy="237744"/>
          </a:xfrm>
          <a:prstGeom prst="rect">
            <a:avLst/>
          </a:prstGeom>
          <a:noFill/>
          <a:ln/>
        </p:spPr>
        <p:txBody>
          <a:bodyPr wrap="square" lIns="0" tIns="0" rIns="0" bIns="0" rtlCol="0" anchor="ctr"/>
          <a:lstStyle/>
          <a:p>
            <a:pPr indent="0" marL="0">
              <a:buNone/>
            </a:pPr>
            <a:r>
              <a:rPr lang="en-US" sz="1100" b="1" dirty="0">
                <a:solidFill>
                  <a:srgbClr val="1B2E12"/>
                </a:solidFill>
                <a:latin typeface="Arial" pitchFamily="34" charset="0"/>
                <a:ea typeface="Arial" pitchFamily="34" charset="-122"/>
                <a:cs typeface="Arial" pitchFamily="34" charset="-120"/>
              </a:rPr>
              <a:t>4.55%</a:t>
            </a:r>
            <a:endParaRPr lang="en-US" sz="1100" dirty="0"/>
          </a:p>
        </p:txBody>
      </p:sp>
      <p:sp>
        <p:nvSpPr>
          <p:cNvPr id="106" name="Text 103"/>
          <p:cNvSpPr txBox="1"/>
          <p:nvPr/>
        </p:nvSpPr>
        <p:spPr>
          <a:xfrm>
            <a:off x="9941814" y="5577840"/>
            <a:ext cx="1580540" cy="219456"/>
          </a:xfrm>
          <a:prstGeom prst="rect">
            <a:avLst/>
          </a:prstGeom>
          <a:noFill/>
          <a:ln/>
        </p:spPr>
        <p:txBody>
          <a:bodyPr wrap="square" lIns="0" tIns="0" rIns="0" bIns="0" rtlCol="0" anchor="ctr"/>
          <a:lstStyle/>
          <a:p>
            <a:pPr indent="0" marL="0">
              <a:buNone/>
            </a:pPr>
            <a:r>
              <a:rPr lang="en-US" sz="700" b="1" dirty="0">
                <a:solidFill>
                  <a:srgbClr val="1B2E12"/>
                </a:solidFill>
                <a:latin typeface="Arial" pitchFamily="34" charset="0"/>
                <a:ea typeface="Arial" pitchFamily="34" charset="-122"/>
                <a:cs typeface="Arial" pitchFamily="34" charset="-120"/>
              </a:rPr>
              <a:t>Katilia</a:t>
            </a:r>
            <a:endParaRPr lang="en-US" sz="700" dirty="0"/>
          </a:p>
        </p:txBody>
      </p:sp>
      <p:sp>
        <p:nvSpPr>
          <p:cNvPr id="107" name="Shape 104"/>
          <p:cNvSpPr/>
          <p:nvPr/>
        </p:nvSpPr>
        <p:spPr>
          <a:xfrm>
            <a:off x="8077810" y="5888736"/>
            <a:ext cx="1726844" cy="530352"/>
          </a:xfrm>
          <a:prstGeom prst="roundRect">
            <a:avLst>
              <a:gd name="adj" fmla="val 8621"/>
            </a:avLst>
          </a:prstGeom>
          <a:solidFill>
            <a:srgbClr val="A85410"/>
          </a:solidFill>
          <a:ln/>
        </p:spPr>
      </p:sp>
      <p:sp>
        <p:nvSpPr>
          <p:cNvPr id="108" name="Text 105"/>
          <p:cNvSpPr txBox="1"/>
          <p:nvPr/>
        </p:nvSpPr>
        <p:spPr>
          <a:xfrm>
            <a:off x="8150962" y="5934456"/>
            <a:ext cx="1580540" cy="237744"/>
          </a:xfrm>
          <a:prstGeom prst="rect">
            <a:avLst/>
          </a:prstGeom>
          <a:noFill/>
          <a:ln/>
        </p:spPr>
        <p:txBody>
          <a:bodyPr wrap="square" lIns="0" tIns="0" rIns="0" bIns="0" rtlCol="0" anchor="ctr"/>
          <a:lstStyle/>
          <a:p>
            <a:pPr indent="0" marL="0">
              <a:buNone/>
            </a:pPr>
            <a:r>
              <a:rPr lang="en-US" sz="1100" b="1" dirty="0">
                <a:solidFill>
                  <a:srgbClr val="F4F2EE"/>
                </a:solidFill>
                <a:latin typeface="Arial" pitchFamily="34" charset="0"/>
                <a:ea typeface="Arial" pitchFamily="34" charset="-122"/>
                <a:cs typeface="Arial" pitchFamily="34" charset="-120"/>
              </a:rPr>
              <a:t>1.38%</a:t>
            </a:r>
            <a:endParaRPr lang="en-US" sz="1100" dirty="0"/>
          </a:p>
        </p:txBody>
      </p:sp>
      <p:sp>
        <p:nvSpPr>
          <p:cNvPr id="109" name="Text 106"/>
          <p:cNvSpPr txBox="1"/>
          <p:nvPr/>
        </p:nvSpPr>
        <p:spPr>
          <a:xfrm>
            <a:off x="8150962" y="6172200"/>
            <a:ext cx="1580540" cy="219456"/>
          </a:xfrm>
          <a:prstGeom prst="rect">
            <a:avLst/>
          </a:prstGeom>
          <a:noFill/>
          <a:ln/>
        </p:spPr>
        <p:txBody>
          <a:bodyPr wrap="square" lIns="0" tIns="0" rIns="0" bIns="0" rtlCol="0" anchor="ctr"/>
          <a:lstStyle/>
          <a:p>
            <a:pPr indent="0" marL="0">
              <a:buNone/>
            </a:pPr>
            <a:r>
              <a:rPr lang="en-US" sz="700" b="1" dirty="0">
                <a:solidFill>
                  <a:srgbClr val="F4F2EE"/>
                </a:solidFill>
                <a:latin typeface="Arial" pitchFamily="34" charset="0"/>
                <a:ea typeface="Arial" pitchFamily="34" charset="-122"/>
                <a:cs typeface="Arial" pitchFamily="34" charset="-120"/>
              </a:rPr>
              <a:t>Lokori</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05  ·  REACHING ALL OF TURKANA</a:t>
            </a:r>
            <a:endParaRPr lang="en-US" sz="1100" dirty="0"/>
          </a:p>
        </p:txBody>
      </p:sp>
      <p:sp>
        <p:nvSpPr>
          <p:cNvPr id="5" name="Text 2"/>
          <p:cNvSpPr txBox="1"/>
          <p:nvPr/>
        </p:nvSpPr>
        <p:spPr>
          <a:xfrm>
            <a:off x="566928" y="1024128"/>
            <a:ext cx="52120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Two levers.</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Be honest about both.</a:t>
            </a:r>
            <a:endParaRPr lang="en-US" sz="3400" dirty="0"/>
          </a:p>
        </p:txBody>
      </p:sp>
      <p:sp>
        <p:nvSpPr>
          <p:cNvPr id="6" name="Text 3"/>
          <p:cNvSpPr txBox="1"/>
          <p:nvPr/>
        </p:nvSpPr>
        <p:spPr>
          <a:xfrm>
            <a:off x="566928" y="2286000"/>
            <a:ext cx="5029200" cy="1371600"/>
          </a:xfrm>
          <a:prstGeom prst="rect">
            <a:avLst/>
          </a:prstGeom>
          <a:noFill/>
          <a:ln/>
        </p:spPr>
        <p:txBody>
          <a:bodyPr wrap="square" lIns="0" tIns="0" rIns="0" bIns="0" rtlCol="0" anchor="t"/>
          <a:lstStyle/>
          <a:p>
            <a:pPr indent="0" marL="0">
              <a:lnSpc>
                <a:spcPts val="2025"/>
              </a:lnSpc>
              <a:buNone/>
            </a:pPr>
            <a:r>
              <a:rPr lang="en-US" sz="1350" dirty="0">
                <a:solidFill>
                  <a:srgbClr val="B5C9BA"/>
                </a:solidFill>
                <a:latin typeface="Arial" pitchFamily="34" charset="0"/>
                <a:ea typeface="Arial" pitchFamily="34" charset="-122"/>
                <a:cs typeface="Arial" pitchFamily="34" charset="-120"/>
              </a:rPr>
              <a:t>Reach 60,000 people a month online and 1,056 sign up. Take the same 60,000 through barazas, agents and USSD and 5,811 sign up. That is five times better, because somebody is standing there. Ground work costs fuel and days though. Online is cheap. Ground converts. We need both.</a:t>
            </a:r>
            <a:endParaRPr lang="en-US" sz="1350" dirty="0"/>
          </a:p>
        </p:txBody>
      </p:sp>
      <p:sp>
        <p:nvSpPr>
          <p:cNvPr id="7" name="Shape 4"/>
          <p:cNvSpPr/>
          <p:nvPr/>
        </p:nvSpPr>
        <p:spPr>
          <a:xfrm>
            <a:off x="566928" y="4407408"/>
            <a:ext cx="5029200" cy="1463040"/>
          </a:xfrm>
          <a:prstGeom prst="roundRect">
            <a:avLst>
              <a:gd name="adj" fmla="val 1875"/>
            </a:avLst>
          </a:prstGeom>
          <a:solidFill>
            <a:srgbClr val="013322"/>
          </a:solidFill>
          <a:ln w="12700">
            <a:solidFill>
              <a:srgbClr val="F47B20"/>
            </a:solidFill>
            <a:prstDash val="solid"/>
          </a:ln>
        </p:spPr>
      </p:sp>
      <p:sp>
        <p:nvSpPr>
          <p:cNvPr id="8" name="Shape 5"/>
          <p:cNvSpPr/>
          <p:nvPr/>
        </p:nvSpPr>
        <p:spPr>
          <a:xfrm>
            <a:off x="859536" y="4645152"/>
            <a:ext cx="137160" cy="137160"/>
          </a:xfrm>
          <a:prstGeom prst="diamond">
            <a:avLst/>
          </a:prstGeom>
          <a:solidFill>
            <a:srgbClr val="FFB066"/>
          </a:solidFill>
          <a:ln/>
        </p:spPr>
      </p:sp>
      <p:sp>
        <p:nvSpPr>
          <p:cNvPr id="9" name="Text 6"/>
          <p:cNvSpPr txBox="1"/>
          <p:nvPr/>
        </p:nvSpPr>
        <p:spPr>
          <a:xfrm>
            <a:off x="1133856" y="4572000"/>
            <a:ext cx="4206240" cy="310896"/>
          </a:xfrm>
          <a:prstGeom prst="rect">
            <a:avLst/>
          </a:prstGeom>
          <a:noFill/>
          <a:ln/>
        </p:spPr>
        <p:txBody>
          <a:bodyPr wrap="square" lIns="0" tIns="0" rIns="0" bIns="0" rtlCol="0" anchor="ctr"/>
          <a:lstStyle/>
          <a:p>
            <a:pPr indent="0" marL="0">
              <a:buNone/>
            </a:pPr>
            <a:r>
              <a:rPr lang="en-US" sz="1450" b="1" dirty="0">
                <a:solidFill>
                  <a:srgbClr val="FFB066"/>
                </a:solidFill>
                <a:latin typeface="Arial" pitchFamily="34" charset="0"/>
                <a:ea typeface="Arial" pitchFamily="34" charset="-122"/>
                <a:cs typeface="Arial" pitchFamily="34" charset="-120"/>
              </a:rPr>
              <a:t>Online alone never reaches the north.</a:t>
            </a:r>
            <a:endParaRPr lang="en-US" sz="1450" dirty="0"/>
          </a:p>
        </p:txBody>
      </p:sp>
      <p:sp>
        <p:nvSpPr>
          <p:cNvPr id="10" name="Text 7"/>
          <p:cNvSpPr txBox="1"/>
          <p:nvPr/>
        </p:nvSpPr>
        <p:spPr>
          <a:xfrm>
            <a:off x="1133856" y="4901184"/>
            <a:ext cx="4160520" cy="868680"/>
          </a:xfrm>
          <a:prstGeom prst="rect">
            <a:avLst/>
          </a:prstGeom>
          <a:noFill/>
          <a:ln/>
        </p:spPr>
        <p:txBody>
          <a:bodyPr wrap="square" lIns="0" tIns="0" rIns="0" bIns="0" rtlCol="0" anchor="ctr"/>
          <a:lstStyle/>
          <a:p>
            <a:pPr indent="0" marL="0">
              <a:lnSpc>
                <a:spcPts val="1600"/>
              </a:lnSpc>
              <a:buNone/>
            </a:pPr>
            <a:r>
              <a:rPr lang="en-US" sz="1150" dirty="0">
                <a:solidFill>
                  <a:srgbClr val="B5C9BA"/>
                </a:solidFill>
                <a:latin typeface="Arial" pitchFamily="34" charset="0"/>
                <a:ea typeface="Arial" pitchFamily="34" charset="-122"/>
                <a:cs typeface="Arial" pitchFamily="34" charset="-120"/>
              </a:rPr>
              <a:t>At 60,000 online only, all seven of the hardest wards stay cold. Six of Kibish's ten polling stations are a mobile unit or a water point. Those voters need USSD and a person.</a:t>
            </a:r>
            <a:endParaRPr lang="en-US" sz="1150" dirty="0"/>
          </a:p>
        </p:txBody>
      </p:sp>
      <p:graphicFrame>
        <p:nvGraphicFramePr>
          <p:cNvPr id="11" name="Chart 0" descr=""/>
          <p:cNvGraphicFramePr/>
          <p:nvPr/>
        </p:nvGraphicFramePr>
        <p:xfrm>
          <a:off x="5943600" y="1042416"/>
          <a:ext cx="5650992" cy="3200400"/>
        </p:xfrm>
        <a:graphic xmlns:a="http://schemas.openxmlformats.org/drawingml/2006/main">
          <a:graphicData uri="http://schemas.openxmlformats.org/drawingml/2006/chart">
            <c:chart xmlns:c="http://schemas.openxmlformats.org/drawingml/2006/chart" r:id="rId3"/>
          </a:graphicData>
        </a:graphic>
      </p:graphicFrame>
      <p:sp>
        <p:nvSpPr>
          <p:cNvPr id="12" name="Shape 8"/>
          <p:cNvSpPr/>
          <p:nvPr/>
        </p:nvSpPr>
        <p:spPr>
          <a:xfrm>
            <a:off x="5943600" y="4443984"/>
            <a:ext cx="1783080" cy="1389888"/>
          </a:xfrm>
          <a:prstGeom prst="roundRect">
            <a:avLst>
              <a:gd name="adj" fmla="val 1974"/>
            </a:avLst>
          </a:prstGeom>
          <a:solidFill>
            <a:srgbClr val="01412A"/>
          </a:solidFill>
          <a:ln w="9525">
            <a:solidFill>
              <a:srgbClr val="0A6E45"/>
            </a:solidFill>
            <a:prstDash val="solid"/>
          </a:ln>
        </p:spPr>
      </p:sp>
      <p:sp>
        <p:nvSpPr>
          <p:cNvPr id="13" name="Text 9"/>
          <p:cNvSpPr txBox="1"/>
          <p:nvPr/>
        </p:nvSpPr>
        <p:spPr>
          <a:xfrm>
            <a:off x="6126480" y="4608576"/>
            <a:ext cx="1463040" cy="402336"/>
          </a:xfrm>
          <a:prstGeom prst="rect">
            <a:avLst/>
          </a:prstGeom>
          <a:noFill/>
          <a:ln/>
        </p:spPr>
        <p:txBody>
          <a:bodyPr wrap="square" lIns="0" tIns="0" rIns="0" bIns="0" rtlCol="0" anchor="ctr"/>
          <a:lstStyle/>
          <a:p>
            <a:pPr indent="0" marL="0">
              <a:buNone/>
            </a:pPr>
            <a:r>
              <a:rPr lang="en-US" sz="1900" b="1" dirty="0">
                <a:solidFill>
                  <a:srgbClr val="A85410"/>
                </a:solidFill>
                <a:latin typeface="Arial" pitchFamily="34" charset="0"/>
                <a:ea typeface="Arial" pitchFamily="34" charset="-122"/>
                <a:cs typeface="Arial" pitchFamily="34" charset="-120"/>
              </a:rPr>
              <a:t>7 of 7</a:t>
            </a:r>
            <a:endParaRPr lang="en-US" sz="1900" dirty="0"/>
          </a:p>
        </p:txBody>
      </p:sp>
      <p:sp>
        <p:nvSpPr>
          <p:cNvPr id="14" name="Text 10"/>
          <p:cNvSpPr txBox="1"/>
          <p:nvPr/>
        </p:nvSpPr>
        <p:spPr>
          <a:xfrm>
            <a:off x="6126480" y="5029200"/>
            <a:ext cx="1463040" cy="640080"/>
          </a:xfrm>
          <a:prstGeom prst="rect">
            <a:avLst/>
          </a:prstGeom>
          <a:noFill/>
          <a:ln/>
        </p:spPr>
        <p:txBody>
          <a:bodyPr wrap="square" lIns="0" tIns="0" rIns="0" bIns="0" rtlCol="0" anchor="ctr"/>
          <a:lstStyle/>
          <a:p>
            <a:pPr indent="0" marL="0">
              <a:lnSpc>
                <a:spcPts val="1300"/>
              </a:lnSpc>
              <a:buNone/>
            </a:pPr>
            <a:r>
              <a:rPr lang="en-US" sz="1000" dirty="0">
                <a:solidFill>
                  <a:srgbClr val="B5C9BA"/>
                </a:solidFill>
                <a:latin typeface="Arial" pitchFamily="34" charset="0"/>
                <a:ea typeface="Arial" pitchFamily="34" charset="-122"/>
                <a:cs typeface="Arial" pitchFamily="34" charset="-120"/>
              </a:rPr>
              <a:t>hardest wards still cold</a:t>
            </a:r>
            <a:endParaRPr lang="en-US" sz="1000" dirty="0"/>
          </a:p>
        </p:txBody>
      </p:sp>
      <p:sp>
        <p:nvSpPr>
          <p:cNvPr id="15" name="Shape 11"/>
          <p:cNvSpPr/>
          <p:nvPr/>
        </p:nvSpPr>
        <p:spPr>
          <a:xfrm>
            <a:off x="7854696" y="4443984"/>
            <a:ext cx="1783080" cy="1389888"/>
          </a:xfrm>
          <a:prstGeom prst="roundRect">
            <a:avLst>
              <a:gd name="adj" fmla="val 1974"/>
            </a:avLst>
          </a:prstGeom>
          <a:solidFill>
            <a:srgbClr val="01412A"/>
          </a:solidFill>
          <a:ln w="9525">
            <a:solidFill>
              <a:srgbClr val="0A6E45"/>
            </a:solidFill>
            <a:prstDash val="solid"/>
          </a:ln>
        </p:spPr>
      </p:sp>
      <p:sp>
        <p:nvSpPr>
          <p:cNvPr id="16" name="Text 12"/>
          <p:cNvSpPr txBox="1"/>
          <p:nvPr/>
        </p:nvSpPr>
        <p:spPr>
          <a:xfrm>
            <a:off x="8037576" y="4608576"/>
            <a:ext cx="1463040" cy="402336"/>
          </a:xfrm>
          <a:prstGeom prst="rect">
            <a:avLst/>
          </a:prstGeom>
          <a:noFill/>
          <a:ln/>
        </p:spPr>
        <p:txBody>
          <a:bodyPr wrap="square" lIns="0" tIns="0" rIns="0" bIns="0" rtlCol="0" anchor="ctr"/>
          <a:lstStyle/>
          <a:p>
            <a:pPr indent="0" marL="0">
              <a:buNone/>
            </a:pPr>
            <a:r>
              <a:rPr lang="en-US" sz="1900" b="1" dirty="0">
                <a:solidFill>
                  <a:srgbClr val="F47B20"/>
                </a:solidFill>
                <a:latin typeface="Arial" pitchFamily="34" charset="0"/>
                <a:ea typeface="Arial" pitchFamily="34" charset="-122"/>
                <a:cs typeface="Arial" pitchFamily="34" charset="-120"/>
              </a:rPr>
              <a:t>6 of 7</a:t>
            </a:r>
            <a:endParaRPr lang="en-US" sz="1900" dirty="0"/>
          </a:p>
        </p:txBody>
      </p:sp>
      <p:sp>
        <p:nvSpPr>
          <p:cNvPr id="17" name="Text 13"/>
          <p:cNvSpPr txBox="1"/>
          <p:nvPr/>
        </p:nvSpPr>
        <p:spPr>
          <a:xfrm>
            <a:off x="8037576" y="5029200"/>
            <a:ext cx="1463040" cy="640080"/>
          </a:xfrm>
          <a:prstGeom prst="rect">
            <a:avLst/>
          </a:prstGeom>
          <a:noFill/>
          <a:ln/>
        </p:spPr>
        <p:txBody>
          <a:bodyPr wrap="square" lIns="0" tIns="0" rIns="0" bIns="0" rtlCol="0" anchor="ctr"/>
          <a:lstStyle/>
          <a:p>
            <a:pPr indent="0" marL="0">
              <a:lnSpc>
                <a:spcPts val="1300"/>
              </a:lnSpc>
              <a:buNone/>
            </a:pPr>
            <a:r>
              <a:rPr lang="en-US" sz="1000" dirty="0">
                <a:solidFill>
                  <a:srgbClr val="B5C9BA"/>
                </a:solidFill>
                <a:latin typeface="Arial" pitchFamily="34" charset="0"/>
                <a:ea typeface="Arial" pitchFamily="34" charset="-122"/>
                <a:cs typeface="Arial" pitchFamily="34" charset="-120"/>
              </a:rPr>
              <a:t>still cold</a:t>
            </a:r>
            <a:endParaRPr lang="en-US" sz="1000" dirty="0"/>
          </a:p>
        </p:txBody>
      </p:sp>
      <p:sp>
        <p:nvSpPr>
          <p:cNvPr id="18" name="Shape 14"/>
          <p:cNvSpPr/>
          <p:nvPr/>
        </p:nvSpPr>
        <p:spPr>
          <a:xfrm>
            <a:off x="9765792" y="4443984"/>
            <a:ext cx="1783080" cy="1389888"/>
          </a:xfrm>
          <a:prstGeom prst="roundRect">
            <a:avLst>
              <a:gd name="adj" fmla="val 1974"/>
            </a:avLst>
          </a:prstGeom>
          <a:solidFill>
            <a:srgbClr val="01412A"/>
          </a:solidFill>
          <a:ln w="9525">
            <a:solidFill>
              <a:srgbClr val="0A6E45"/>
            </a:solidFill>
            <a:prstDash val="solid"/>
          </a:ln>
        </p:spPr>
      </p:sp>
      <p:sp>
        <p:nvSpPr>
          <p:cNvPr id="19" name="Text 15"/>
          <p:cNvSpPr txBox="1"/>
          <p:nvPr/>
        </p:nvSpPr>
        <p:spPr>
          <a:xfrm>
            <a:off x="9948672" y="4608576"/>
            <a:ext cx="1463040" cy="402336"/>
          </a:xfrm>
          <a:prstGeom prst="rect">
            <a:avLst/>
          </a:prstGeom>
          <a:noFill/>
          <a:ln/>
        </p:spPr>
        <p:txBody>
          <a:bodyPr wrap="square" lIns="0" tIns="0" rIns="0" bIns="0" rtlCol="0" anchor="ctr"/>
          <a:lstStyle/>
          <a:p>
            <a:pPr indent="0" marL="0">
              <a:buNone/>
            </a:pPr>
            <a:r>
              <a:rPr lang="en-US" sz="1900" b="1" dirty="0">
                <a:solidFill>
                  <a:srgbClr val="FFC98A"/>
                </a:solidFill>
                <a:latin typeface="Arial" pitchFamily="34" charset="0"/>
                <a:ea typeface="Arial" pitchFamily="34" charset="-122"/>
                <a:cs typeface="Arial" pitchFamily="34" charset="-120"/>
              </a:rPr>
              <a:t>0 of 7</a:t>
            </a:r>
            <a:endParaRPr lang="en-US" sz="1900" dirty="0"/>
          </a:p>
        </p:txBody>
      </p:sp>
      <p:sp>
        <p:nvSpPr>
          <p:cNvPr id="20" name="Text 16"/>
          <p:cNvSpPr txBox="1"/>
          <p:nvPr/>
        </p:nvSpPr>
        <p:spPr>
          <a:xfrm>
            <a:off x="9948672" y="5029200"/>
            <a:ext cx="1463040" cy="640080"/>
          </a:xfrm>
          <a:prstGeom prst="rect">
            <a:avLst/>
          </a:prstGeom>
          <a:noFill/>
          <a:ln/>
        </p:spPr>
        <p:txBody>
          <a:bodyPr wrap="square" lIns="0" tIns="0" rIns="0" bIns="0" rtlCol="0" anchor="ctr"/>
          <a:lstStyle/>
          <a:p>
            <a:pPr indent="0" marL="0">
              <a:lnSpc>
                <a:spcPts val="1300"/>
              </a:lnSpc>
              <a:buNone/>
            </a:pPr>
            <a:r>
              <a:rPr lang="en-US" sz="1000" dirty="0">
                <a:solidFill>
                  <a:srgbClr val="B5C9BA"/>
                </a:solidFill>
                <a:latin typeface="Arial" pitchFamily="34" charset="0"/>
                <a:ea typeface="Arial" pitchFamily="34" charset="-122"/>
                <a:cs typeface="Arial" pitchFamily="34" charset="-120"/>
              </a:rPr>
              <a:t>every one reached</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THE NEXT NINETY DAYS</a:t>
            </a:r>
            <a:endParaRPr lang="en-US" sz="1100" dirty="0"/>
          </a:p>
        </p:txBody>
      </p:sp>
      <p:sp>
        <p:nvSpPr>
          <p:cNvPr id="5" name="Text 2"/>
          <p:cNvSpPr txBox="1"/>
          <p:nvPr/>
        </p:nvSpPr>
        <p:spPr>
          <a:xfrm>
            <a:off x="566928" y="1024128"/>
            <a:ext cx="47548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What both levers</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look like.</a:t>
            </a:r>
            <a:endParaRPr lang="en-US" sz="3400" dirty="0"/>
          </a:p>
        </p:txBody>
      </p:sp>
      <p:sp>
        <p:nvSpPr>
          <p:cNvPr id="6" name="Text 3"/>
          <p:cNvSpPr txBox="1"/>
          <p:nvPr/>
        </p:nvSpPr>
        <p:spPr>
          <a:xfrm>
            <a:off x="566928" y="2340864"/>
            <a:ext cx="4480560" cy="1280160"/>
          </a:xfrm>
          <a:prstGeom prst="rect">
            <a:avLst/>
          </a:prstGeom>
          <a:noFill/>
          <a:ln/>
        </p:spPr>
        <p:txBody>
          <a:bodyPr wrap="square" lIns="0" tIns="0" rIns="0" bIns="0" rtlCol="0" anchor="ctr"/>
          <a:lstStyle/>
          <a:p>
            <a:pPr indent="0" marL="0">
              <a:lnSpc>
                <a:spcPts val="2000"/>
              </a:lnSpc>
              <a:buNone/>
            </a:pPr>
            <a:r>
              <a:rPr lang="en-US" sz="1350" dirty="0">
                <a:solidFill>
                  <a:srgbClr val="B5C9BA"/>
                </a:solidFill>
                <a:latin typeface="Arial" pitchFamily="34" charset="0"/>
                <a:ea typeface="Arial" pitchFamily="34" charset="-122"/>
                <a:cs typeface="Arial" pitchFamily="34" charset="-120"/>
              </a:rPr>
              <a:t>Same budgeted reach, two different mixes. Online on its own adds about 3,200 people by day ninety. Running both adds over 10,000 and reaches wards the first mix never touches.</a:t>
            </a:r>
            <a:endParaRPr lang="en-US" sz="1350" dirty="0"/>
          </a:p>
        </p:txBody>
      </p:sp>
      <p:sp>
        <p:nvSpPr>
          <p:cNvPr id="7" name="Text 4"/>
          <p:cNvSpPr txBox="1"/>
          <p:nvPr/>
        </p:nvSpPr>
        <p:spPr>
          <a:xfrm>
            <a:off x="566928" y="3986784"/>
            <a:ext cx="2194560" cy="658368"/>
          </a:xfrm>
          <a:prstGeom prst="rect">
            <a:avLst/>
          </a:prstGeom>
          <a:noFill/>
          <a:ln/>
        </p:spPr>
        <p:txBody>
          <a:bodyPr wrap="square" lIns="0" tIns="0" rIns="0" bIns="0" rtlCol="0" anchor="ctr"/>
          <a:lstStyle/>
          <a:p>
            <a:pPr indent="0" marL="0">
              <a:buNone/>
            </a:pPr>
            <a:r>
              <a:rPr lang="en-US" sz="3800" b="1" dirty="0">
                <a:solidFill>
                  <a:srgbClr val="B5C9BA"/>
                </a:solidFill>
                <a:latin typeface="Arial" pitchFamily="34" charset="0"/>
                <a:ea typeface="Arial" pitchFamily="34" charset="-122"/>
                <a:cs typeface="Arial" pitchFamily="34" charset="-120"/>
              </a:rPr>
              <a:t>8,150</a:t>
            </a:r>
            <a:endParaRPr lang="en-US" sz="3800" dirty="0"/>
          </a:p>
        </p:txBody>
      </p:sp>
      <p:sp>
        <p:nvSpPr>
          <p:cNvPr id="8" name="Text 5"/>
          <p:cNvSpPr txBox="1"/>
          <p:nvPr/>
        </p:nvSpPr>
        <p:spPr>
          <a:xfrm>
            <a:off x="566928" y="4645152"/>
            <a:ext cx="2194560" cy="292608"/>
          </a:xfrm>
          <a:prstGeom prst="rect">
            <a:avLst/>
          </a:prstGeom>
          <a:noFill/>
          <a:ln/>
        </p:spPr>
        <p:txBody>
          <a:bodyPr wrap="square" lIns="0" tIns="0" rIns="0" bIns="0" rtlCol="0" anchor="ctr"/>
          <a:lstStyle/>
          <a:p>
            <a:pPr indent="0" marL="0">
              <a:buNone/>
            </a:pPr>
            <a:r>
              <a:rPr lang="en-US" sz="1000" b="1" spc="160" kern="0" dirty="0">
                <a:solidFill>
                  <a:srgbClr val="D6DAA7"/>
                </a:solidFill>
                <a:latin typeface="Arial" pitchFamily="34" charset="0"/>
                <a:ea typeface="Arial" pitchFamily="34" charset="-122"/>
                <a:cs typeface="Arial" pitchFamily="34" charset="-120"/>
              </a:rPr>
              <a:t>ONLINE ONLY, BY DAY 90</a:t>
            </a:r>
            <a:endParaRPr lang="en-US" sz="1000" dirty="0"/>
          </a:p>
        </p:txBody>
      </p:sp>
      <p:sp>
        <p:nvSpPr>
          <p:cNvPr id="9" name="Text 6"/>
          <p:cNvSpPr txBox="1"/>
          <p:nvPr/>
        </p:nvSpPr>
        <p:spPr>
          <a:xfrm>
            <a:off x="566928" y="5010912"/>
            <a:ext cx="2286000" cy="658368"/>
          </a:xfrm>
          <a:prstGeom prst="rect">
            <a:avLst/>
          </a:prstGeom>
          <a:noFill/>
          <a:ln/>
        </p:spPr>
        <p:txBody>
          <a:bodyPr wrap="square" lIns="0" tIns="0" rIns="0" bIns="0" rtlCol="0" anchor="ctr"/>
          <a:lstStyle/>
          <a:p>
            <a:pPr indent="0" marL="0">
              <a:buNone/>
            </a:pPr>
            <a:r>
              <a:rPr lang="en-US" sz="3800" b="1" dirty="0">
                <a:solidFill>
                  <a:srgbClr val="FFB066"/>
                </a:solidFill>
                <a:latin typeface="Arial" pitchFamily="34" charset="0"/>
                <a:ea typeface="Arial" pitchFamily="34" charset="-122"/>
                <a:cs typeface="Arial" pitchFamily="34" charset="-120"/>
              </a:rPr>
              <a:t>15,282</a:t>
            </a:r>
            <a:endParaRPr lang="en-US" sz="3800" dirty="0"/>
          </a:p>
        </p:txBody>
      </p:sp>
      <p:sp>
        <p:nvSpPr>
          <p:cNvPr id="10" name="Text 7"/>
          <p:cNvSpPr txBox="1"/>
          <p:nvPr/>
        </p:nvSpPr>
        <p:spPr>
          <a:xfrm>
            <a:off x="566928" y="5669280"/>
            <a:ext cx="2286000" cy="292608"/>
          </a:xfrm>
          <a:prstGeom prst="rect">
            <a:avLst/>
          </a:prstGeom>
          <a:noFill/>
          <a:ln/>
        </p:spPr>
        <p:txBody>
          <a:bodyPr wrap="square" lIns="0" tIns="0" rIns="0" bIns="0" rtlCol="0" anchor="ctr"/>
          <a:lstStyle/>
          <a:p>
            <a:pPr indent="0" marL="0">
              <a:buNone/>
            </a:pPr>
            <a:r>
              <a:rPr lang="en-US" sz="1000" b="1" spc="160" kern="0" dirty="0">
                <a:solidFill>
                  <a:srgbClr val="D6DAA7"/>
                </a:solidFill>
                <a:latin typeface="Arial" pitchFamily="34" charset="0"/>
                <a:ea typeface="Arial" pitchFamily="34" charset="-122"/>
                <a:cs typeface="Arial" pitchFamily="34" charset="-120"/>
              </a:rPr>
              <a:t>BOTH LEVERS, BY DAY 90</a:t>
            </a:r>
            <a:endParaRPr lang="en-US" sz="1000" dirty="0"/>
          </a:p>
        </p:txBody>
      </p:sp>
      <p:graphicFrame>
        <p:nvGraphicFramePr>
          <p:cNvPr id="11" name="Chart 0" descr=""/>
          <p:cNvGraphicFramePr/>
          <p:nvPr/>
        </p:nvGraphicFramePr>
        <p:xfrm>
          <a:off x="5486400" y="1042416"/>
          <a:ext cx="6108192" cy="4791456"/>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THE PART NOBODY EXPECTS</a:t>
            </a:r>
            <a:endParaRPr lang="en-US" sz="1100" dirty="0"/>
          </a:p>
        </p:txBody>
      </p:sp>
      <p:sp>
        <p:nvSpPr>
          <p:cNvPr id="5" name="Text 2"/>
          <p:cNvSpPr txBox="1"/>
          <p:nvPr/>
        </p:nvSpPr>
        <p:spPr>
          <a:xfrm>
            <a:off x="566928" y="1024128"/>
            <a:ext cx="5212080" cy="868680"/>
          </a:xfrm>
          <a:prstGeom prst="rect">
            <a:avLst/>
          </a:prstGeom>
          <a:noFill/>
          <a:ln/>
        </p:spPr>
        <p:txBody>
          <a:bodyPr wrap="square" lIns="0" tIns="0" rIns="0" bIns="0" rtlCol="0" anchor="ctr"/>
          <a:lstStyle/>
          <a:p>
            <a:pPr indent="0" marL="0">
              <a:lnSpc>
                <a:spcPts val="3600"/>
              </a:lnSpc>
              <a:buNone/>
            </a:pPr>
            <a:r>
              <a:rPr lang="en-US" sz="3400" b="1" dirty="0">
                <a:solidFill>
                  <a:srgbClr val="F4F2EE"/>
                </a:solidFill>
                <a:latin typeface="Arial" pitchFamily="34" charset="0"/>
                <a:ea typeface="Arial" pitchFamily="34" charset="-122"/>
                <a:cs typeface="Arial" pitchFamily="34" charset="-120"/>
              </a:rPr>
              <a:t>What we deliberately</a:t>
            </a:r>
            <a:endParaRPr lang="en-US" sz="3400" dirty="0"/>
          </a:p>
          <a:p>
            <a:pPr indent="0" marL="0">
              <a:lnSpc>
                <a:spcPts val="3600"/>
              </a:lnSpc>
              <a:buNone/>
            </a:pPr>
            <a:r>
              <a:rPr lang="en-US" sz="3400" b="1" dirty="0">
                <a:solidFill>
                  <a:srgbClr val="F4F2EE"/>
                </a:solidFill>
                <a:latin typeface="Arial" pitchFamily="34" charset="0"/>
                <a:ea typeface="Arial" pitchFamily="34" charset="-122"/>
                <a:cs typeface="Arial" pitchFamily="34" charset="-120"/>
              </a:rPr>
              <a:t>refuse to hold.</a:t>
            </a:r>
            <a:endParaRPr lang="en-US" sz="3400" dirty="0"/>
          </a:p>
        </p:txBody>
      </p:sp>
      <p:sp>
        <p:nvSpPr>
          <p:cNvPr id="6" name="Text 3"/>
          <p:cNvSpPr txBox="1"/>
          <p:nvPr/>
        </p:nvSpPr>
        <p:spPr>
          <a:xfrm>
            <a:off x="566928" y="2359152"/>
            <a:ext cx="5120640" cy="1371600"/>
          </a:xfrm>
          <a:prstGeom prst="rect">
            <a:avLst/>
          </a:prstGeom>
          <a:noFill/>
          <a:ln/>
        </p:spPr>
        <p:txBody>
          <a:bodyPr wrap="square" lIns="0" tIns="0" rIns="0" bIns="0" rtlCol="0" anchor="t"/>
          <a:lstStyle/>
          <a:p>
            <a:pPr indent="0" marL="0">
              <a:lnSpc>
                <a:spcPts val="2100"/>
              </a:lnSpc>
              <a:buNone/>
            </a:pPr>
            <a:r>
              <a:rPr lang="en-US" sz="1400" dirty="0">
                <a:solidFill>
                  <a:srgbClr val="B5C9BA"/>
                </a:solidFill>
                <a:latin typeface="Arial" pitchFamily="34" charset="0"/>
                <a:ea typeface="Arial" pitchFamily="34" charset="-122"/>
                <a:cs typeface="Arial" pitchFamily="34" charset="-120"/>
              </a:rPr>
              <a:t>Political opinion counts as sensitive personal data under Kenya's Data Protection Act. Any rival can promise to protect Turkana's data. We can show that we never collected it. That is a far harder thing to argue with, and it is already built.</a:t>
            </a:r>
            <a:endParaRPr lang="en-US" sz="1400" dirty="0"/>
          </a:p>
        </p:txBody>
      </p:sp>
      <p:sp>
        <p:nvSpPr>
          <p:cNvPr id="7" name="Shape 4"/>
          <p:cNvSpPr/>
          <p:nvPr/>
        </p:nvSpPr>
        <p:spPr>
          <a:xfrm>
            <a:off x="5943600" y="1133856"/>
            <a:ext cx="5650992" cy="1152144"/>
          </a:xfrm>
          <a:prstGeom prst="roundRect">
            <a:avLst>
              <a:gd name="adj" fmla="val 2381"/>
            </a:avLst>
          </a:prstGeom>
          <a:solidFill>
            <a:srgbClr val="01412A"/>
          </a:solidFill>
          <a:ln w="9525">
            <a:solidFill>
              <a:srgbClr val="0A6E45"/>
            </a:solidFill>
            <a:prstDash val="solid"/>
          </a:ln>
        </p:spPr>
      </p:sp>
      <p:sp>
        <p:nvSpPr>
          <p:cNvPr id="8" name="Shape 5"/>
          <p:cNvSpPr/>
          <p:nvPr/>
        </p:nvSpPr>
        <p:spPr>
          <a:xfrm>
            <a:off x="6217920" y="1508760"/>
            <a:ext cx="402336" cy="402336"/>
          </a:xfrm>
          <a:prstGeom prst="ellipse">
            <a:avLst/>
          </a:prstGeom>
          <a:solidFill>
            <a:srgbClr val="013322"/>
          </a:solidFill>
          <a:ln w="15875">
            <a:solidFill>
              <a:srgbClr val="FFB066"/>
            </a:solidFill>
            <a:prstDash val="solid"/>
          </a:ln>
        </p:spPr>
      </p:sp>
      <p:sp>
        <p:nvSpPr>
          <p:cNvPr id="9" name="Shape 6"/>
          <p:cNvSpPr/>
          <p:nvPr/>
        </p:nvSpPr>
        <p:spPr>
          <a:xfrm>
            <a:off x="6291072" y="1709928"/>
            <a:ext cx="256032" cy="0"/>
          </a:xfrm>
          <a:prstGeom prst="line">
            <a:avLst/>
          </a:prstGeom>
          <a:noFill/>
          <a:ln w="25400">
            <a:solidFill>
              <a:srgbClr val="FFB066"/>
            </a:solidFill>
            <a:prstDash val="solid"/>
          </a:ln>
        </p:spPr>
      </p:sp>
      <p:sp>
        <p:nvSpPr>
          <p:cNvPr id="10" name="Text 7"/>
          <p:cNvSpPr txBox="1"/>
          <p:nvPr/>
        </p:nvSpPr>
        <p:spPr>
          <a:xfrm>
            <a:off x="6803136" y="1380744"/>
            <a:ext cx="4572000" cy="329184"/>
          </a:xfrm>
          <a:prstGeom prst="rect">
            <a:avLst/>
          </a:prstGeom>
          <a:noFill/>
          <a:ln/>
        </p:spPr>
        <p:txBody>
          <a:bodyPr wrap="square" lIns="0" tIns="0" rIns="0" bIns="0" rtlCol="0" anchor="ctr"/>
          <a:lstStyle/>
          <a:p>
            <a:pPr indent="0" marL="0">
              <a:buNone/>
            </a:pPr>
            <a:r>
              <a:rPr lang="en-US" sz="1550" b="1" dirty="0">
                <a:solidFill>
                  <a:srgbClr val="F4F2EE"/>
                </a:solidFill>
                <a:latin typeface="Arial" pitchFamily="34" charset="0"/>
                <a:ea typeface="Arial" pitchFamily="34" charset="-122"/>
                <a:cs typeface="Arial" pitchFamily="34" charset="-120"/>
              </a:rPr>
              <a:t>Full ID numbers</a:t>
            </a:r>
            <a:endParaRPr lang="en-US" sz="1550" dirty="0"/>
          </a:p>
        </p:txBody>
      </p:sp>
      <p:sp>
        <p:nvSpPr>
          <p:cNvPr id="11" name="Text 8"/>
          <p:cNvSpPr txBox="1"/>
          <p:nvPr/>
        </p:nvSpPr>
        <p:spPr>
          <a:xfrm>
            <a:off x="6803136" y="1728216"/>
            <a:ext cx="4572000" cy="365760"/>
          </a:xfrm>
          <a:prstGeom prst="rect">
            <a:avLst/>
          </a:prstGeom>
          <a:noFill/>
          <a:ln/>
        </p:spPr>
        <p:txBody>
          <a:bodyPr wrap="square" lIns="0" tIns="0" rIns="0" bIns="0" rtlCol="0" anchor="ctr"/>
          <a:lstStyle/>
          <a:p>
            <a:pPr indent="0" marL="0">
              <a:buNone/>
            </a:pPr>
            <a:r>
              <a:rPr lang="en-US" sz="1150" dirty="0">
                <a:solidFill>
                  <a:srgbClr val="B5C9BA"/>
                </a:solidFill>
                <a:latin typeface="Arial" pitchFamily="34" charset="0"/>
                <a:ea typeface="Arial" pitchFamily="34" charset="-122"/>
                <a:cs typeface="Arial" pitchFamily="34" charset="-120"/>
              </a:rPr>
              <a:t>Last four digits only, and even that is optional</a:t>
            </a:r>
            <a:endParaRPr lang="en-US" sz="1150" dirty="0"/>
          </a:p>
        </p:txBody>
      </p:sp>
      <p:sp>
        <p:nvSpPr>
          <p:cNvPr id="12" name="Shape 9"/>
          <p:cNvSpPr/>
          <p:nvPr/>
        </p:nvSpPr>
        <p:spPr>
          <a:xfrm>
            <a:off x="5943600" y="2487168"/>
            <a:ext cx="5650992" cy="1152144"/>
          </a:xfrm>
          <a:prstGeom prst="roundRect">
            <a:avLst>
              <a:gd name="adj" fmla="val 2381"/>
            </a:avLst>
          </a:prstGeom>
          <a:solidFill>
            <a:srgbClr val="01412A"/>
          </a:solidFill>
          <a:ln w="9525">
            <a:solidFill>
              <a:srgbClr val="0A6E45"/>
            </a:solidFill>
            <a:prstDash val="solid"/>
          </a:ln>
        </p:spPr>
      </p:sp>
      <p:sp>
        <p:nvSpPr>
          <p:cNvPr id="13" name="Shape 10"/>
          <p:cNvSpPr/>
          <p:nvPr/>
        </p:nvSpPr>
        <p:spPr>
          <a:xfrm>
            <a:off x="6217920" y="2862072"/>
            <a:ext cx="402336" cy="402336"/>
          </a:xfrm>
          <a:prstGeom prst="ellipse">
            <a:avLst/>
          </a:prstGeom>
          <a:solidFill>
            <a:srgbClr val="013322"/>
          </a:solidFill>
          <a:ln w="15875">
            <a:solidFill>
              <a:srgbClr val="FFB066"/>
            </a:solidFill>
            <a:prstDash val="solid"/>
          </a:ln>
        </p:spPr>
      </p:sp>
      <p:sp>
        <p:nvSpPr>
          <p:cNvPr id="14" name="Shape 11"/>
          <p:cNvSpPr/>
          <p:nvPr/>
        </p:nvSpPr>
        <p:spPr>
          <a:xfrm>
            <a:off x="6291072" y="3063240"/>
            <a:ext cx="256032" cy="0"/>
          </a:xfrm>
          <a:prstGeom prst="line">
            <a:avLst/>
          </a:prstGeom>
          <a:noFill/>
          <a:ln w="25400">
            <a:solidFill>
              <a:srgbClr val="FFB066"/>
            </a:solidFill>
            <a:prstDash val="solid"/>
          </a:ln>
        </p:spPr>
      </p:sp>
      <p:sp>
        <p:nvSpPr>
          <p:cNvPr id="15" name="Text 12"/>
          <p:cNvSpPr txBox="1"/>
          <p:nvPr/>
        </p:nvSpPr>
        <p:spPr>
          <a:xfrm>
            <a:off x="6803136" y="2734056"/>
            <a:ext cx="4572000" cy="329184"/>
          </a:xfrm>
          <a:prstGeom prst="rect">
            <a:avLst/>
          </a:prstGeom>
          <a:noFill/>
          <a:ln/>
        </p:spPr>
        <p:txBody>
          <a:bodyPr wrap="square" lIns="0" tIns="0" rIns="0" bIns="0" rtlCol="0" anchor="ctr"/>
          <a:lstStyle/>
          <a:p>
            <a:pPr indent="0" marL="0">
              <a:buNone/>
            </a:pPr>
            <a:r>
              <a:rPr lang="en-US" sz="1550" b="1" dirty="0">
                <a:solidFill>
                  <a:srgbClr val="F4F2EE"/>
                </a:solidFill>
                <a:latin typeface="Arial" pitchFamily="34" charset="0"/>
                <a:ea typeface="Arial" pitchFamily="34" charset="-122"/>
                <a:cs typeface="Arial" pitchFamily="34" charset="-120"/>
              </a:rPr>
              <a:t>Date of birth</a:t>
            </a:r>
            <a:endParaRPr lang="en-US" sz="1550" dirty="0"/>
          </a:p>
        </p:txBody>
      </p:sp>
      <p:sp>
        <p:nvSpPr>
          <p:cNvPr id="16" name="Text 13"/>
          <p:cNvSpPr txBox="1"/>
          <p:nvPr/>
        </p:nvSpPr>
        <p:spPr>
          <a:xfrm>
            <a:off x="6803136" y="3081528"/>
            <a:ext cx="4572000" cy="365760"/>
          </a:xfrm>
          <a:prstGeom prst="rect">
            <a:avLst/>
          </a:prstGeom>
          <a:noFill/>
          <a:ln/>
        </p:spPr>
        <p:txBody>
          <a:bodyPr wrap="square" lIns="0" tIns="0" rIns="0" bIns="0" rtlCol="0" anchor="ctr"/>
          <a:lstStyle/>
          <a:p>
            <a:pPr indent="0" marL="0">
              <a:buNone/>
            </a:pPr>
            <a:r>
              <a:rPr lang="en-US" sz="1150" dirty="0">
                <a:solidFill>
                  <a:srgbClr val="B5C9BA"/>
                </a:solidFill>
                <a:latin typeface="Arial" pitchFamily="34" charset="0"/>
                <a:ea typeface="Arial" pitchFamily="34" charset="-122"/>
                <a:cs typeface="Arial" pitchFamily="34" charset="-120"/>
              </a:rPr>
              <a:t>Year only, enough to plan and not enough to impersonate</a:t>
            </a:r>
            <a:endParaRPr lang="en-US" sz="1150" dirty="0"/>
          </a:p>
        </p:txBody>
      </p:sp>
      <p:sp>
        <p:nvSpPr>
          <p:cNvPr id="17" name="Shape 14"/>
          <p:cNvSpPr/>
          <p:nvPr/>
        </p:nvSpPr>
        <p:spPr>
          <a:xfrm>
            <a:off x="5943600" y="3840480"/>
            <a:ext cx="5650992" cy="1152144"/>
          </a:xfrm>
          <a:prstGeom prst="roundRect">
            <a:avLst>
              <a:gd name="adj" fmla="val 2381"/>
            </a:avLst>
          </a:prstGeom>
          <a:solidFill>
            <a:srgbClr val="01412A"/>
          </a:solidFill>
          <a:ln w="9525">
            <a:solidFill>
              <a:srgbClr val="0A6E45"/>
            </a:solidFill>
            <a:prstDash val="solid"/>
          </a:ln>
        </p:spPr>
      </p:sp>
      <p:sp>
        <p:nvSpPr>
          <p:cNvPr id="18" name="Shape 15"/>
          <p:cNvSpPr/>
          <p:nvPr/>
        </p:nvSpPr>
        <p:spPr>
          <a:xfrm>
            <a:off x="6217920" y="4215384"/>
            <a:ext cx="402336" cy="402336"/>
          </a:xfrm>
          <a:prstGeom prst="ellipse">
            <a:avLst/>
          </a:prstGeom>
          <a:solidFill>
            <a:srgbClr val="013322"/>
          </a:solidFill>
          <a:ln w="15875">
            <a:solidFill>
              <a:srgbClr val="FFB066"/>
            </a:solidFill>
            <a:prstDash val="solid"/>
          </a:ln>
        </p:spPr>
      </p:sp>
      <p:sp>
        <p:nvSpPr>
          <p:cNvPr id="19" name="Shape 16"/>
          <p:cNvSpPr/>
          <p:nvPr/>
        </p:nvSpPr>
        <p:spPr>
          <a:xfrm>
            <a:off x="6291072" y="4416552"/>
            <a:ext cx="256032" cy="0"/>
          </a:xfrm>
          <a:prstGeom prst="line">
            <a:avLst/>
          </a:prstGeom>
          <a:noFill/>
          <a:ln w="25400">
            <a:solidFill>
              <a:srgbClr val="FFB066"/>
            </a:solidFill>
            <a:prstDash val="solid"/>
          </a:ln>
        </p:spPr>
      </p:sp>
      <p:sp>
        <p:nvSpPr>
          <p:cNvPr id="20" name="Text 17"/>
          <p:cNvSpPr txBox="1"/>
          <p:nvPr/>
        </p:nvSpPr>
        <p:spPr>
          <a:xfrm>
            <a:off x="6803136" y="4087368"/>
            <a:ext cx="4572000" cy="329184"/>
          </a:xfrm>
          <a:prstGeom prst="rect">
            <a:avLst/>
          </a:prstGeom>
          <a:noFill/>
          <a:ln/>
        </p:spPr>
        <p:txBody>
          <a:bodyPr wrap="square" lIns="0" tIns="0" rIns="0" bIns="0" rtlCol="0" anchor="ctr"/>
          <a:lstStyle/>
          <a:p>
            <a:pPr indent="0" marL="0">
              <a:buNone/>
            </a:pPr>
            <a:r>
              <a:rPr lang="en-US" sz="1550" b="1" dirty="0">
                <a:solidFill>
                  <a:srgbClr val="F4F2EE"/>
                </a:solidFill>
                <a:latin typeface="Arial" pitchFamily="34" charset="0"/>
                <a:ea typeface="Arial" pitchFamily="34" charset="-122"/>
                <a:cs typeface="Arial" pitchFamily="34" charset="-120"/>
              </a:rPr>
              <a:t>Raw location data</a:t>
            </a:r>
            <a:endParaRPr lang="en-US" sz="1550" dirty="0"/>
          </a:p>
        </p:txBody>
      </p:sp>
      <p:sp>
        <p:nvSpPr>
          <p:cNvPr id="21" name="Text 18"/>
          <p:cNvSpPr txBox="1"/>
          <p:nvPr/>
        </p:nvSpPr>
        <p:spPr>
          <a:xfrm>
            <a:off x="6803136" y="4434840"/>
            <a:ext cx="4572000" cy="365760"/>
          </a:xfrm>
          <a:prstGeom prst="rect">
            <a:avLst/>
          </a:prstGeom>
          <a:noFill/>
          <a:ln/>
        </p:spPr>
        <p:txBody>
          <a:bodyPr wrap="square" lIns="0" tIns="0" rIns="0" bIns="0" rtlCol="0" anchor="ctr"/>
          <a:lstStyle/>
          <a:p>
            <a:pPr indent="0" marL="0">
              <a:buNone/>
            </a:pPr>
            <a:r>
              <a:rPr lang="en-US" sz="1150" dirty="0">
                <a:solidFill>
                  <a:srgbClr val="B5C9BA"/>
                </a:solidFill>
                <a:latin typeface="Arial" pitchFamily="34" charset="0"/>
                <a:ea typeface="Arial" pitchFamily="34" charset="-122"/>
                <a:cs typeface="Arial" pitchFamily="34" charset="-120"/>
              </a:rPr>
              <a:t>IP and device values are hashed on the way in</a:t>
            </a:r>
            <a:endParaRPr lang="en-US" sz="1150" dirty="0"/>
          </a:p>
        </p:txBody>
      </p:sp>
      <p:sp>
        <p:nvSpPr>
          <p:cNvPr id="22" name="Shape 19"/>
          <p:cNvSpPr/>
          <p:nvPr/>
        </p:nvSpPr>
        <p:spPr>
          <a:xfrm>
            <a:off x="566928" y="4535424"/>
            <a:ext cx="5120640" cy="1335024"/>
          </a:xfrm>
          <a:prstGeom prst="roundRect">
            <a:avLst>
              <a:gd name="adj" fmla="val 2055"/>
            </a:avLst>
          </a:prstGeom>
          <a:solidFill>
            <a:srgbClr val="013322"/>
          </a:solidFill>
          <a:ln w="12700">
            <a:solidFill>
              <a:srgbClr val="0E8455"/>
            </a:solidFill>
            <a:prstDash val="solid"/>
          </a:ln>
        </p:spPr>
      </p:sp>
      <p:sp>
        <p:nvSpPr>
          <p:cNvPr id="23" name="Text 20"/>
          <p:cNvSpPr txBox="1"/>
          <p:nvPr/>
        </p:nvSpPr>
        <p:spPr>
          <a:xfrm>
            <a:off x="877824" y="4736592"/>
            <a:ext cx="4526280" cy="1005840"/>
          </a:xfrm>
          <a:prstGeom prst="rect">
            <a:avLst/>
          </a:prstGeom>
          <a:noFill/>
          <a:ln/>
        </p:spPr>
        <p:txBody>
          <a:bodyPr wrap="square" lIns="0" tIns="0" rIns="0" bIns="0" rtlCol="0" anchor="ctr"/>
          <a:lstStyle/>
          <a:p>
            <a:pPr indent="0" marL="0">
              <a:lnSpc>
                <a:spcPts val="1900"/>
              </a:lnSpc>
              <a:buNone/>
            </a:pPr>
            <a:r>
              <a:rPr lang="en-US" sz="1300" i="1" dirty="0">
                <a:solidFill>
                  <a:srgbClr val="F4F2EE"/>
                </a:solidFill>
                <a:latin typeface="Arial" pitchFamily="34" charset="0"/>
                <a:ea typeface="Arial" pitchFamily="34" charset="-122"/>
                <a:cs typeface="Arial" pitchFamily="34" charset="-120"/>
              </a:rPr>
              <a:t>When we are accused of harvesting Turkana's ID numbers, and we will be, the answer is a database schema rather than a denial.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THE ADVANTAGE</a:t>
            </a:r>
            <a:endParaRPr lang="en-US" sz="1100" dirty="0"/>
          </a:p>
        </p:txBody>
      </p:sp>
      <p:sp>
        <p:nvSpPr>
          <p:cNvPr id="5" name="Text 2"/>
          <p:cNvSpPr txBox="1"/>
          <p:nvPr/>
        </p:nvSpPr>
        <p:spPr>
          <a:xfrm>
            <a:off x="566928" y="1024128"/>
            <a:ext cx="10058400" cy="868680"/>
          </a:xfrm>
          <a:prstGeom prst="rect">
            <a:avLst/>
          </a:prstGeom>
          <a:noFill/>
          <a:ln/>
        </p:spPr>
        <p:txBody>
          <a:bodyPr wrap="square" lIns="0" tIns="0" rIns="0" bIns="0" rtlCol="0" anchor="ctr"/>
          <a:lstStyle/>
          <a:p>
            <a:pPr indent="0" marL="0">
              <a:lnSpc>
                <a:spcPts val="3600"/>
              </a:lnSpc>
              <a:buNone/>
            </a:pPr>
            <a:r>
              <a:rPr lang="en-US" sz="3100" b="1" dirty="0">
                <a:solidFill>
                  <a:srgbClr val="F4F2EE"/>
                </a:solidFill>
                <a:latin typeface="Arial" pitchFamily="34" charset="0"/>
                <a:ea typeface="Arial" pitchFamily="34" charset="-122"/>
                <a:cs typeface="Arial" pitchFamily="34" charset="-120"/>
              </a:rPr>
              <a:t>Come election week,</a:t>
            </a:r>
            <a:endParaRPr lang="en-US" sz="3100" dirty="0"/>
          </a:p>
          <a:p>
            <a:pPr indent="0" marL="0">
              <a:lnSpc>
                <a:spcPts val="3600"/>
              </a:lnSpc>
              <a:buNone/>
            </a:pPr>
            <a:r>
              <a:rPr lang="en-US" sz="3100" b="1" dirty="0">
                <a:solidFill>
                  <a:srgbClr val="F4F2EE"/>
                </a:solidFill>
                <a:latin typeface="Arial" pitchFamily="34" charset="0"/>
                <a:ea typeface="Arial" pitchFamily="34" charset="-122"/>
                <a:cs typeface="Arial" pitchFamily="34" charset="-120"/>
              </a:rPr>
              <a:t>only one of these holds up.</a:t>
            </a:r>
            <a:endParaRPr lang="en-US" sz="3100" dirty="0"/>
          </a:p>
        </p:txBody>
      </p:sp>
      <p:sp>
        <p:nvSpPr>
          <p:cNvPr id="6" name="Shape 3"/>
          <p:cNvSpPr/>
          <p:nvPr/>
        </p:nvSpPr>
        <p:spPr>
          <a:xfrm>
            <a:off x="566928" y="2359152"/>
            <a:ext cx="5330952" cy="3529584"/>
          </a:xfrm>
          <a:prstGeom prst="roundRect">
            <a:avLst>
              <a:gd name="adj" fmla="val 777"/>
            </a:avLst>
          </a:prstGeom>
          <a:solidFill>
            <a:srgbClr val="01412A"/>
          </a:solidFill>
          <a:ln w="9525">
            <a:solidFill>
              <a:srgbClr val="0A6E45"/>
            </a:solidFill>
            <a:prstDash val="solid"/>
          </a:ln>
        </p:spPr>
      </p:sp>
      <p:sp>
        <p:nvSpPr>
          <p:cNvPr id="7" name="Text 4"/>
          <p:cNvSpPr txBox="1"/>
          <p:nvPr/>
        </p:nvSpPr>
        <p:spPr>
          <a:xfrm>
            <a:off x="950976" y="2633472"/>
            <a:ext cx="1828800" cy="292608"/>
          </a:xfrm>
          <a:prstGeom prst="rect">
            <a:avLst/>
          </a:prstGeom>
          <a:noFill/>
          <a:ln/>
        </p:spPr>
        <p:txBody>
          <a:bodyPr wrap="square" lIns="0" tIns="0" rIns="0" bIns="0" rtlCol="0" anchor="ctr"/>
          <a:lstStyle/>
          <a:p>
            <a:pPr indent="0" marL="0">
              <a:buNone/>
            </a:pPr>
            <a:r>
              <a:rPr lang="en-US" sz="1100" b="1" spc="220" kern="0" dirty="0">
                <a:solidFill>
                  <a:srgbClr val="D6DAA7"/>
                </a:solidFill>
                <a:latin typeface="Arial" pitchFamily="34" charset="0"/>
                <a:ea typeface="Arial" pitchFamily="34" charset="-122"/>
                <a:cs typeface="Arial" pitchFamily="34" charset="-120"/>
              </a:rPr>
              <a:t>THEM</a:t>
            </a:r>
            <a:endParaRPr lang="en-US" sz="1100" dirty="0"/>
          </a:p>
        </p:txBody>
      </p:sp>
      <p:sp>
        <p:nvSpPr>
          <p:cNvPr id="8" name="Text 5"/>
          <p:cNvSpPr txBox="1"/>
          <p:nvPr/>
        </p:nvSpPr>
        <p:spPr>
          <a:xfrm>
            <a:off x="950976" y="2944368"/>
            <a:ext cx="4562856" cy="457200"/>
          </a:xfrm>
          <a:prstGeom prst="rect">
            <a:avLst/>
          </a:prstGeom>
          <a:noFill/>
          <a:ln/>
        </p:spPr>
        <p:txBody>
          <a:bodyPr wrap="square" lIns="0" tIns="0" rIns="0" bIns="0" rtlCol="0" anchor="ctr"/>
          <a:lstStyle/>
          <a:p>
            <a:pPr indent="0" marL="0">
              <a:buNone/>
            </a:pPr>
            <a:r>
              <a:rPr lang="en-US" sz="1600" b="1" dirty="0">
                <a:solidFill>
                  <a:srgbClr val="F4F2EE"/>
                </a:solidFill>
                <a:latin typeface="Arial" pitchFamily="34" charset="0"/>
                <a:ea typeface="Arial" pitchFamily="34" charset="-122"/>
                <a:cs typeface="Arial" pitchFamily="34" charset="-120"/>
              </a:rPr>
              <a:t>A number somebody invented</a:t>
            </a:r>
            <a:endParaRPr lang="en-US" sz="1600" dirty="0"/>
          </a:p>
        </p:txBody>
      </p:sp>
      <p:sp>
        <p:nvSpPr>
          <p:cNvPr id="9" name="Shape 6"/>
          <p:cNvSpPr/>
          <p:nvPr/>
        </p:nvSpPr>
        <p:spPr>
          <a:xfrm>
            <a:off x="950976" y="3685032"/>
            <a:ext cx="109728" cy="109728"/>
          </a:xfrm>
          <a:prstGeom prst="diamond">
            <a:avLst/>
          </a:prstGeom>
          <a:solidFill>
            <a:srgbClr val="D6DAA7"/>
          </a:solidFill>
          <a:ln/>
        </p:spPr>
      </p:sp>
      <p:sp>
        <p:nvSpPr>
          <p:cNvPr id="10" name="Text 7"/>
          <p:cNvSpPr txBox="1"/>
          <p:nvPr/>
        </p:nvSpPr>
        <p:spPr>
          <a:xfrm>
            <a:off x="1243584" y="3602736"/>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Crowd sizes counted by eye</a:t>
            </a:r>
            <a:endParaRPr lang="en-US" sz="1250" dirty="0"/>
          </a:p>
        </p:txBody>
      </p:sp>
      <p:sp>
        <p:nvSpPr>
          <p:cNvPr id="11" name="Shape 8"/>
          <p:cNvSpPr/>
          <p:nvPr/>
        </p:nvSpPr>
        <p:spPr>
          <a:xfrm>
            <a:off x="950976" y="4251960"/>
            <a:ext cx="109728" cy="109728"/>
          </a:xfrm>
          <a:prstGeom prst="diamond">
            <a:avLst/>
          </a:prstGeom>
          <a:solidFill>
            <a:srgbClr val="D6DAA7"/>
          </a:solidFill>
          <a:ln/>
        </p:spPr>
      </p:sp>
      <p:sp>
        <p:nvSpPr>
          <p:cNvPr id="12" name="Text 9"/>
          <p:cNvSpPr txBox="1"/>
          <p:nvPr/>
        </p:nvSpPr>
        <p:spPr>
          <a:xfrm>
            <a:off x="1243584" y="4169664"/>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Likes from outside the county</a:t>
            </a:r>
            <a:endParaRPr lang="en-US" sz="1250" dirty="0"/>
          </a:p>
        </p:txBody>
      </p:sp>
      <p:sp>
        <p:nvSpPr>
          <p:cNvPr id="13" name="Shape 10"/>
          <p:cNvSpPr/>
          <p:nvPr/>
        </p:nvSpPr>
        <p:spPr>
          <a:xfrm>
            <a:off x="950976" y="4818888"/>
            <a:ext cx="109728" cy="109728"/>
          </a:xfrm>
          <a:prstGeom prst="diamond">
            <a:avLst/>
          </a:prstGeom>
          <a:solidFill>
            <a:srgbClr val="D6DAA7"/>
          </a:solidFill>
          <a:ln/>
        </p:spPr>
      </p:sp>
      <p:sp>
        <p:nvSpPr>
          <p:cNvPr id="14" name="Text 11"/>
          <p:cNvSpPr txBox="1"/>
          <p:nvPr/>
        </p:nvSpPr>
        <p:spPr>
          <a:xfrm>
            <a:off x="1243584" y="4736592"/>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Mobiliser reports the boss wants to hear</a:t>
            </a:r>
            <a:endParaRPr lang="en-US" sz="1250" dirty="0"/>
          </a:p>
        </p:txBody>
      </p:sp>
      <p:sp>
        <p:nvSpPr>
          <p:cNvPr id="15" name="Shape 12"/>
          <p:cNvSpPr/>
          <p:nvPr/>
        </p:nvSpPr>
        <p:spPr>
          <a:xfrm>
            <a:off x="950976" y="5385816"/>
            <a:ext cx="109728" cy="109728"/>
          </a:xfrm>
          <a:prstGeom prst="diamond">
            <a:avLst/>
          </a:prstGeom>
          <a:solidFill>
            <a:srgbClr val="D6DAA7"/>
          </a:solidFill>
          <a:ln/>
        </p:spPr>
      </p:sp>
      <p:sp>
        <p:nvSpPr>
          <p:cNvPr id="16" name="Text 13"/>
          <p:cNvSpPr txBox="1"/>
          <p:nvPr/>
        </p:nvSpPr>
        <p:spPr>
          <a:xfrm>
            <a:off x="1243584" y="5303520"/>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A paper list with no phone and no ward</a:t>
            </a:r>
            <a:endParaRPr lang="en-US" sz="1250" dirty="0"/>
          </a:p>
        </p:txBody>
      </p:sp>
      <p:sp>
        <p:nvSpPr>
          <p:cNvPr id="17" name="Shape 14"/>
          <p:cNvSpPr/>
          <p:nvPr/>
        </p:nvSpPr>
        <p:spPr>
          <a:xfrm>
            <a:off x="6263640" y="2359152"/>
            <a:ext cx="5330952" cy="3529584"/>
          </a:xfrm>
          <a:prstGeom prst="roundRect">
            <a:avLst>
              <a:gd name="adj" fmla="val 777"/>
            </a:avLst>
          </a:prstGeom>
          <a:solidFill>
            <a:srgbClr val="013322"/>
          </a:solidFill>
          <a:ln w="9525">
            <a:solidFill>
              <a:srgbClr val="0A6E45"/>
            </a:solidFill>
            <a:prstDash val="solid"/>
          </a:ln>
        </p:spPr>
      </p:sp>
      <p:sp>
        <p:nvSpPr>
          <p:cNvPr id="18" name="Text 15"/>
          <p:cNvSpPr txBox="1"/>
          <p:nvPr/>
        </p:nvSpPr>
        <p:spPr>
          <a:xfrm>
            <a:off x="6647688" y="2633472"/>
            <a:ext cx="1828800" cy="292608"/>
          </a:xfrm>
          <a:prstGeom prst="rect">
            <a:avLst/>
          </a:prstGeom>
          <a:noFill/>
          <a:ln/>
        </p:spPr>
        <p:txBody>
          <a:bodyPr wrap="square" lIns="0" tIns="0" rIns="0" bIns="0" rtlCol="0" anchor="ctr"/>
          <a:lstStyle/>
          <a:p>
            <a:pPr indent="0" marL="0">
              <a:buNone/>
            </a:pPr>
            <a:r>
              <a:rPr lang="en-US" sz="1100" b="1" spc="220" kern="0" dirty="0">
                <a:solidFill>
                  <a:srgbClr val="FFB066"/>
                </a:solidFill>
                <a:latin typeface="Arial" pitchFamily="34" charset="0"/>
                <a:ea typeface="Arial" pitchFamily="34" charset="-122"/>
                <a:cs typeface="Arial" pitchFamily="34" charset="-120"/>
              </a:rPr>
              <a:t>US</a:t>
            </a:r>
            <a:endParaRPr lang="en-US" sz="1100" dirty="0"/>
          </a:p>
        </p:txBody>
      </p:sp>
      <p:sp>
        <p:nvSpPr>
          <p:cNvPr id="19" name="Text 16"/>
          <p:cNvSpPr txBox="1"/>
          <p:nvPr/>
        </p:nvSpPr>
        <p:spPr>
          <a:xfrm>
            <a:off x="6647688" y="2944368"/>
            <a:ext cx="4562856" cy="457200"/>
          </a:xfrm>
          <a:prstGeom prst="rect">
            <a:avLst/>
          </a:prstGeom>
          <a:noFill/>
          <a:ln/>
        </p:spPr>
        <p:txBody>
          <a:bodyPr wrap="square" lIns="0" tIns="0" rIns="0" bIns="0" rtlCol="0" anchor="ctr"/>
          <a:lstStyle/>
          <a:p>
            <a:pPr indent="0" marL="0">
              <a:buNone/>
            </a:pPr>
            <a:r>
              <a:rPr lang="en-US" sz="1600" b="1" dirty="0">
                <a:solidFill>
                  <a:srgbClr val="F4F2EE"/>
                </a:solidFill>
                <a:latin typeface="Arial" pitchFamily="34" charset="0"/>
                <a:ea typeface="Arial" pitchFamily="34" charset="-122"/>
                <a:cs typeface="Arial" pitchFamily="34" charset="-120"/>
              </a:rPr>
              <a:t>A number that survives a journalist</a:t>
            </a:r>
            <a:endParaRPr lang="en-US" sz="1600" dirty="0"/>
          </a:p>
        </p:txBody>
      </p:sp>
      <p:sp>
        <p:nvSpPr>
          <p:cNvPr id="20" name="Shape 17"/>
          <p:cNvSpPr/>
          <p:nvPr/>
        </p:nvSpPr>
        <p:spPr>
          <a:xfrm>
            <a:off x="6647688" y="3685032"/>
            <a:ext cx="109728" cy="109728"/>
          </a:xfrm>
          <a:prstGeom prst="diamond">
            <a:avLst/>
          </a:prstGeom>
          <a:solidFill>
            <a:srgbClr val="FFB066"/>
          </a:solidFill>
          <a:ln/>
        </p:spPr>
      </p:sp>
      <p:sp>
        <p:nvSpPr>
          <p:cNvPr id="21" name="Text 18"/>
          <p:cNvSpPr txBox="1"/>
          <p:nvPr/>
        </p:nvSpPr>
        <p:spPr>
          <a:xfrm>
            <a:off x="6940296" y="3602736"/>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Every supporter tied to a polling station</a:t>
            </a:r>
            <a:endParaRPr lang="en-US" sz="1250" dirty="0"/>
          </a:p>
        </p:txBody>
      </p:sp>
      <p:sp>
        <p:nvSpPr>
          <p:cNvPr id="22" name="Shape 19"/>
          <p:cNvSpPr/>
          <p:nvPr/>
        </p:nvSpPr>
        <p:spPr>
          <a:xfrm>
            <a:off x="6647688" y="4251960"/>
            <a:ext cx="109728" cy="109728"/>
          </a:xfrm>
          <a:prstGeom prst="diamond">
            <a:avLst/>
          </a:prstGeom>
          <a:solidFill>
            <a:srgbClr val="FFB066"/>
          </a:solidFill>
          <a:ln/>
        </p:spPr>
      </p:sp>
      <p:sp>
        <p:nvSpPr>
          <p:cNvPr id="23" name="Text 20"/>
          <p:cNvSpPr txBox="1"/>
          <p:nvPr/>
        </p:nvSpPr>
        <p:spPr>
          <a:xfrm>
            <a:off x="6940296" y="4169664"/>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Share of each ward against real IEBC totals</a:t>
            </a:r>
            <a:endParaRPr lang="en-US" sz="1250" dirty="0"/>
          </a:p>
        </p:txBody>
      </p:sp>
      <p:sp>
        <p:nvSpPr>
          <p:cNvPr id="24" name="Shape 21"/>
          <p:cNvSpPr/>
          <p:nvPr/>
        </p:nvSpPr>
        <p:spPr>
          <a:xfrm>
            <a:off x="6647688" y="4818888"/>
            <a:ext cx="109728" cy="109728"/>
          </a:xfrm>
          <a:prstGeom prst="diamond">
            <a:avLst/>
          </a:prstGeom>
          <a:solidFill>
            <a:srgbClr val="FFB066"/>
          </a:solidFill>
          <a:ln/>
        </p:spPr>
      </p:sp>
      <p:sp>
        <p:nvSpPr>
          <p:cNvPr id="25" name="Text 22"/>
          <p:cNvSpPr txBox="1"/>
          <p:nvPr/>
        </p:nvSpPr>
        <p:spPr>
          <a:xfrm>
            <a:off x="6940296" y="4736592"/>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Duplicates flagged before anyone else finds them</a:t>
            </a:r>
            <a:endParaRPr lang="en-US" sz="1250" dirty="0"/>
          </a:p>
        </p:txBody>
      </p:sp>
      <p:sp>
        <p:nvSpPr>
          <p:cNvPr id="26" name="Shape 23"/>
          <p:cNvSpPr/>
          <p:nvPr/>
        </p:nvSpPr>
        <p:spPr>
          <a:xfrm>
            <a:off x="6647688" y="5385816"/>
            <a:ext cx="109728" cy="109728"/>
          </a:xfrm>
          <a:prstGeom prst="diamond">
            <a:avLst/>
          </a:prstGeom>
          <a:solidFill>
            <a:srgbClr val="FFB066"/>
          </a:solidFill>
          <a:ln/>
        </p:spPr>
      </p:sp>
      <p:sp>
        <p:nvSpPr>
          <p:cNvPr id="27" name="Text 24"/>
          <p:cNvSpPr txBox="1"/>
          <p:nvPr/>
        </p:nvSpPr>
        <p:spPr>
          <a:xfrm>
            <a:off x="6940296" y="5303520"/>
            <a:ext cx="4233672" cy="365760"/>
          </a:xfrm>
          <a:prstGeom prst="rect">
            <a:avLst/>
          </a:prstGeom>
          <a:noFill/>
          <a:ln/>
        </p:spPr>
        <p:txBody>
          <a:bodyPr wrap="square" lIns="0" tIns="0" rIns="0" bIns="0" rtlCol="0" anchor="ctr"/>
          <a:lstStyle/>
          <a:p>
            <a:pPr indent="0" marL="0">
              <a:buNone/>
            </a:pPr>
            <a:r>
              <a:rPr lang="en-US" sz="1250" dirty="0">
                <a:solidFill>
                  <a:srgbClr val="B5C9BA"/>
                </a:solidFill>
                <a:latin typeface="Arial" pitchFamily="34" charset="0"/>
                <a:ea typeface="Arial" pitchFamily="34" charset="-122"/>
                <a:cs typeface="Arial" pitchFamily="34" charset="-120"/>
              </a:rPr>
              <a:t>A ready call list of people who offered to help</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25835"/>
        </a:solidFill>
      </p:bgPr>
    </p:bg>
    <p:spTree>
      <p:nvGrpSpPr>
        <p:cNvPr id="1" name=""/>
        <p:cNvGrpSpPr/>
        <p:nvPr/>
      </p:nvGrpSpPr>
      <p:grpSpPr>
        <a:xfrm>
          <a:off x="0" y="0"/>
          <a:ext cx="0" cy="0"/>
          <a:chOff x="0" y="0"/>
          <a:chExt cx="0" cy="0"/>
        </a:xfrm>
      </p:grpSpPr>
      <p:sp>
        <p:nvSpPr>
          <p:cNvPr id="2" name="Text 0">
            <a:hlinkClick r:id="rId1" tooltip="Back to the agenda" action="ppaction://hlinksldjump"/>
          </p:cNvPr>
          <p:cNvSpPr txBox="1"/>
          <p:nvPr/>
        </p:nvSpPr>
        <p:spPr>
          <a:xfrm>
            <a:off x="10817352" y="512064"/>
            <a:ext cx="777240" cy="274320"/>
          </a:xfrm>
          <a:prstGeom prst="rect">
            <a:avLst/>
          </a:prstGeom>
          <a:noFill/>
          <a:ln/>
        </p:spPr>
        <p:txBody>
          <a:bodyPr wrap="square" lIns="0" tIns="0" rIns="0" bIns="0" rtlCol="0" anchor="ctr"/>
          <a:lstStyle/>
          <a:p>
            <a:pPr algn="r" indent="0" marL="0">
              <a:buNone/>
            </a:pPr>
            <a:r>
              <a:rPr lang="en-US" sz="900" b="1" u="sng" spc="160" kern="0" dirty="0">
                <a:solidFill>
                  <a:srgbClr val="B5C9BA"/>
                </a:solidFill>
                <a:latin typeface="Arial" pitchFamily="34" charset="0"/>
                <a:ea typeface="Arial" pitchFamily="34" charset="-122"/>
                <a:cs typeface="Arial" pitchFamily="34" charset="-120"/>
                <a:hlinkClick r:id="rId1" action="ppaction://hlinksldjump" tooltip="Back to the agenda">
                  <a:extLst>
                    <a:ext uri="{A12FA001-AC4F-418D-AE19-62706E023703}">
                      <ahyp:hlinkClr xmlns:ahyp="http://schemas.microsoft.com/office/drawing/2018/hyperlinkcolor" val="tx"/>
                    </a:ext>
                  </a:extLst>
                </a:hlinkClick>
              </a:rPr>
              <a:t>MENU</a:t>
            </a:r>
            <a:endParaRPr lang="en-US" sz="900" dirty="0"/>
          </a:p>
        </p:txBody>
      </p:sp>
      <p:pic>
        <p:nvPicPr>
          <p:cNvPr id="3" name="Image 0" descr="ekusi-mark-opt.png">    </p:cNvPr>
          <p:cNvPicPr>
            <a:picLocks noChangeAspect="1"/>
          </p:cNvPicPr>
          <p:nvPr/>
        </p:nvPicPr>
        <p:blipFill>
          <a:blip r:embed="rId2"/>
          <a:stretch>
            <a:fillRect/>
          </a:stretch>
        </p:blipFill>
        <p:spPr>
          <a:xfrm>
            <a:off x="566928" y="347472"/>
            <a:ext cx="619029" cy="566928"/>
          </a:xfrm>
          <a:prstGeom prst="rect">
            <a:avLst/>
          </a:prstGeom>
        </p:spPr>
      </p:pic>
      <p:sp>
        <p:nvSpPr>
          <p:cNvPr id="4" name="Text 1"/>
          <p:cNvSpPr txBox="1"/>
          <p:nvPr/>
        </p:nvSpPr>
        <p:spPr>
          <a:xfrm>
            <a:off x="1350549" y="475488"/>
            <a:ext cx="7315200" cy="310896"/>
          </a:xfrm>
          <a:prstGeom prst="rect">
            <a:avLst/>
          </a:prstGeom>
          <a:noFill/>
          <a:ln/>
        </p:spPr>
        <p:txBody>
          <a:bodyPr wrap="square" lIns="0" tIns="0" rIns="0" bIns="0" rtlCol="0" anchor="ctr"/>
          <a:lstStyle/>
          <a:p>
            <a:pPr indent="0" marL="0">
              <a:buNone/>
            </a:pPr>
            <a:r>
              <a:rPr lang="en-US" sz="1100" b="1" spc="240" kern="0" dirty="0">
                <a:solidFill>
                  <a:srgbClr val="D6DAA7"/>
                </a:solidFill>
                <a:latin typeface="Arial" pitchFamily="34" charset="0"/>
                <a:ea typeface="Arial" pitchFamily="34" charset="-122"/>
                <a:cs typeface="Arial" pitchFamily="34" charset="-120"/>
              </a:rPr>
              <a:t>06  ·  THE FIRST 90 DAYS</a:t>
            </a:r>
            <a:endParaRPr lang="en-US" sz="1100" dirty="0"/>
          </a:p>
        </p:txBody>
      </p:sp>
      <p:sp>
        <p:nvSpPr>
          <p:cNvPr id="5" name="Text 2"/>
          <p:cNvSpPr txBox="1"/>
          <p:nvPr/>
        </p:nvSpPr>
        <p:spPr>
          <a:xfrm>
            <a:off x="566928" y="1024128"/>
            <a:ext cx="10058400" cy="868680"/>
          </a:xfrm>
          <a:prstGeom prst="rect">
            <a:avLst/>
          </a:prstGeom>
          <a:noFill/>
          <a:ln/>
        </p:spPr>
        <p:txBody>
          <a:bodyPr wrap="square" lIns="0" tIns="0" rIns="0" bIns="0" rtlCol="0" anchor="ctr"/>
          <a:lstStyle/>
          <a:p>
            <a:pPr indent="0" marL="0">
              <a:lnSpc>
                <a:spcPts val="3600"/>
              </a:lnSpc>
              <a:buNone/>
            </a:pPr>
            <a:r>
              <a:rPr lang="en-US" sz="3200" b="1" dirty="0">
                <a:solidFill>
                  <a:srgbClr val="F4F2EE"/>
                </a:solidFill>
                <a:latin typeface="Arial" pitchFamily="34" charset="0"/>
                <a:ea typeface="Arial" pitchFamily="34" charset="-122"/>
                <a:cs typeface="Arial" pitchFamily="34" charset="-120"/>
              </a:rPr>
              <a:t>Six steps, in this order.</a:t>
            </a:r>
            <a:endParaRPr lang="en-US" sz="3200" dirty="0"/>
          </a:p>
        </p:txBody>
      </p:sp>
      <p:sp>
        <p:nvSpPr>
          <p:cNvPr id="6" name="Text 3"/>
          <p:cNvSpPr txBox="1"/>
          <p:nvPr/>
        </p:nvSpPr>
        <p:spPr>
          <a:xfrm>
            <a:off x="566928" y="1920240"/>
            <a:ext cx="7315200" cy="310896"/>
          </a:xfrm>
          <a:prstGeom prst="rect">
            <a:avLst/>
          </a:prstGeom>
          <a:noFill/>
          <a:ln/>
        </p:spPr>
        <p:txBody>
          <a:bodyPr wrap="square" lIns="0" tIns="0" rIns="0" bIns="0" rtlCol="0" anchor="ctr"/>
          <a:lstStyle/>
          <a:p>
            <a:pPr indent="0" marL="0">
              <a:buNone/>
            </a:pPr>
            <a:r>
              <a:rPr lang="en-US" sz="1300" dirty="0">
                <a:solidFill>
                  <a:srgbClr val="D6DAA7"/>
                </a:solidFill>
                <a:latin typeface="Arial" pitchFamily="34" charset="0"/>
                <a:ea typeface="Arial" pitchFamily="34" charset="-122"/>
                <a:cs typeface="Arial" pitchFamily="34" charset="-120"/>
              </a:rPr>
              <a:t>Two of these have long waits we do not control, so they start on day one.</a:t>
            </a:r>
            <a:endParaRPr lang="en-US" sz="1300" dirty="0"/>
          </a:p>
        </p:txBody>
      </p:sp>
      <p:sp>
        <p:nvSpPr>
          <p:cNvPr id="7" name="Shape 4"/>
          <p:cNvSpPr/>
          <p:nvPr/>
        </p:nvSpPr>
        <p:spPr>
          <a:xfrm>
            <a:off x="566928" y="2468880"/>
            <a:ext cx="3584448" cy="1572768"/>
          </a:xfrm>
          <a:prstGeom prst="roundRect">
            <a:avLst>
              <a:gd name="adj" fmla="val 1744"/>
            </a:avLst>
          </a:prstGeom>
          <a:solidFill>
            <a:srgbClr val="013322"/>
          </a:solidFill>
          <a:ln w="9525">
            <a:solidFill>
              <a:srgbClr val="0A6E45"/>
            </a:solidFill>
            <a:prstDash val="solid"/>
          </a:ln>
        </p:spPr>
      </p:sp>
      <p:sp>
        <p:nvSpPr>
          <p:cNvPr id="8" name="Text 5"/>
          <p:cNvSpPr txBox="1"/>
          <p:nvPr/>
        </p:nvSpPr>
        <p:spPr>
          <a:xfrm>
            <a:off x="841248" y="2670048"/>
            <a:ext cx="457200" cy="274320"/>
          </a:xfrm>
          <a:prstGeom prst="rect">
            <a:avLst/>
          </a:prstGeom>
          <a:noFill/>
          <a:ln/>
        </p:spPr>
        <p:txBody>
          <a:bodyPr wrap="square" lIns="0" tIns="0" rIns="0" bIns="0" rtlCol="0" anchor="ctr"/>
          <a:lstStyle/>
          <a:p>
            <a:pPr indent="0" marL="0">
              <a:buNone/>
            </a:pPr>
            <a:r>
              <a:rPr lang="en-US" sz="1150" b="1" spc="100" kern="0" dirty="0">
                <a:solidFill>
                  <a:srgbClr val="FFB066"/>
                </a:solidFill>
                <a:latin typeface="Arial" pitchFamily="34" charset="0"/>
                <a:ea typeface="Arial" pitchFamily="34" charset="-122"/>
                <a:cs typeface="Arial" pitchFamily="34" charset="-120"/>
              </a:rPr>
              <a:t>01</a:t>
            </a:r>
            <a:endParaRPr lang="en-US" sz="1150" dirty="0"/>
          </a:p>
        </p:txBody>
      </p:sp>
      <p:sp>
        <p:nvSpPr>
          <p:cNvPr id="9" name="Text 6"/>
          <p:cNvSpPr txBox="1"/>
          <p:nvPr/>
        </p:nvSpPr>
        <p:spPr>
          <a:xfrm>
            <a:off x="2688336" y="2670048"/>
            <a:ext cx="1188720" cy="274320"/>
          </a:xfrm>
          <a:prstGeom prst="rect">
            <a:avLst/>
          </a:prstGeom>
          <a:noFill/>
          <a:ln/>
        </p:spPr>
        <p:txBody>
          <a:bodyPr wrap="square" lIns="0" tIns="0" rIns="0" bIns="0" rtlCol="0" anchor="ctr"/>
          <a:lstStyle/>
          <a:p>
            <a:pPr algn="r" indent="0" marL="0">
              <a:buNone/>
            </a:pPr>
            <a:r>
              <a:rPr lang="en-US" sz="1000" b="1" spc="100" kern="0" dirty="0">
                <a:solidFill>
                  <a:srgbClr val="D6DAA7"/>
                </a:solidFill>
                <a:latin typeface="Arial" pitchFamily="34" charset="0"/>
                <a:ea typeface="Arial" pitchFamily="34" charset="-122"/>
                <a:cs typeface="Arial" pitchFamily="34" charset="-120"/>
              </a:rPr>
              <a:t>Week 1</a:t>
            </a:r>
            <a:endParaRPr lang="en-US" sz="1000" dirty="0"/>
          </a:p>
        </p:txBody>
      </p:sp>
      <p:sp>
        <p:nvSpPr>
          <p:cNvPr id="10" name="Text 7"/>
          <p:cNvSpPr txBox="1"/>
          <p:nvPr/>
        </p:nvSpPr>
        <p:spPr>
          <a:xfrm>
            <a:off x="841248" y="2980944"/>
            <a:ext cx="3035808" cy="310896"/>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Shortcode paperwork</a:t>
            </a:r>
            <a:endParaRPr lang="en-US" sz="1450" dirty="0"/>
          </a:p>
        </p:txBody>
      </p:sp>
      <p:sp>
        <p:nvSpPr>
          <p:cNvPr id="11" name="Text 8"/>
          <p:cNvSpPr txBox="1"/>
          <p:nvPr/>
        </p:nvSpPr>
        <p:spPr>
          <a:xfrm>
            <a:off x="841248" y="3310128"/>
            <a:ext cx="3035808" cy="603504"/>
          </a:xfrm>
          <a:prstGeom prst="rect">
            <a:avLst/>
          </a:prstGeom>
          <a:noFill/>
          <a:ln/>
        </p:spPr>
        <p:txBody>
          <a:bodyPr wrap="square" lIns="0" tIns="0" rIns="0" bIns="0" rtlCol="0" anchor="ctr"/>
          <a:lstStyle/>
          <a:p>
            <a:pPr indent="0" marL="0">
              <a:lnSpc>
                <a:spcPts val="1400"/>
              </a:lnSpc>
              <a:buNone/>
            </a:pPr>
            <a:r>
              <a:rPr lang="en-US" sz="1050" dirty="0">
                <a:solidFill>
                  <a:srgbClr val="B5C9BA"/>
                </a:solidFill>
                <a:latin typeface="Arial" pitchFamily="34" charset="0"/>
                <a:ea typeface="Arial" pitchFamily="34" charset="-122"/>
                <a:cs typeface="Arial" pitchFamily="34" charset="-120"/>
              </a:rPr>
              <a:t>Africa's Talking, then Communications Authority approval. The longest wait of the lot, and nothing speeds it up later.</a:t>
            </a:r>
            <a:endParaRPr lang="en-US" sz="1050" dirty="0"/>
          </a:p>
        </p:txBody>
      </p:sp>
      <p:sp>
        <p:nvSpPr>
          <p:cNvPr id="12" name="Shape 9"/>
          <p:cNvSpPr/>
          <p:nvPr/>
        </p:nvSpPr>
        <p:spPr>
          <a:xfrm>
            <a:off x="4370832" y="2468880"/>
            <a:ext cx="3584448" cy="1572768"/>
          </a:xfrm>
          <a:prstGeom prst="roundRect">
            <a:avLst>
              <a:gd name="adj" fmla="val 1744"/>
            </a:avLst>
          </a:prstGeom>
          <a:solidFill>
            <a:srgbClr val="013322"/>
          </a:solidFill>
          <a:ln w="9525">
            <a:solidFill>
              <a:srgbClr val="0A6E45"/>
            </a:solidFill>
            <a:prstDash val="solid"/>
          </a:ln>
        </p:spPr>
      </p:sp>
      <p:sp>
        <p:nvSpPr>
          <p:cNvPr id="13" name="Text 10"/>
          <p:cNvSpPr txBox="1"/>
          <p:nvPr/>
        </p:nvSpPr>
        <p:spPr>
          <a:xfrm>
            <a:off x="4645152" y="2670048"/>
            <a:ext cx="457200" cy="274320"/>
          </a:xfrm>
          <a:prstGeom prst="rect">
            <a:avLst/>
          </a:prstGeom>
          <a:noFill/>
          <a:ln/>
        </p:spPr>
        <p:txBody>
          <a:bodyPr wrap="square" lIns="0" tIns="0" rIns="0" bIns="0" rtlCol="0" anchor="ctr"/>
          <a:lstStyle/>
          <a:p>
            <a:pPr indent="0" marL="0">
              <a:buNone/>
            </a:pPr>
            <a:r>
              <a:rPr lang="en-US" sz="1150" b="1" spc="100" kern="0" dirty="0">
                <a:solidFill>
                  <a:srgbClr val="FFB066"/>
                </a:solidFill>
                <a:latin typeface="Arial" pitchFamily="34" charset="0"/>
                <a:ea typeface="Arial" pitchFamily="34" charset="-122"/>
                <a:cs typeface="Arial" pitchFamily="34" charset="-120"/>
              </a:rPr>
              <a:t>02</a:t>
            </a:r>
            <a:endParaRPr lang="en-US" sz="1150" dirty="0"/>
          </a:p>
        </p:txBody>
      </p:sp>
      <p:sp>
        <p:nvSpPr>
          <p:cNvPr id="14" name="Text 11"/>
          <p:cNvSpPr txBox="1"/>
          <p:nvPr/>
        </p:nvSpPr>
        <p:spPr>
          <a:xfrm>
            <a:off x="6492240" y="2670048"/>
            <a:ext cx="1188720" cy="274320"/>
          </a:xfrm>
          <a:prstGeom prst="rect">
            <a:avLst/>
          </a:prstGeom>
          <a:noFill/>
          <a:ln/>
        </p:spPr>
        <p:txBody>
          <a:bodyPr wrap="square" lIns="0" tIns="0" rIns="0" bIns="0" rtlCol="0" anchor="ctr"/>
          <a:lstStyle/>
          <a:p>
            <a:pPr algn="r" indent="0" marL="0">
              <a:buNone/>
            </a:pPr>
            <a:r>
              <a:rPr lang="en-US" sz="1000" b="1" spc="100" kern="0" dirty="0">
                <a:solidFill>
                  <a:srgbClr val="D6DAA7"/>
                </a:solidFill>
                <a:latin typeface="Arial" pitchFamily="34" charset="0"/>
                <a:ea typeface="Arial" pitchFamily="34" charset="-122"/>
                <a:cs typeface="Arial" pitchFamily="34" charset="-120"/>
              </a:rPr>
              <a:t>Week 1 to 2</a:t>
            </a:r>
            <a:endParaRPr lang="en-US" sz="1000" dirty="0"/>
          </a:p>
        </p:txBody>
      </p:sp>
      <p:sp>
        <p:nvSpPr>
          <p:cNvPr id="15" name="Text 12"/>
          <p:cNvSpPr txBox="1"/>
          <p:nvPr/>
        </p:nvSpPr>
        <p:spPr>
          <a:xfrm>
            <a:off x="4645152" y="2980944"/>
            <a:ext cx="3035808" cy="310896"/>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Register as a controller</a:t>
            </a:r>
            <a:endParaRPr lang="en-US" sz="1450" dirty="0"/>
          </a:p>
        </p:txBody>
      </p:sp>
      <p:sp>
        <p:nvSpPr>
          <p:cNvPr id="16" name="Text 13"/>
          <p:cNvSpPr txBox="1"/>
          <p:nvPr/>
        </p:nvSpPr>
        <p:spPr>
          <a:xfrm>
            <a:off x="4645152" y="3310128"/>
            <a:ext cx="3035808" cy="603504"/>
          </a:xfrm>
          <a:prstGeom prst="rect">
            <a:avLst/>
          </a:prstGeom>
          <a:noFill/>
          <a:ln/>
        </p:spPr>
        <p:txBody>
          <a:bodyPr wrap="square" lIns="0" tIns="0" rIns="0" bIns="0" rtlCol="0" anchor="ctr"/>
          <a:lstStyle/>
          <a:p>
            <a:pPr indent="0" marL="0">
              <a:lnSpc>
                <a:spcPts val="1400"/>
              </a:lnSpc>
              <a:buNone/>
            </a:pPr>
            <a:r>
              <a:rPr lang="en-US" sz="1050" dirty="0">
                <a:solidFill>
                  <a:srgbClr val="B5C9BA"/>
                </a:solidFill>
                <a:latin typeface="Arial" pitchFamily="34" charset="0"/>
                <a:ea typeface="Arial" pitchFamily="34" charset="-122"/>
                <a:cs typeface="Arial" pitchFamily="34" charset="-120"/>
              </a:rPr>
              <a:t>With the Office of the Data Protection Commissioner. Not registering is itself an offence.</a:t>
            </a:r>
            <a:endParaRPr lang="en-US" sz="1050" dirty="0"/>
          </a:p>
        </p:txBody>
      </p:sp>
      <p:sp>
        <p:nvSpPr>
          <p:cNvPr id="17" name="Shape 14"/>
          <p:cNvSpPr/>
          <p:nvPr/>
        </p:nvSpPr>
        <p:spPr>
          <a:xfrm>
            <a:off x="8174736" y="2468880"/>
            <a:ext cx="3584448" cy="1572768"/>
          </a:xfrm>
          <a:prstGeom prst="roundRect">
            <a:avLst>
              <a:gd name="adj" fmla="val 1744"/>
            </a:avLst>
          </a:prstGeom>
          <a:solidFill>
            <a:srgbClr val="013322"/>
          </a:solidFill>
          <a:ln w="9525">
            <a:solidFill>
              <a:srgbClr val="0A6E45"/>
            </a:solidFill>
            <a:prstDash val="solid"/>
          </a:ln>
        </p:spPr>
      </p:sp>
      <p:sp>
        <p:nvSpPr>
          <p:cNvPr id="18" name="Text 15"/>
          <p:cNvSpPr txBox="1"/>
          <p:nvPr/>
        </p:nvSpPr>
        <p:spPr>
          <a:xfrm>
            <a:off x="8449056" y="2670048"/>
            <a:ext cx="457200" cy="274320"/>
          </a:xfrm>
          <a:prstGeom prst="rect">
            <a:avLst/>
          </a:prstGeom>
          <a:noFill/>
          <a:ln/>
        </p:spPr>
        <p:txBody>
          <a:bodyPr wrap="square" lIns="0" tIns="0" rIns="0" bIns="0" rtlCol="0" anchor="ctr"/>
          <a:lstStyle/>
          <a:p>
            <a:pPr indent="0" marL="0">
              <a:buNone/>
            </a:pPr>
            <a:r>
              <a:rPr lang="en-US" sz="1150" b="1" spc="100" kern="0" dirty="0">
                <a:solidFill>
                  <a:srgbClr val="FFB066"/>
                </a:solidFill>
                <a:latin typeface="Arial" pitchFamily="34" charset="0"/>
                <a:ea typeface="Arial" pitchFamily="34" charset="-122"/>
                <a:cs typeface="Arial" pitchFamily="34" charset="-120"/>
              </a:rPr>
              <a:t>03</a:t>
            </a:r>
            <a:endParaRPr lang="en-US" sz="1150" dirty="0"/>
          </a:p>
        </p:txBody>
      </p:sp>
      <p:sp>
        <p:nvSpPr>
          <p:cNvPr id="19" name="Text 16"/>
          <p:cNvSpPr txBox="1"/>
          <p:nvPr/>
        </p:nvSpPr>
        <p:spPr>
          <a:xfrm>
            <a:off x="10296144" y="2670048"/>
            <a:ext cx="1188720" cy="274320"/>
          </a:xfrm>
          <a:prstGeom prst="rect">
            <a:avLst/>
          </a:prstGeom>
          <a:noFill/>
          <a:ln/>
        </p:spPr>
        <p:txBody>
          <a:bodyPr wrap="square" lIns="0" tIns="0" rIns="0" bIns="0" rtlCol="0" anchor="ctr"/>
          <a:lstStyle/>
          <a:p>
            <a:pPr algn="r" indent="0" marL="0">
              <a:buNone/>
            </a:pPr>
            <a:r>
              <a:rPr lang="en-US" sz="1000" b="1" spc="100" kern="0" dirty="0">
                <a:solidFill>
                  <a:srgbClr val="D6DAA7"/>
                </a:solidFill>
                <a:latin typeface="Arial" pitchFamily="34" charset="0"/>
                <a:ea typeface="Arial" pitchFamily="34" charset="-122"/>
                <a:cs typeface="Arial" pitchFamily="34" charset="-120"/>
              </a:rPr>
              <a:t>Week 2</a:t>
            </a:r>
            <a:endParaRPr lang="en-US" sz="1000" dirty="0"/>
          </a:p>
        </p:txBody>
      </p:sp>
      <p:sp>
        <p:nvSpPr>
          <p:cNvPr id="20" name="Text 17"/>
          <p:cNvSpPr txBox="1"/>
          <p:nvPr/>
        </p:nvSpPr>
        <p:spPr>
          <a:xfrm>
            <a:off x="8449056" y="2980944"/>
            <a:ext cx="3035808" cy="310896"/>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Sign off the promises</a:t>
            </a:r>
            <a:endParaRPr lang="en-US" sz="1450" dirty="0"/>
          </a:p>
        </p:txBody>
      </p:sp>
      <p:sp>
        <p:nvSpPr>
          <p:cNvPr id="21" name="Text 18"/>
          <p:cNvSpPr txBox="1"/>
          <p:nvPr/>
        </p:nvSpPr>
        <p:spPr>
          <a:xfrm>
            <a:off x="8449056" y="3310128"/>
            <a:ext cx="3035808" cy="603504"/>
          </a:xfrm>
          <a:prstGeom prst="rect">
            <a:avLst/>
          </a:prstGeom>
          <a:noFill/>
          <a:ln/>
        </p:spPr>
        <p:txBody>
          <a:bodyPr wrap="square" lIns="0" tIns="0" rIns="0" bIns="0" rtlCol="0" anchor="ctr"/>
          <a:lstStyle/>
          <a:p>
            <a:pPr indent="0" marL="0">
              <a:lnSpc>
                <a:spcPts val="1400"/>
              </a:lnSpc>
              <a:buNone/>
            </a:pPr>
            <a:r>
              <a:rPr lang="en-US" sz="1050" dirty="0">
                <a:solidFill>
                  <a:srgbClr val="B5C9BA"/>
                </a:solidFill>
                <a:latin typeface="Arial" pitchFamily="34" charset="0"/>
                <a:ea typeface="Arial" pitchFamily="34" charset="-122"/>
                <a:cs typeface="Arial" pitchFamily="34" charset="-120"/>
              </a:rPr>
              <a:t>Everything on the site has to sit inside what a senator can actually deliver.</a:t>
            </a:r>
            <a:endParaRPr lang="en-US" sz="1050" dirty="0"/>
          </a:p>
        </p:txBody>
      </p:sp>
      <p:sp>
        <p:nvSpPr>
          <p:cNvPr id="22" name="Shape 19"/>
          <p:cNvSpPr/>
          <p:nvPr/>
        </p:nvSpPr>
        <p:spPr>
          <a:xfrm>
            <a:off x="566928" y="4279392"/>
            <a:ext cx="3584448" cy="1572768"/>
          </a:xfrm>
          <a:prstGeom prst="roundRect">
            <a:avLst>
              <a:gd name="adj" fmla="val 1744"/>
            </a:avLst>
          </a:prstGeom>
          <a:solidFill>
            <a:srgbClr val="01412A"/>
          </a:solidFill>
          <a:ln w="9525">
            <a:solidFill>
              <a:srgbClr val="0A6E45"/>
            </a:solidFill>
            <a:prstDash val="solid"/>
          </a:ln>
        </p:spPr>
      </p:sp>
      <p:sp>
        <p:nvSpPr>
          <p:cNvPr id="23" name="Text 20"/>
          <p:cNvSpPr txBox="1"/>
          <p:nvPr/>
        </p:nvSpPr>
        <p:spPr>
          <a:xfrm>
            <a:off x="841248" y="4480560"/>
            <a:ext cx="457200" cy="274320"/>
          </a:xfrm>
          <a:prstGeom prst="rect">
            <a:avLst/>
          </a:prstGeom>
          <a:noFill/>
          <a:ln/>
        </p:spPr>
        <p:txBody>
          <a:bodyPr wrap="square" lIns="0" tIns="0" rIns="0" bIns="0" rtlCol="0" anchor="ctr"/>
          <a:lstStyle/>
          <a:p>
            <a:pPr indent="0" marL="0">
              <a:buNone/>
            </a:pPr>
            <a:r>
              <a:rPr lang="en-US" sz="1150" b="1" spc="100" kern="0" dirty="0">
                <a:solidFill>
                  <a:srgbClr val="FFB066"/>
                </a:solidFill>
                <a:latin typeface="Arial" pitchFamily="34" charset="0"/>
                <a:ea typeface="Arial" pitchFamily="34" charset="-122"/>
                <a:cs typeface="Arial" pitchFamily="34" charset="-120"/>
              </a:rPr>
              <a:t>04</a:t>
            </a:r>
            <a:endParaRPr lang="en-US" sz="1150" dirty="0"/>
          </a:p>
        </p:txBody>
      </p:sp>
      <p:sp>
        <p:nvSpPr>
          <p:cNvPr id="24" name="Text 21"/>
          <p:cNvSpPr txBox="1"/>
          <p:nvPr/>
        </p:nvSpPr>
        <p:spPr>
          <a:xfrm>
            <a:off x="2688336" y="4480560"/>
            <a:ext cx="1188720" cy="274320"/>
          </a:xfrm>
          <a:prstGeom prst="rect">
            <a:avLst/>
          </a:prstGeom>
          <a:noFill/>
          <a:ln/>
        </p:spPr>
        <p:txBody>
          <a:bodyPr wrap="square" lIns="0" tIns="0" rIns="0" bIns="0" rtlCol="0" anchor="ctr"/>
          <a:lstStyle/>
          <a:p>
            <a:pPr algn="r" indent="0" marL="0">
              <a:buNone/>
            </a:pPr>
            <a:r>
              <a:rPr lang="en-US" sz="1000" b="1" spc="100" kern="0" dirty="0">
                <a:solidFill>
                  <a:srgbClr val="D6DAA7"/>
                </a:solidFill>
                <a:latin typeface="Arial" pitchFamily="34" charset="0"/>
                <a:ea typeface="Arial" pitchFamily="34" charset="-122"/>
                <a:cs typeface="Arial" pitchFamily="34" charset="-120"/>
              </a:rPr>
              <a:t>Week 3 to 5</a:t>
            </a:r>
            <a:endParaRPr lang="en-US" sz="1000" dirty="0"/>
          </a:p>
        </p:txBody>
      </p:sp>
      <p:sp>
        <p:nvSpPr>
          <p:cNvPr id="25" name="Text 22"/>
          <p:cNvSpPr txBox="1"/>
          <p:nvPr/>
        </p:nvSpPr>
        <p:spPr>
          <a:xfrm>
            <a:off x="841248" y="4791456"/>
            <a:ext cx="3035808" cy="310896"/>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Launch three wards</a:t>
            </a:r>
            <a:endParaRPr lang="en-US" sz="1450" dirty="0"/>
          </a:p>
        </p:txBody>
      </p:sp>
      <p:sp>
        <p:nvSpPr>
          <p:cNvPr id="26" name="Text 23"/>
          <p:cNvSpPr txBox="1"/>
          <p:nvPr/>
        </p:nvSpPr>
        <p:spPr>
          <a:xfrm>
            <a:off x="841248" y="5120640"/>
            <a:ext cx="3035808" cy="603504"/>
          </a:xfrm>
          <a:prstGeom prst="rect">
            <a:avLst/>
          </a:prstGeom>
          <a:noFill/>
          <a:ln/>
        </p:spPr>
        <p:txBody>
          <a:bodyPr wrap="square" lIns="0" tIns="0" rIns="0" bIns="0" rtlCol="0" anchor="ctr"/>
          <a:lstStyle/>
          <a:p>
            <a:pPr indent="0" marL="0">
              <a:lnSpc>
                <a:spcPts val="1400"/>
              </a:lnSpc>
              <a:buNone/>
            </a:pPr>
            <a:r>
              <a:rPr lang="en-US" sz="1050" dirty="0">
                <a:solidFill>
                  <a:srgbClr val="B5C9BA"/>
                </a:solidFill>
                <a:latin typeface="Arial" pitchFamily="34" charset="0"/>
                <a:ea typeface="Arial" pitchFamily="34" charset="-122"/>
                <a:cs typeface="Arial" pitchFamily="34" charset="-120"/>
              </a:rPr>
              <a:t>Lodwar, Kanamkemer and Kakuma. Real numbers replace our assumptions.</a:t>
            </a:r>
            <a:endParaRPr lang="en-US" sz="1050" dirty="0"/>
          </a:p>
        </p:txBody>
      </p:sp>
      <p:sp>
        <p:nvSpPr>
          <p:cNvPr id="27" name="Shape 24"/>
          <p:cNvSpPr/>
          <p:nvPr/>
        </p:nvSpPr>
        <p:spPr>
          <a:xfrm>
            <a:off x="4370832" y="4279392"/>
            <a:ext cx="3584448" cy="1572768"/>
          </a:xfrm>
          <a:prstGeom prst="roundRect">
            <a:avLst>
              <a:gd name="adj" fmla="val 1744"/>
            </a:avLst>
          </a:prstGeom>
          <a:solidFill>
            <a:srgbClr val="01412A"/>
          </a:solidFill>
          <a:ln w="9525">
            <a:solidFill>
              <a:srgbClr val="0A6E45"/>
            </a:solidFill>
            <a:prstDash val="solid"/>
          </a:ln>
        </p:spPr>
      </p:sp>
      <p:sp>
        <p:nvSpPr>
          <p:cNvPr id="28" name="Text 25"/>
          <p:cNvSpPr txBox="1"/>
          <p:nvPr/>
        </p:nvSpPr>
        <p:spPr>
          <a:xfrm>
            <a:off x="4645152" y="4480560"/>
            <a:ext cx="457200" cy="274320"/>
          </a:xfrm>
          <a:prstGeom prst="rect">
            <a:avLst/>
          </a:prstGeom>
          <a:noFill/>
          <a:ln/>
        </p:spPr>
        <p:txBody>
          <a:bodyPr wrap="square" lIns="0" tIns="0" rIns="0" bIns="0" rtlCol="0" anchor="ctr"/>
          <a:lstStyle/>
          <a:p>
            <a:pPr indent="0" marL="0">
              <a:buNone/>
            </a:pPr>
            <a:r>
              <a:rPr lang="en-US" sz="1150" b="1" spc="100" kern="0" dirty="0">
                <a:solidFill>
                  <a:srgbClr val="FFB066"/>
                </a:solidFill>
                <a:latin typeface="Arial" pitchFamily="34" charset="0"/>
                <a:ea typeface="Arial" pitchFamily="34" charset="-122"/>
                <a:cs typeface="Arial" pitchFamily="34" charset="-120"/>
              </a:rPr>
              <a:t>05</a:t>
            </a:r>
            <a:endParaRPr lang="en-US" sz="1150" dirty="0"/>
          </a:p>
        </p:txBody>
      </p:sp>
      <p:sp>
        <p:nvSpPr>
          <p:cNvPr id="29" name="Text 26"/>
          <p:cNvSpPr txBox="1"/>
          <p:nvPr/>
        </p:nvSpPr>
        <p:spPr>
          <a:xfrm>
            <a:off x="6492240" y="4480560"/>
            <a:ext cx="1188720" cy="274320"/>
          </a:xfrm>
          <a:prstGeom prst="rect">
            <a:avLst/>
          </a:prstGeom>
          <a:noFill/>
          <a:ln/>
        </p:spPr>
        <p:txBody>
          <a:bodyPr wrap="square" lIns="0" tIns="0" rIns="0" bIns="0" rtlCol="0" anchor="ctr"/>
          <a:lstStyle/>
          <a:p>
            <a:pPr algn="r" indent="0" marL="0">
              <a:buNone/>
            </a:pPr>
            <a:r>
              <a:rPr lang="en-US" sz="1000" b="1" spc="100" kern="0" dirty="0">
                <a:solidFill>
                  <a:srgbClr val="D6DAA7"/>
                </a:solidFill>
                <a:latin typeface="Arial" pitchFamily="34" charset="0"/>
                <a:ea typeface="Arial" pitchFamily="34" charset="-122"/>
                <a:cs typeface="Arial" pitchFamily="34" charset="-120"/>
              </a:rPr>
              <a:t>Week 4 to 9</a:t>
            </a:r>
            <a:endParaRPr lang="en-US" sz="1000" dirty="0"/>
          </a:p>
        </p:txBody>
      </p:sp>
      <p:sp>
        <p:nvSpPr>
          <p:cNvPr id="30" name="Text 27"/>
          <p:cNvSpPr txBox="1"/>
          <p:nvPr/>
        </p:nvSpPr>
        <p:spPr>
          <a:xfrm>
            <a:off x="4645152" y="4791456"/>
            <a:ext cx="3035808" cy="310896"/>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Recruit ward agents</a:t>
            </a:r>
            <a:endParaRPr lang="en-US" sz="1450" dirty="0"/>
          </a:p>
        </p:txBody>
      </p:sp>
      <p:sp>
        <p:nvSpPr>
          <p:cNvPr id="31" name="Text 28"/>
          <p:cNvSpPr txBox="1"/>
          <p:nvPr/>
        </p:nvSpPr>
        <p:spPr>
          <a:xfrm>
            <a:off x="4645152" y="5120640"/>
            <a:ext cx="3035808" cy="603504"/>
          </a:xfrm>
          <a:prstGeom prst="rect">
            <a:avLst/>
          </a:prstGeom>
          <a:noFill/>
          <a:ln/>
        </p:spPr>
        <p:txBody>
          <a:bodyPr wrap="square" lIns="0" tIns="0" rIns="0" bIns="0" rtlCol="0" anchor="ctr"/>
          <a:lstStyle/>
          <a:p>
            <a:pPr indent="0" marL="0">
              <a:lnSpc>
                <a:spcPts val="1400"/>
              </a:lnSpc>
              <a:buNone/>
            </a:pPr>
            <a:r>
              <a:rPr lang="en-US" sz="1050" dirty="0">
                <a:solidFill>
                  <a:srgbClr val="B5C9BA"/>
                </a:solidFill>
                <a:latin typeface="Arial" pitchFamily="34" charset="0"/>
                <a:ea typeface="Arial" pitchFamily="34" charset="-122"/>
                <a:cs typeface="Arial" pitchFamily="34" charset="-120"/>
              </a:rPr>
              <a:t>From people who already volunteered, in the ward they live in.</a:t>
            </a:r>
            <a:endParaRPr lang="en-US" sz="1050" dirty="0"/>
          </a:p>
        </p:txBody>
      </p:sp>
      <p:sp>
        <p:nvSpPr>
          <p:cNvPr id="32" name="Shape 29"/>
          <p:cNvSpPr/>
          <p:nvPr/>
        </p:nvSpPr>
        <p:spPr>
          <a:xfrm>
            <a:off x="8174736" y="4279392"/>
            <a:ext cx="3584448" cy="1572768"/>
          </a:xfrm>
          <a:prstGeom prst="roundRect">
            <a:avLst>
              <a:gd name="adj" fmla="val 1744"/>
            </a:avLst>
          </a:prstGeom>
          <a:solidFill>
            <a:srgbClr val="01412A"/>
          </a:solidFill>
          <a:ln w="9525">
            <a:solidFill>
              <a:srgbClr val="0A6E45"/>
            </a:solidFill>
            <a:prstDash val="solid"/>
          </a:ln>
        </p:spPr>
      </p:sp>
      <p:sp>
        <p:nvSpPr>
          <p:cNvPr id="33" name="Text 30"/>
          <p:cNvSpPr txBox="1"/>
          <p:nvPr/>
        </p:nvSpPr>
        <p:spPr>
          <a:xfrm>
            <a:off x="8449056" y="4480560"/>
            <a:ext cx="457200" cy="274320"/>
          </a:xfrm>
          <a:prstGeom prst="rect">
            <a:avLst/>
          </a:prstGeom>
          <a:noFill/>
          <a:ln/>
        </p:spPr>
        <p:txBody>
          <a:bodyPr wrap="square" lIns="0" tIns="0" rIns="0" bIns="0" rtlCol="0" anchor="ctr"/>
          <a:lstStyle/>
          <a:p>
            <a:pPr indent="0" marL="0">
              <a:buNone/>
            </a:pPr>
            <a:r>
              <a:rPr lang="en-US" sz="1150" b="1" spc="100" kern="0" dirty="0">
                <a:solidFill>
                  <a:srgbClr val="FFB066"/>
                </a:solidFill>
                <a:latin typeface="Arial" pitchFamily="34" charset="0"/>
                <a:ea typeface="Arial" pitchFamily="34" charset="-122"/>
                <a:cs typeface="Arial" pitchFamily="34" charset="-120"/>
              </a:rPr>
              <a:t>06</a:t>
            </a:r>
            <a:endParaRPr lang="en-US" sz="1150" dirty="0"/>
          </a:p>
        </p:txBody>
      </p:sp>
      <p:sp>
        <p:nvSpPr>
          <p:cNvPr id="34" name="Text 31"/>
          <p:cNvSpPr txBox="1"/>
          <p:nvPr/>
        </p:nvSpPr>
        <p:spPr>
          <a:xfrm>
            <a:off x="10296144" y="4480560"/>
            <a:ext cx="1188720" cy="274320"/>
          </a:xfrm>
          <a:prstGeom prst="rect">
            <a:avLst/>
          </a:prstGeom>
          <a:noFill/>
          <a:ln/>
        </p:spPr>
        <p:txBody>
          <a:bodyPr wrap="square" lIns="0" tIns="0" rIns="0" bIns="0" rtlCol="0" anchor="ctr"/>
          <a:lstStyle/>
          <a:p>
            <a:pPr algn="r" indent="0" marL="0">
              <a:buNone/>
            </a:pPr>
            <a:r>
              <a:rPr lang="en-US" sz="1000" b="1" spc="100" kern="0" dirty="0">
                <a:solidFill>
                  <a:srgbClr val="D6DAA7"/>
                </a:solidFill>
                <a:latin typeface="Arial" pitchFamily="34" charset="0"/>
                <a:ea typeface="Arial" pitchFamily="34" charset="-122"/>
                <a:cs typeface="Arial" pitchFamily="34" charset="-120"/>
              </a:rPr>
              <a:t>Week 6 to 13</a:t>
            </a:r>
            <a:endParaRPr lang="en-US" sz="1000" dirty="0"/>
          </a:p>
        </p:txBody>
      </p:sp>
      <p:sp>
        <p:nvSpPr>
          <p:cNvPr id="35" name="Text 32"/>
          <p:cNvSpPr txBox="1"/>
          <p:nvPr/>
        </p:nvSpPr>
        <p:spPr>
          <a:xfrm>
            <a:off x="8449056" y="4791456"/>
            <a:ext cx="3035808" cy="310896"/>
          </a:xfrm>
          <a:prstGeom prst="rect">
            <a:avLst/>
          </a:prstGeom>
          <a:noFill/>
          <a:ln/>
        </p:spPr>
        <p:txBody>
          <a:bodyPr wrap="square" lIns="0" tIns="0" rIns="0" bIns="0" rtlCol="0" anchor="ctr"/>
          <a:lstStyle/>
          <a:p>
            <a:pPr indent="0" marL="0">
              <a:buNone/>
            </a:pPr>
            <a:r>
              <a:rPr lang="en-US" sz="1450" b="1" dirty="0">
                <a:solidFill>
                  <a:srgbClr val="F4F2EE"/>
                </a:solidFill>
                <a:latin typeface="Arial" pitchFamily="34" charset="0"/>
                <a:ea typeface="Arial" pitchFamily="34" charset="-122"/>
                <a:cs typeface="Arial" pitchFamily="34" charset="-120"/>
              </a:rPr>
              <a:t>Open the north</a:t>
            </a:r>
            <a:endParaRPr lang="en-US" sz="1450" dirty="0"/>
          </a:p>
        </p:txBody>
      </p:sp>
      <p:sp>
        <p:nvSpPr>
          <p:cNvPr id="36" name="Text 33"/>
          <p:cNvSpPr txBox="1"/>
          <p:nvPr/>
        </p:nvSpPr>
        <p:spPr>
          <a:xfrm>
            <a:off x="8449056" y="5120640"/>
            <a:ext cx="3035808" cy="603504"/>
          </a:xfrm>
          <a:prstGeom prst="rect">
            <a:avLst/>
          </a:prstGeom>
          <a:noFill/>
          <a:ln/>
        </p:spPr>
        <p:txBody>
          <a:bodyPr wrap="square" lIns="0" tIns="0" rIns="0" bIns="0" rtlCol="0" anchor="ctr"/>
          <a:lstStyle/>
          <a:p>
            <a:pPr indent="0" marL="0">
              <a:lnSpc>
                <a:spcPts val="1400"/>
              </a:lnSpc>
              <a:buNone/>
            </a:pPr>
            <a:r>
              <a:rPr lang="en-US" sz="1050" dirty="0">
                <a:solidFill>
                  <a:srgbClr val="B5C9BA"/>
                </a:solidFill>
                <a:latin typeface="Arial" pitchFamily="34" charset="0"/>
                <a:ea typeface="Arial" pitchFamily="34" charset="-122"/>
                <a:cs typeface="Arial" pitchFamily="34" charset="-120"/>
              </a:rPr>
              <a:t>Kibish, Lapur, Nanaam and Loima, by USSD and baraza rather than by advert.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5835"/>
        </a:solidFill>
      </p:bgPr>
    </p:bg>
    <p:spTree>
      <p:nvGrpSpPr>
        <p:cNvPr id="1" name=""/>
        <p:cNvGrpSpPr/>
        <p:nvPr/>
      </p:nvGrpSpPr>
      <p:grpSpPr>
        <a:xfrm>
          <a:off x="0" y="0"/>
          <a:ext cx="0" cy="0"/>
          <a:chOff x="0" y="0"/>
          <a:chExt cx="0" cy="0"/>
        </a:xfrm>
      </p:grpSpPr>
      <p:pic>
        <p:nvPicPr>
          <p:cNvPr id="2" name="Image 0" descr="ekusi-mark-opt.png">    </p:cNvPr>
          <p:cNvPicPr>
            <a:picLocks noChangeAspect="1"/>
          </p:cNvPicPr>
          <p:nvPr/>
        </p:nvPicPr>
        <p:blipFill>
          <a:blip r:embed="rId1"/>
          <a:stretch>
            <a:fillRect/>
          </a:stretch>
        </p:blipFill>
        <p:spPr>
          <a:xfrm>
            <a:off x="8732520" y="2148840"/>
            <a:ext cx="2695770" cy="2468880"/>
          </a:xfrm>
          <a:prstGeom prst="rect">
            <a:avLst/>
          </a:prstGeom>
        </p:spPr>
      </p:pic>
      <p:sp>
        <p:nvSpPr>
          <p:cNvPr id="3" name="Text 0"/>
          <p:cNvSpPr txBox="1"/>
          <p:nvPr/>
        </p:nvSpPr>
        <p:spPr>
          <a:xfrm>
            <a:off x="566928" y="621792"/>
            <a:ext cx="7315200" cy="329184"/>
          </a:xfrm>
          <a:prstGeom prst="rect">
            <a:avLst/>
          </a:prstGeom>
          <a:noFill/>
          <a:ln/>
        </p:spPr>
        <p:txBody>
          <a:bodyPr wrap="square" lIns="0" tIns="0" rIns="0" bIns="0" rtlCol="0" anchor="ctr"/>
          <a:lstStyle/>
          <a:p>
            <a:pPr indent="0" marL="0">
              <a:buNone/>
            </a:pPr>
            <a:r>
              <a:rPr lang="en-US" sz="1150" b="1" spc="260" kern="0" dirty="0">
                <a:solidFill>
                  <a:srgbClr val="D6DAA7"/>
                </a:solidFill>
                <a:latin typeface="Arial" pitchFamily="34" charset="0"/>
                <a:ea typeface="Arial" pitchFamily="34" charset="-122"/>
                <a:cs typeface="Arial" pitchFamily="34" charset="-120"/>
              </a:rPr>
              <a:t>WHAT I AM ASKING FOR TODAY</a:t>
            </a:r>
            <a:endParaRPr lang="en-US" sz="1150" dirty="0"/>
          </a:p>
        </p:txBody>
      </p:sp>
      <p:sp>
        <p:nvSpPr>
          <p:cNvPr id="4" name="Text 1"/>
          <p:cNvSpPr txBox="1"/>
          <p:nvPr/>
        </p:nvSpPr>
        <p:spPr>
          <a:xfrm>
            <a:off x="566928" y="1828800"/>
            <a:ext cx="7680960" cy="1645920"/>
          </a:xfrm>
          <a:prstGeom prst="rect">
            <a:avLst/>
          </a:prstGeom>
          <a:noFill/>
          <a:ln/>
        </p:spPr>
        <p:txBody>
          <a:bodyPr wrap="square" lIns="0" tIns="0" rIns="0" bIns="0" rtlCol="0" anchor="ctr"/>
          <a:lstStyle/>
          <a:p>
            <a:pPr indent="0" marL="0">
              <a:lnSpc>
                <a:spcPts val="5000"/>
              </a:lnSpc>
              <a:buNone/>
            </a:pPr>
            <a:r>
              <a:rPr lang="en-US" sz="4200" b="1" dirty="0">
                <a:solidFill>
                  <a:srgbClr val="F4F2EE"/>
                </a:solidFill>
                <a:latin typeface="Arial" pitchFamily="34" charset="0"/>
                <a:ea typeface="Arial" pitchFamily="34" charset="-122"/>
                <a:cs typeface="Arial" pitchFamily="34" charset="-120"/>
              </a:rPr>
              <a:t>By day 90,</a:t>
            </a:r>
            <a:endParaRPr lang="en-US" sz="4200" dirty="0"/>
          </a:p>
          <a:p>
            <a:pPr indent="0" marL="0">
              <a:lnSpc>
                <a:spcPts val="5000"/>
              </a:lnSpc>
              <a:buNone/>
            </a:pPr>
            <a:r>
              <a:rPr lang="en-US" sz="4200" b="1" dirty="0">
                <a:solidFill>
                  <a:srgbClr val="F4F2EE"/>
                </a:solidFill>
                <a:latin typeface="Arial" pitchFamily="34" charset="0"/>
                <a:ea typeface="Arial" pitchFamily="34" charset="-122"/>
                <a:cs typeface="Arial" pitchFamily="34" charset="-120"/>
              </a:rPr>
              <a:t>no ward at zero.</a:t>
            </a:r>
            <a:endParaRPr lang="en-US" sz="4200" dirty="0"/>
          </a:p>
        </p:txBody>
      </p:sp>
      <p:sp>
        <p:nvSpPr>
          <p:cNvPr id="5" name="Text 2"/>
          <p:cNvSpPr txBox="1"/>
          <p:nvPr/>
        </p:nvSpPr>
        <p:spPr>
          <a:xfrm>
            <a:off x="566928" y="3703320"/>
            <a:ext cx="7132320" cy="1005840"/>
          </a:xfrm>
          <a:prstGeom prst="rect">
            <a:avLst/>
          </a:prstGeom>
          <a:noFill/>
          <a:ln/>
        </p:spPr>
        <p:txBody>
          <a:bodyPr wrap="square" lIns="0" tIns="0" rIns="0" bIns="0" rtlCol="0" anchor="ctr"/>
          <a:lstStyle/>
          <a:p>
            <a:pPr indent="0" marL="0">
              <a:lnSpc>
                <a:spcPts val="2300"/>
              </a:lnSpc>
              <a:buNone/>
            </a:pPr>
            <a:r>
              <a:rPr lang="en-US" sz="1500" dirty="0">
                <a:solidFill>
                  <a:srgbClr val="B5C9BA"/>
                </a:solidFill>
                <a:latin typeface="Arial" pitchFamily="34" charset="0"/>
                <a:ea typeface="Arial" pitchFamily="34" charset="-122"/>
                <a:cs typeface="Arial" pitchFamily="34" charset="-120"/>
              </a:rPr>
              <a:t>Not every ward warm. That takes two years. Every ward measured. From that day on, every shilling this campaign spends is aimed at a number instead of a hunch.</a:t>
            </a:r>
            <a:endParaRPr lang="en-US" sz="1500" dirty="0"/>
          </a:p>
        </p:txBody>
      </p:sp>
      <p:sp>
        <p:nvSpPr>
          <p:cNvPr id="6" name="Shape 3">
            <a:hlinkClick r:id="rId2" tooltip="Opens the live interactive board"/>
          </p:cNvPr>
          <p:cNvSpPr/>
          <p:nvPr/>
        </p:nvSpPr>
        <p:spPr>
          <a:xfrm>
            <a:off x="566928" y="4882896"/>
            <a:ext cx="3931920" cy="658368"/>
          </a:xfrm>
          <a:prstGeom prst="roundRect">
            <a:avLst>
              <a:gd name="adj" fmla="val 5556"/>
            </a:avLst>
          </a:prstGeom>
          <a:solidFill>
            <a:srgbClr val="F47B20"/>
          </a:solidFill>
          <a:ln/>
        </p:spPr>
      </p:sp>
      <p:sp>
        <p:nvSpPr>
          <p:cNvPr id="7" name="Text 4">
            <a:hlinkClick r:id="rId3" tooltip="Opens the live interactive board"/>
          </p:cNvPr>
          <p:cNvSpPr txBox="1"/>
          <p:nvPr/>
        </p:nvSpPr>
        <p:spPr>
          <a:xfrm>
            <a:off x="566928" y="4882896"/>
            <a:ext cx="3931920" cy="658368"/>
          </a:xfrm>
          <a:prstGeom prst="rect">
            <a:avLst/>
          </a:prstGeom>
          <a:noFill/>
          <a:ln/>
        </p:spPr>
        <p:txBody>
          <a:bodyPr wrap="square" lIns="0" tIns="0" rIns="0" bIns="0" rtlCol="0" anchor="ctr"/>
          <a:lstStyle/>
          <a:p>
            <a:pPr algn="ctr" indent="0" marL="0">
              <a:buNone/>
            </a:pPr>
            <a:r>
              <a:rPr lang="en-US" sz="1500" b="1" u="none" dirty="0">
                <a:solidFill>
                  <a:srgbClr val="1B2E12"/>
                </a:solidFill>
                <a:latin typeface="Arial" pitchFamily="34" charset="0"/>
                <a:ea typeface="Arial" pitchFamily="34" charset="-122"/>
                <a:cs typeface="Arial" pitchFamily="34" charset="-120"/>
                <a:hlinkClick r:id="rId3" invalidUrl="" action="" tgtFrame="" tooltip="Opens the live interactive board" history="1" highlightClick="0" endSnd="0">
                  <a:extLst>
                    <a:ext uri="{A12FA001-AC4F-418D-AE19-62706E023703}">
                      <ahyp:hlinkClr xmlns:ahyp="http://schemas.microsoft.com/office/drawing/2018/hyperlinkcolor" val="tx"/>
                    </a:ext>
                  </a:extLst>
                </a:hlinkClick>
              </a:rPr>
              <a:t>Open the live board</a:t>
            </a:r>
            <a:endParaRPr lang="en-US" sz="1500" dirty="0"/>
          </a:p>
        </p:txBody>
      </p:sp>
      <p:sp>
        <p:nvSpPr>
          <p:cNvPr id="8" name="Text 5"/>
          <p:cNvSpPr txBox="1"/>
          <p:nvPr/>
        </p:nvSpPr>
        <p:spPr>
          <a:xfrm>
            <a:off x="4727448" y="5047488"/>
            <a:ext cx="4023360" cy="365760"/>
          </a:xfrm>
          <a:prstGeom prst="rect">
            <a:avLst/>
          </a:prstGeom>
          <a:noFill/>
          <a:ln/>
        </p:spPr>
        <p:txBody>
          <a:bodyPr wrap="square" lIns="0" tIns="0" rIns="0" bIns="0" rtlCol="0" anchor="ctr"/>
          <a:lstStyle/>
          <a:p>
            <a:pPr indent="0" marL="0">
              <a:buNone/>
            </a:pPr>
            <a:r>
              <a:rPr lang="en-US" sz="1200" i="1" dirty="0">
                <a:solidFill>
                  <a:srgbClr val="D6DAA7"/>
                </a:solidFill>
                <a:latin typeface="Arial" pitchFamily="34" charset="0"/>
                <a:ea typeface="Arial" pitchFamily="34" charset="-122"/>
                <a:cs typeface="Arial" pitchFamily="34" charset="-120"/>
              </a:rPr>
              <a:t>Tap any ward. Move the dials. Sign yourself up.</a:t>
            </a:r>
            <a:endParaRPr lang="en-US" sz="1200" dirty="0"/>
          </a:p>
        </p:txBody>
      </p:sp>
      <p:sp>
        <p:nvSpPr>
          <p:cNvPr id="9" name="Shape 6"/>
          <p:cNvSpPr/>
          <p:nvPr/>
        </p:nvSpPr>
        <p:spPr>
          <a:xfrm>
            <a:off x="566928" y="5888736"/>
            <a:ext cx="11027664" cy="0"/>
          </a:xfrm>
          <a:prstGeom prst="line">
            <a:avLst/>
          </a:prstGeom>
          <a:noFill/>
          <a:ln w="12700">
            <a:solidFill>
              <a:srgbClr val="0E8455"/>
            </a:solidFill>
            <a:prstDash val="solid"/>
          </a:ln>
        </p:spPr>
      </p:sp>
      <p:sp>
        <p:nvSpPr>
          <p:cNvPr id="10" name="Text 7"/>
          <p:cNvSpPr txBox="1"/>
          <p:nvPr/>
        </p:nvSpPr>
        <p:spPr>
          <a:xfrm>
            <a:off x="566928" y="6016752"/>
            <a:ext cx="6446520" cy="566928"/>
          </a:xfrm>
          <a:prstGeom prst="rect">
            <a:avLst/>
          </a:prstGeom>
          <a:noFill/>
          <a:ln/>
        </p:spPr>
        <p:txBody>
          <a:bodyPr wrap="square" lIns="0" tIns="0" rIns="0" bIns="0" rtlCol="0" anchor="ctr"/>
          <a:lstStyle/>
          <a:p>
            <a:pPr indent="0" marL="0">
              <a:lnSpc>
                <a:spcPts val="1200"/>
              </a:lnSpc>
              <a:buNone/>
            </a:pPr>
            <a:r>
              <a:rPr lang="en-US" sz="900" dirty="0">
                <a:solidFill>
                  <a:srgbClr val="B5C9BA"/>
                </a:solidFill>
                <a:latin typeface="Arial" pitchFamily="34" charset="0"/>
                <a:ea typeface="Arial" pitchFamily="34" charset="-122"/>
                <a:cs typeface="Arial" pitchFamily="34" charset="-120"/>
              </a:rPr>
              <a:t>Ward, constituency and polling station figures come from the real IEBC register for Turkana. Supporter counts are an illustrative scenario and are not real people. Conversion rates are planning assumptions.</a:t>
            </a:r>
            <a:endParaRPr lang="en-US" sz="900" dirty="0"/>
          </a:p>
        </p:txBody>
      </p:sp>
      <p:sp>
        <p:nvSpPr>
          <p:cNvPr id="11" name="Text 8"/>
          <p:cNvSpPr txBox="1"/>
          <p:nvPr/>
        </p:nvSpPr>
        <p:spPr>
          <a:xfrm>
            <a:off x="7388352" y="6053328"/>
            <a:ext cx="4206240" cy="292608"/>
          </a:xfrm>
          <a:prstGeom prst="rect">
            <a:avLst/>
          </a:prstGeom>
          <a:noFill/>
          <a:ln/>
        </p:spPr>
        <p:txBody>
          <a:bodyPr wrap="square" lIns="0" tIns="0" rIns="0" bIns="0" rtlCol="0" anchor="ctr"/>
          <a:lstStyle/>
          <a:p>
            <a:pPr algn="r" indent="0" marL="0">
              <a:buNone/>
            </a:pPr>
            <a:r>
              <a:rPr lang="en-US" sz="950" b="1" dirty="0">
                <a:solidFill>
                  <a:srgbClr val="D6DAA7"/>
                </a:solidFill>
                <a:latin typeface="Arial" pitchFamily="34" charset="0"/>
                <a:ea typeface="Arial" pitchFamily="34" charset="-122"/>
                <a:cs typeface="Arial" pitchFamily="34" charset="-120"/>
              </a:rPr>
              <a:t>Brian Lokwawi Napeirot   ·   IT Manager   ·   Ekusi Lore campaign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Ekusi Lore, Turkana Senate 2027</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Turkana Board</dc:title>
  <dc:subject>Supporter register and mobilisation brief</dc:subject>
  <dc:creator>Brian Lokwawi Napeirot</dc:creator>
  <cp:lastModifiedBy>Brian Lokwawi Napeirot</cp:lastModifiedBy>
  <cp:revision>1</cp:revision>
  <dcterms:created xsi:type="dcterms:W3CDTF">2026-09-03T04:09:27Z</dcterms:created>
  <dcterms:modified xsi:type="dcterms:W3CDTF">2026-09-03T04:09:27Z</dcterms:modified>
</cp:coreProperties>
</file>