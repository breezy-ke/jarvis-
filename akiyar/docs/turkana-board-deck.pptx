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F4F2EE"/>
                </a:solidFill>
                <a:latin typeface="Arial"/>
              </a:defRPr>
            </a:pPr>
            <a:r>
              <a:rPr sz="1300" b="0" i="0" u="none" strike="noStrike">
                <a:solidFill>
                  <a:srgbClr val="F4F2EE"/>
                </a:solidFill>
                <a:latin typeface="Arial"/>
              </a:rPr>
              <a:t>Our six strongest wards, by share of that ward</a:t>
            </a:r>
          </a:p>
        </c:rich>
      </c:tx>
      <c:layout/>
      <c:overlay val="0"/>
    </c:title>
    <c:autoTitleDeleted val="0"/>
    <c:plotArea>
      <c:layout/>
      <c:barChart>
        <c:barDir val="bar"/>
        <c:grouping val="clustered"/>
        <c:varyColors val="0"/>
        <c:ser>
          <c:idx val="0"/>
          <c:order val="0"/>
          <c:tx>
            <c:strRef>
              <c:f>Sheet1!$B$1</c:f>
              <c:strCache>
                <c:ptCount val="1"/>
                <c:pt idx="0">
                  <c:v>Ward saturation</c:v>
                </c:pt>
              </c:strCache>
            </c:strRef>
          </c:tx>
          <c:spPr>
            <a:solidFill>
              <a:srgbClr val="F47B20"/>
            </a:solidFill>
            <a:effectLst/>
          </c:spPr>
          <c:invertIfNegative val="0"/>
          <c:dLbls>
            <c:numFmt formatCode="0.00&quot;%&quot;" sourceLinked="0"/>
            <c:txPr>
              <a:bodyPr/>
              <a:lstStyle/>
              <a:p>
                <a:pPr>
                  <a:defRPr b="0" i="0" strike="noStrike" sz="1100" u="none">
                    <a:solidFill>
                      <a:srgbClr val="F4F2EE"/>
                    </a:solidFill>
                    <a:latin typeface="Arial"/>
                  </a:defRPr>
                </a:pPr>
              </a:p>
            </c:txPr>
            <c:showLegendKey val="0"/>
            <c:showVal val="1"/>
            <c:showCatName val="0"/>
            <c:showSerName val="0"/>
            <c:showPercent val="0"/>
            <c:showBubbleSize val="0"/>
            <c:showLeaderLines val="0"/>
          </c:dLbls>
          <c:cat>
            <c:multiLvlStrRef>
              <c:f>Sheet1!$A$2:$A$7</c:f>
              <c:multiLvlStrCache>
                <c:ptCount val="6"/>
                <c:lvl>
                  <c:pt idx="0">
                    <c:v>Katilu</c:v>
                  </c:pt>
                  <c:pt idx="1">
                    <c:v>Kotaruk/Lobei</c:v>
                  </c:pt>
                  <c:pt idx="2">
                    <c:v>Kang'atotha</c:v>
                  </c:pt>
                  <c:pt idx="3">
                    <c:v>Katilia</c:v>
                  </c:pt>
                  <c:pt idx="4">
                    <c:v>Lopur</c:v>
                  </c:pt>
                  <c:pt idx="5">
                    <c:v>Lokiriama/Lorengippi</c:v>
                  </c:pt>
                </c:lvl>
              </c:multiLvlStrCache>
            </c:multiLvlStrRef>
          </c:cat>
          <c:val>
            <c:numRef>
              <c:f>Sheet1!$B$2:$B$7</c:f>
              <c:numCache>
                <c:formatCode>General</c:formatCode>
                <c:ptCount val="6"/>
                <c:pt idx="0">
                  <c:v>3.8</c:v>
                </c:pt>
                <c:pt idx="1">
                  <c:v>3.8</c:v>
                </c:pt>
                <c:pt idx="2">
                  <c:v>3.88</c:v>
                </c:pt>
                <c:pt idx="3">
                  <c:v>4.55</c:v>
                </c:pt>
                <c:pt idx="4">
                  <c:v>4.74</c:v>
                </c:pt>
                <c:pt idx="5">
                  <c:v>5.25</c:v>
                </c:pt>
              </c:numCache>
            </c:numRef>
          </c:val>
        </c:ser>
        <c:dLbls>
          <c:numFmt formatCode="0.00&quot;%&quot;" sourceLinked="0"/>
          <c:txPr>
            <a:bodyPr/>
            <a:lstStyle/>
            <a:p>
              <a:pPr>
                <a:defRPr b="0" i="0" strike="noStrike" sz="1100" u="none">
                  <a:solidFill>
                    <a:srgbClr val="F4F2EE"/>
                  </a:solidFill>
                  <a:latin typeface="Arial"/>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32833"/>
            </a:solidFill>
            <a:prstDash val="solid"/>
            <a:round/>
          </a:ln>
        </c:spPr>
        <c:txPr>
          <a:bodyPr/>
          <a:lstStyle/>
          <a:p>
            <a:pPr>
              <a:defRPr sz="1100" b="0" i="0" u="none" strike="noStrike">
                <a:solidFill>
                  <a:srgbClr val="B2B8C4"/>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9525" cap="flat">
              <a:solidFill>
                <a:srgbClr val="232833"/>
              </a:solidFill>
              <a:prstDash val="solid"/>
              <a:round/>
            </a:ln>
          </c:spPr>
        </c:majorGridlines>
        <c:numFmt formatCode="General" sourceLinked="0"/>
        <c:majorTickMark val="out"/>
        <c:minorTickMark val="none"/>
        <c:tickLblPos val="low"/>
        <c:spPr>
          <a:ln w="12700" cap="flat">
            <a:solidFill>
              <a:srgbClr val="232833"/>
            </a:solidFill>
            <a:prstDash val="solid"/>
            <a:round/>
          </a:ln>
        </c:spPr>
        <c:txPr>
          <a:bodyPr/>
          <a:lstStyle/>
          <a:p>
            <a:pPr>
              <a:defRPr sz="1000" b="0" i="0" u="none" strike="noStrike">
                <a:solidFill>
                  <a:srgbClr val="868D9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41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F4F2EE"/>
                </a:solidFill>
                <a:latin typeface="Arial"/>
              </a:defRPr>
            </a:pPr>
            <a:r>
              <a:rPr sz="1300" b="0" i="0" u="none" strike="noStrike">
                <a:solidFill>
                  <a:srgbClr val="F4F2EE"/>
                </a:solidFill>
                <a:latin typeface="Arial"/>
              </a:rPr>
              <a:t>Coldest six — where the caravan goes next</a:t>
            </a:r>
          </a:p>
        </c:rich>
      </c:tx>
      <c:layout/>
      <c:overlay val="0"/>
    </c:title>
    <c:autoTitleDeleted val="0"/>
    <c:plotArea>
      <c:layout/>
      <c:barChart>
        <c:barDir val="bar"/>
        <c:grouping val="clustered"/>
        <c:varyColors val="0"/>
        <c:ser>
          <c:idx val="0"/>
          <c:order val="0"/>
          <c:tx>
            <c:strRef>
              <c:f>Sheet1!$B$1</c:f>
              <c:strCache>
                <c:ptCount val="1"/>
                <c:pt idx="0">
                  <c:v>Ward saturation</c:v>
                </c:pt>
              </c:strCache>
            </c:strRef>
          </c:tx>
          <c:spPr>
            <a:solidFill>
              <a:srgbClr val="C3621A"/>
            </a:solidFill>
            <a:effectLst/>
          </c:spPr>
          <c:invertIfNegative val="0"/>
          <c:dLbls>
            <c:numFmt formatCode="0.00&quot;%&quot;" sourceLinked="0"/>
            <c:txPr>
              <a:bodyPr/>
              <a:lstStyle/>
              <a:p>
                <a:pPr>
                  <a:defRPr b="0" i="0" strike="noStrike" sz="1100" u="none">
                    <a:solidFill>
                      <a:srgbClr val="F4F2EE"/>
                    </a:solidFill>
                    <a:latin typeface="Arial"/>
                  </a:defRPr>
                </a:pPr>
              </a:p>
            </c:txPr>
            <c:showLegendKey val="0"/>
            <c:showVal val="1"/>
            <c:showCatName val="0"/>
            <c:showSerName val="0"/>
            <c:showPercent val="0"/>
            <c:showBubbleSize val="0"/>
            <c:showLeaderLines val="0"/>
          </c:dLbls>
          <c:cat>
            <c:multiLvlStrRef>
              <c:f>Sheet1!$A$2:$A$7</c:f>
              <c:multiLvlStrCache>
                <c:ptCount val="6"/>
                <c:lvl>
                  <c:pt idx="0">
                    <c:v>Kalapata</c:v>
                  </c:pt>
                  <c:pt idx="1">
                    <c:v>Lapur</c:v>
                  </c:pt>
                  <c:pt idx="2">
                    <c:v>Nanaam</c:v>
                  </c:pt>
                  <c:pt idx="3">
                    <c:v>Kalokol</c:v>
                  </c:pt>
                  <c:pt idx="4">
                    <c:v>Kerio Delta</c:v>
                  </c:pt>
                  <c:pt idx="5">
                    <c:v>Loima</c:v>
                  </c:pt>
                </c:lvl>
              </c:multiLvlStrCache>
            </c:multiLvlStrRef>
          </c:cat>
          <c:val>
            <c:numRef>
              <c:f>Sheet1!$B$2:$B$7</c:f>
              <c:numCache>
                <c:formatCode>General</c:formatCode>
                <c:ptCount val="6"/>
                <c:pt idx="0">
                  <c:v>0.37</c:v>
                </c:pt>
                <c:pt idx="1">
                  <c:v>0.36</c:v>
                </c:pt>
                <c:pt idx="2">
                  <c:v>0.36</c:v>
                </c:pt>
                <c:pt idx="3">
                  <c:v>0.32</c:v>
                </c:pt>
                <c:pt idx="4">
                  <c:v>0.3</c:v>
                </c:pt>
                <c:pt idx="5">
                  <c:v>0.23</c:v>
                </c:pt>
              </c:numCache>
            </c:numRef>
          </c:val>
        </c:ser>
        <c:dLbls>
          <c:numFmt formatCode="0.00&quot;%&quot;" sourceLinked="0"/>
          <c:txPr>
            <a:bodyPr/>
            <a:lstStyle/>
            <a:p>
              <a:pPr>
                <a:defRPr b="0" i="0" strike="noStrike" sz="1100" u="none">
                  <a:solidFill>
                    <a:srgbClr val="F4F2EE"/>
                  </a:solidFill>
                  <a:latin typeface="Arial"/>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32833"/>
            </a:solidFill>
            <a:prstDash val="solid"/>
            <a:round/>
          </a:ln>
        </c:spPr>
        <c:txPr>
          <a:bodyPr/>
          <a:lstStyle/>
          <a:p>
            <a:pPr>
              <a:defRPr sz="1100" b="0" i="0" u="none" strike="noStrike">
                <a:solidFill>
                  <a:srgbClr val="B2B8C4"/>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232833"/>
              </a:solidFill>
              <a:prstDash val="solid"/>
              <a:round/>
            </a:ln>
          </c:spPr>
        </c:majorGridlines>
        <c:numFmt formatCode="General" sourceLinked="0"/>
        <c:majorTickMark val="out"/>
        <c:minorTickMark val="none"/>
        <c:tickLblPos val="low"/>
        <c:spPr>
          <a:ln w="12700" cap="flat">
            <a:solidFill>
              <a:srgbClr val="232833"/>
            </a:solidFill>
            <a:prstDash val="solid"/>
            <a:round/>
          </a:ln>
        </c:spPr>
        <c:txPr>
          <a:bodyPr/>
          <a:lstStyle/>
          <a:p>
            <a:pPr>
              <a:defRPr sz="1000" b="0" i="0" u="none" strike="noStrike">
                <a:solidFill>
                  <a:srgbClr val="868D9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41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F4F2EE"/>
                </a:solidFill>
                <a:latin typeface="Arial"/>
              </a:defRPr>
            </a:pPr>
            <a:r>
              <a:rPr sz="1300" b="0" i="0" u="none" strike="noStrike">
                <a:solidFill>
                  <a:srgbClr val="F4F2EE"/>
                </a:solidFill>
                <a:latin typeface="Arial"/>
              </a:rPr>
              <a:t>Same 60,000 people reached each month</a:t>
            </a:r>
          </a:p>
        </c:rich>
      </c:tx>
      <c:layout/>
      <c:overlay val="0"/>
    </c:title>
    <c:autoTitleDeleted val="0"/>
    <c:plotArea>
      <c:layout/>
      <c:barChart>
        <c:barDir val="col"/>
        <c:grouping val="clustered"/>
        <c:varyColors val="0"/>
        <c:ser>
          <c:idx val="0"/>
          <c:order val="0"/>
          <c:tx>
            <c:strRef>
              <c:f>Sheet1!$B$1</c:f>
              <c:strCache>
                <c:ptCount val="1"/>
                <c:pt idx="0">
                  <c:v>New verified supporters per month</c:v>
                </c:pt>
              </c:strCache>
            </c:strRef>
          </c:tx>
          <c:spPr>
            <a:solidFill>
              <a:srgbClr val="C3621A"/>
            </a:solidFill>
            <a:effectLst/>
          </c:spPr>
          <c:invertIfNegative val="0"/>
          <c:dLbls>
            <c:numFmt formatCode="#,##0" sourceLinked="0"/>
            <c:txPr>
              <a:bodyPr/>
              <a:lstStyle/>
              <a:p>
                <a:pPr>
                  <a:defRPr b="0" i="0" strike="noStrike" sz="1200" u="none">
                    <a:solidFill>
                      <a:srgbClr val="F4F2EE"/>
                    </a:solidFill>
                    <a:latin typeface="Arial"/>
                  </a:defRPr>
                </a:pPr>
              </a:p>
            </c:txPr>
            <c:showLegendKey val="0"/>
            <c:showVal val="1"/>
            <c:showCatName val="0"/>
            <c:showSerName val="0"/>
            <c:showPercent val="0"/>
            <c:showBubbleSize val="0"/>
            <c:showLeaderLines val="0"/>
          </c:dLbls>
          <c:dPt>
            <c:idx val="0"/>
            <c:invertIfNegative val="0"/>
            <c:bubble3D val="0"/>
            <c:spPr>
              <a:solidFill>
                <a:srgbClr val="C3621A"/>
              </a:solidFill>
              <a:effectLst/>
            </c:spPr>
          </c:dPt>
          <c:dPt>
            <c:idx val="1"/>
            <c:invertIfNegative val="0"/>
            <c:bubble3D val="0"/>
            <c:spPr>
              <a:solidFill>
                <a:srgbClr val="F47B20"/>
              </a:solidFill>
              <a:effectLst/>
            </c:spPr>
          </c:dPt>
          <c:dPt>
            <c:idx val="2"/>
            <c:invertIfNegative val="0"/>
            <c:bubble3D val="0"/>
            <c:spPr>
              <a:solidFill>
                <a:srgbClr val="FF9445"/>
              </a:solidFill>
              <a:effectLst/>
            </c:spPr>
          </c:dPt>
          <c:cat>
            <c:multiLvlStrRef>
              <c:f>Sheet1!$A$2:$A$4</c:f>
              <c:multiLvlStrCache>
                <c:ptCount val="3"/>
                <c:lvl>
                  <c:pt idx="0">
                    <c:v>Digital only</c:v>
                  </c:pt>
                  <c:pt idx="1">
                    <c:v>Half and half</c:v>
                  </c:pt>
                  <c:pt idx="2">
                    <c:v>Ground &amp; SMS only</c:v>
                  </c:pt>
                </c:lvl>
              </c:multiLvlStrCache>
            </c:multiLvlStrRef>
          </c:cat>
          <c:val>
            <c:numRef>
              <c:f>Sheet1!$B$2:$B$4</c:f>
              <c:numCache>
                <c:formatCode>General</c:formatCode>
                <c:ptCount val="3"/>
                <c:pt idx="0">
                  <c:v>1056</c:v>
                </c:pt>
                <c:pt idx="1">
                  <c:v>3434</c:v>
                </c:pt>
                <c:pt idx="2">
                  <c:v>5811</c:v>
                </c:pt>
              </c:numCache>
            </c:numRef>
          </c:val>
        </c:ser>
        <c:dLbls>
          <c:numFmt formatCode="#,##0" sourceLinked="0"/>
          <c:txPr>
            <a:bodyPr/>
            <a:lstStyle/>
            <a:p>
              <a:pPr>
                <a:defRPr b="0" i="0" strike="noStrike" sz="1200" u="none">
                  <a:solidFill>
                    <a:srgbClr val="F4F2EE"/>
                  </a:solidFill>
                  <a:latin typeface="Arial"/>
                </a:defRPr>
              </a:pPr>
            </a:p>
          </c:txPr>
          <c:showLegendKey val="0"/>
          <c:showVal val="1"/>
          <c:showCatName val="0"/>
          <c:showSerName val="0"/>
          <c:showPercent val="0"/>
          <c:showBubbleSize val="0"/>
          <c:showLeaderLines val="0"/>
        </c:dLbls>
        <c:gapWidth val="6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32833"/>
            </a:solidFill>
            <a:prstDash val="solid"/>
            <a:round/>
          </a:ln>
        </c:spPr>
        <c:txPr>
          <a:bodyPr/>
          <a:lstStyle/>
          <a:p>
            <a:pPr>
              <a:defRPr sz="1100" b="0" i="0" u="none" strike="noStrike">
                <a:solidFill>
                  <a:srgbClr val="B2B8C4"/>
                </a:solidFill>
                <a:latin typeface="Arial"/>
              </a:defRPr>
            </a:pPr>
            <a:endParaRPr lang="en-US"/>
          </a:p>
        </c:txPr>
        <c:crossAx val="2094734552"/>
        <c:crosses val="autoZero"/>
        <c:auto val="1"/>
        <c:lblAlgn val="ctr"/>
        <c:noMultiLvlLbl val="1"/>
      </c:catAx>
      <c:valAx>
        <c:axId val="2094734552"/>
        <c:scaling>
          <c:orientation val="minMax"/>
          <c:max val="7000"/>
          <c:min val="0"/>
        </c:scaling>
        <c:delete val="0"/>
        <c:axPos val="l"/>
        <c:majorGridlines>
          <c:spPr>
            <a:ln w="9525" cap="flat">
              <a:solidFill>
                <a:srgbClr val="232833"/>
              </a:solidFill>
              <a:prstDash val="solid"/>
              <a:round/>
            </a:ln>
          </c:spPr>
        </c:majorGridlines>
        <c:numFmt formatCode="General" sourceLinked="0"/>
        <c:majorTickMark val="out"/>
        <c:minorTickMark val="none"/>
        <c:tickLblPos val="nextTo"/>
        <c:spPr>
          <a:ln w="12700" cap="flat">
            <a:solidFill>
              <a:srgbClr val="232833"/>
            </a:solidFill>
            <a:prstDash val="solid"/>
            <a:round/>
          </a:ln>
        </c:spPr>
        <c:txPr>
          <a:bodyPr/>
          <a:lstStyle/>
          <a:p>
            <a:pPr>
              <a:defRPr sz="1000" b="0" i="0" u="none" strike="noStrike">
                <a:solidFill>
                  <a:srgbClr val="868D9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41C"/>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F4F2EE"/>
                </a:solidFill>
                <a:latin typeface="Arial"/>
              </a:defRPr>
            </a:pPr>
            <a:r>
              <a:rPr sz="1300" b="0" i="0" u="none" strike="noStrike">
                <a:solidFill>
                  <a:srgbClr val="F4F2EE"/>
                </a:solidFill>
                <a:latin typeface="Arial"/>
              </a:rPr>
              <a:t>Verified supporters on the register</a:t>
            </a:r>
          </a:p>
        </c:rich>
      </c:tx>
      <c:layout/>
      <c:overlay val="0"/>
    </c:title>
    <c:autoTitleDeleted val="0"/>
    <c:plotArea>
      <c:layout/>
      <c:lineChart>
        <c:varyColors val="0"/>
        <c:ser>
          <c:idx val="0"/>
          <c:order val="0"/>
          <c:tx>
            <c:strRef>
              <c:f>Sheet1!$B$1</c:f>
              <c:strCache>
                <c:ptCount val="1"/>
                <c:pt idx="0">
                  <c:v>Digital only</c:v>
                </c:pt>
              </c:strCache>
            </c:strRef>
          </c:tx>
          <c:spPr>
            <a:solidFill>
              <a:srgbClr val="868D9C"/>
            </a:solidFill>
            <a:ln w="38100" cap="flat">
              <a:solidFill>
                <a:srgbClr val="868D9C"/>
              </a:solidFill>
              <a:prstDash val="solid"/>
              <a:round/>
            </a:ln>
            <a:effectLst/>
          </c:spPr>
          <c:invertIfNegative val="0"/>
          <c:dLbls>
            <c:numFmt formatCode="#,##0" sourceLinked="0"/>
            <c:txPr>
              <a:bodyPr/>
              <a:lstStyle/>
              <a:p>
                <a:pPr>
                  <a:defRPr b="0" i="0" strike="noStrike" sz="1000" u="none">
                    <a:solidFill>
                      <a:srgbClr val="B2B8C4"/>
                    </a:solidFill>
                    <a:latin typeface="Arial"/>
                  </a:defRPr>
                </a:pPr>
              </a:p>
            </c:txPr>
            <c:dLblPos val="t"/>
            <c:showLegendKey val="0"/>
            <c:showVal val="1"/>
            <c:showCatName val="0"/>
            <c:showSerName val="0"/>
            <c:showPercent val="0"/>
            <c:showBubbleSize val="0"/>
            <c:showLeaderLines val="0"/>
          </c:dLbls>
          <c:marker>
            <c:symbol val="circle"/>
            <c:size val="7"/>
            <c:spPr>
              <a:solidFill>
                <a:srgbClr val="868D9C"/>
              </a:solidFill>
              <a:ln w="9525" cap="flat">
                <a:solidFill>
                  <a:srgbClr val="868D9C"/>
                </a:solidFill>
                <a:prstDash val="solid"/>
                <a:round/>
              </a:ln>
              <a:effectLst/>
            </c:spPr>
          </c:marker>
          <c:cat>
            <c:multiLvlStrRef>
              <c:f>Sheet1!$A$2:$A$5</c:f>
              <c:multiLvlStrCache>
                <c:ptCount val="4"/>
                <c:lvl>
                  <c:pt idx="0">
                    <c:v>Today</c:v>
                  </c:pt>
                  <c:pt idx="1">
                    <c:v>Day 30</c:v>
                  </c:pt>
                  <c:pt idx="2">
                    <c:v>Day 60</c:v>
                  </c:pt>
                  <c:pt idx="3">
                    <c:v>Day 90</c:v>
                  </c:pt>
                </c:lvl>
              </c:multiLvlStrCache>
            </c:multiLvlStrRef>
          </c:cat>
          <c:val>
            <c:numRef>
              <c:f>Sheet1!$B$2:$B$5</c:f>
              <c:numCache>
                <c:formatCode>General</c:formatCode>
                <c:ptCount val="4"/>
                <c:pt idx="0">
                  <c:v>4981</c:v>
                </c:pt>
                <c:pt idx="1">
                  <c:v>6037</c:v>
                </c:pt>
                <c:pt idx="2">
                  <c:v>7094</c:v>
                </c:pt>
                <c:pt idx="3">
                  <c:v>8150</c:v>
                </c:pt>
              </c:numCache>
            </c:numRef>
          </c:val>
          <c:smooth val="0"/>
        </c:ser>
        <c:ser>
          <c:idx val="1"/>
          <c:order val="1"/>
          <c:tx>
            <c:strRef>
              <c:f>Sheet1!$C$1</c:f>
              <c:strCache>
                <c:ptCount val="1"/>
                <c:pt idx="0">
                  <c:v>Both levers</c:v>
                </c:pt>
              </c:strCache>
            </c:strRef>
          </c:tx>
          <c:spPr>
            <a:solidFill>
              <a:srgbClr val="F47B20"/>
            </a:solidFill>
            <a:ln w="38100" cap="flat">
              <a:solidFill>
                <a:srgbClr val="F47B20"/>
              </a:solidFill>
              <a:prstDash val="solid"/>
              <a:round/>
            </a:ln>
            <a:effectLst/>
          </c:spPr>
          <c:invertIfNegative val="0"/>
          <c:dLbls>
            <c:numFmt formatCode="#,##0" sourceLinked="0"/>
            <c:txPr>
              <a:bodyPr/>
              <a:lstStyle/>
              <a:p>
                <a:pPr>
                  <a:defRPr b="0" i="0" strike="noStrike" sz="1000" u="none">
                    <a:solidFill>
                      <a:srgbClr val="B2B8C4"/>
                    </a:solidFill>
                    <a:latin typeface="Arial"/>
                  </a:defRPr>
                </a:pPr>
              </a:p>
            </c:txPr>
            <c:dLblPos val="t"/>
            <c:showLegendKey val="0"/>
            <c:showVal val="1"/>
            <c:showCatName val="0"/>
            <c:showSerName val="0"/>
            <c:showPercent val="0"/>
            <c:showBubbleSize val="0"/>
            <c:showLeaderLines val="0"/>
          </c:dLbls>
          <c:marker>
            <c:symbol val="circle"/>
            <c:size val="7"/>
            <c:spPr>
              <a:solidFill>
                <a:srgbClr val="F47B20"/>
              </a:solidFill>
              <a:ln w="9525" cap="flat">
                <a:solidFill>
                  <a:srgbClr val="F47B20"/>
                </a:solidFill>
                <a:prstDash val="solid"/>
                <a:round/>
              </a:ln>
              <a:effectLst/>
            </c:spPr>
          </c:marker>
          <c:cat>
            <c:multiLvlStrRef>
              <c:f>Sheet1!$A$2:$A$5</c:f>
              <c:multiLvlStrCache>
                <c:ptCount val="4"/>
                <c:lvl>
                  <c:pt idx="0">
                    <c:v>Today</c:v>
                  </c:pt>
                  <c:pt idx="1">
                    <c:v>Day 30</c:v>
                  </c:pt>
                  <c:pt idx="2">
                    <c:v>Day 60</c:v>
                  </c:pt>
                  <c:pt idx="3">
                    <c:v>Day 90</c:v>
                  </c:pt>
                </c:lvl>
              </c:multiLvlStrCache>
            </c:multiLvlStrRef>
          </c:cat>
          <c:val>
            <c:numRef>
              <c:f>Sheet1!$C$2:$C$5</c:f>
              <c:numCache>
                <c:formatCode>General</c:formatCode>
                <c:ptCount val="4"/>
                <c:pt idx="0">
                  <c:v>4981</c:v>
                </c:pt>
                <c:pt idx="1">
                  <c:v>8415</c:v>
                </c:pt>
                <c:pt idx="2">
                  <c:v>11848</c:v>
                </c:pt>
                <c:pt idx="3">
                  <c:v>15282</c:v>
                </c:pt>
              </c:numCache>
            </c:numRef>
          </c:val>
          <c:smooth val="0"/>
        </c:ser>
        <c:dLbls>
          <c:numFmt formatCode="#,##0" sourceLinked="0"/>
          <c:txPr>
            <a:bodyPr/>
            <a:lstStyle/>
            <a:p>
              <a:pPr>
                <a:defRPr b="0" i="0" strike="noStrike" sz="1000" u="none">
                  <a:solidFill>
                    <a:srgbClr val="B2B8C4"/>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232833"/>
            </a:solidFill>
            <a:prstDash val="solid"/>
            <a:round/>
          </a:ln>
        </c:spPr>
        <c:txPr>
          <a:bodyPr/>
          <a:lstStyle/>
          <a:p>
            <a:pPr>
              <a:defRPr sz="1100" b="0" i="0" u="none" strike="noStrike">
                <a:solidFill>
                  <a:srgbClr val="B2B8C4"/>
                </a:solidFill>
                <a:latin typeface="Arial"/>
              </a:defRPr>
            </a:pPr>
            <a:endParaRPr lang="en-US"/>
          </a:p>
        </c:txPr>
        <c:crossAx val="2094734552"/>
        <c:crosses val="autoZero"/>
        <c:auto val="1"/>
        <c:lblAlgn val="ctr"/>
        <c:noMultiLvlLbl val="1"/>
      </c:catAx>
      <c:valAx>
        <c:axId val="2094734552"/>
        <c:scaling>
          <c:orientation val="minMax"/>
          <c:max val="18000"/>
          <c:min val="0"/>
        </c:scaling>
        <c:delete val="0"/>
        <c:axPos val="l"/>
        <c:majorGridlines>
          <c:spPr>
            <a:ln w="9525" cap="flat">
              <a:solidFill>
                <a:srgbClr val="232833"/>
              </a:solidFill>
              <a:prstDash val="solid"/>
              <a:round/>
            </a:ln>
          </c:spPr>
        </c:majorGridlines>
        <c:numFmt formatCode="General" sourceLinked="0"/>
        <c:majorTickMark val="out"/>
        <c:minorTickMark val="none"/>
        <c:tickLblPos val="nextTo"/>
        <c:spPr>
          <a:ln w="12700" cap="flat">
            <a:solidFill>
              <a:srgbClr val="232833"/>
            </a:solidFill>
            <a:prstDash val="solid"/>
            <a:round/>
          </a:ln>
        </c:spPr>
        <c:txPr>
          <a:bodyPr/>
          <a:lstStyle/>
          <a:p>
            <a:pPr>
              <a:defRPr sz="1000" b="0" i="0" u="none" strike="noStrike">
                <a:solidFill>
                  <a:srgbClr val="868D9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B2B8C4"/>
              </a:solidFill>
              <a:latin typeface="Arial"/>
              <a:cs typeface="Arial"/>
            </a:defRPr>
          </a:pPr>
          <a:endParaRPr lang="en-US"/>
        </a:p>
      </c:txPr>
    </c:legend>
    <c:plotVisOnly val="1"/>
    <c:dispBlanksAs val="span"/>
  </c:chart>
  <c:spPr>
    <a:solidFill>
      <a:srgbClr val="11141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this whole system answers: how many supporters do we actually have, and where exactly do they vote? Everything after this slide is that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I'll keep this to ten minutes and then show you the live version, which you can click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isn't that rivals are lazy. It's that nobody in Kenyan county politics has the numbers, so the first campaign that does has an unfair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is the design target. Every extra field costs sign-ups, so nothing is asked for unless it does work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how he reads every future report. A raw supporter total is a vanity number; share of a ward is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open the live board here — he can tap any ward and see its real polling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him the phone here. The live version lets him tap Kibish and see that six of its ten polling stations are a mobile unit or a water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digital. He knows Turkana. Saying digital wins the county would lose the room; saying digital is cheap reach and ground is conversion is the version he will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planning assumptions, not results. Say so out loud — it is the sentence that makes him trust the other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defensive slide in the deck. Register with the ODPC in week one — non-registration is itself an offence.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 is not that we are online and they are not — they will be online too. It is that our number can be checked and theirs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only agrees to two things today, make them the shortcode paperwork and the ODPC registration. Everything else waits on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handing over the phone. The live board does more in thirty seconds than another slide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12.xm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claude.ai/code/artifact/f57c9c04-a60d-49e8-b023-0a40c15288c9"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laude.ai/code/artifact/f57c9c04-a60d-49e8-b023-0a40c15288c9" TargetMode="External"/><Relationship Id="rId2" Type="http://schemas.openxmlformats.org/officeDocument/2006/relationships/hyperlink" Target="https://claude.ai/code/artifact/f57c9c04-a60d-49e8-b023-0a40c15288c9"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60A"/>
        </a:solidFill>
      </p:bgPr>
    </p:bg>
    <p:spTree>
      <p:nvGrpSpPr>
        <p:cNvPr id="1" name=""/>
        <p:cNvGrpSpPr/>
        <p:nvPr/>
      </p:nvGrpSpPr>
      <p:grpSpPr>
        <a:xfrm>
          <a:off x="0" y="0"/>
          <a:ext cx="0" cy="0"/>
          <a:chOff x="0" y="0"/>
          <a:chExt cx="0" cy="0"/>
        </a:xfrm>
      </p:grpSpPr>
      <p:sp>
        <p:nvSpPr>
          <p:cNvPr id="2" name="Shape 0"/>
          <p:cNvSpPr/>
          <p:nvPr/>
        </p:nvSpPr>
        <p:spPr>
          <a:xfrm>
            <a:off x="8732520" y="1051560"/>
            <a:ext cx="2834640" cy="2834640"/>
          </a:xfrm>
          <a:prstGeom prst="diamond">
            <a:avLst/>
          </a:prstGeom>
          <a:solidFill>
            <a:srgbClr val="F47B20">
              <a:alpha val="12000"/>
            </a:srgbClr>
          </a:solidFill>
          <a:ln w="12700">
            <a:solidFill>
              <a:srgbClr val="F47B20"/>
            </a:solidFill>
            <a:prstDash val="solid"/>
          </a:ln>
        </p:spPr>
      </p:sp>
      <p:sp>
        <p:nvSpPr>
          <p:cNvPr id="3" name="Shape 1"/>
          <p:cNvSpPr/>
          <p:nvPr/>
        </p:nvSpPr>
        <p:spPr>
          <a:xfrm>
            <a:off x="9464040" y="1783080"/>
            <a:ext cx="1371600" cy="1371600"/>
          </a:xfrm>
          <a:prstGeom prst="diamond">
            <a:avLst/>
          </a:prstGeom>
          <a:solidFill>
            <a:srgbClr val="F47B20"/>
          </a:solidFill>
          <a:ln/>
        </p:spPr>
      </p:sp>
      <p:sp>
        <p:nvSpPr>
          <p:cNvPr id="4" name="Shape 2"/>
          <p:cNvSpPr/>
          <p:nvPr/>
        </p:nvSpPr>
        <p:spPr>
          <a:xfrm>
            <a:off x="566928" y="658368"/>
            <a:ext cx="173736" cy="173736"/>
          </a:xfrm>
          <a:prstGeom prst="diamond">
            <a:avLst/>
          </a:prstGeom>
          <a:solidFill>
            <a:srgbClr val="F47B20"/>
          </a:solidFill>
          <a:ln/>
        </p:spPr>
      </p:sp>
      <p:sp>
        <p:nvSpPr>
          <p:cNvPr id="5" name="Text 3"/>
          <p:cNvSpPr txBox="1"/>
          <p:nvPr/>
        </p:nvSpPr>
        <p:spPr>
          <a:xfrm>
            <a:off x="868680" y="548640"/>
            <a:ext cx="7680960" cy="329184"/>
          </a:xfrm>
          <a:prstGeom prst="rect">
            <a:avLst/>
          </a:prstGeom>
          <a:noFill/>
          <a:ln/>
        </p:spPr>
        <p:txBody>
          <a:bodyPr wrap="square" lIns="0" tIns="0" rIns="0" bIns="0" rtlCol="0" anchor="ctr"/>
          <a:lstStyle/>
          <a:p>
            <a:pPr indent="0" marL="0">
              <a:buNone/>
            </a:pPr>
            <a:r>
              <a:rPr lang="en-US" sz="1150" b="1" spc="260" kern="0" dirty="0">
                <a:solidFill>
                  <a:srgbClr val="F47B20"/>
                </a:solidFill>
                <a:latin typeface="Arial" pitchFamily="34" charset="0"/>
                <a:ea typeface="Arial" pitchFamily="34" charset="-122"/>
                <a:cs typeface="Arial" pitchFamily="34" charset="-120"/>
              </a:rPr>
              <a:t>EKUSI LORE   ·   TURKANA COUNTY   ·   SENATE 2027</a:t>
            </a:r>
            <a:endParaRPr lang="en-US" sz="1150" dirty="0"/>
          </a:p>
        </p:txBody>
      </p:sp>
      <p:sp>
        <p:nvSpPr>
          <p:cNvPr id="6" name="Text 4"/>
          <p:cNvSpPr txBox="1"/>
          <p:nvPr/>
        </p:nvSpPr>
        <p:spPr>
          <a:xfrm>
            <a:off x="566928" y="1874520"/>
            <a:ext cx="7863840" cy="2651760"/>
          </a:xfrm>
          <a:prstGeom prst="rect">
            <a:avLst/>
          </a:prstGeom>
          <a:noFill/>
          <a:ln/>
        </p:spPr>
        <p:txBody>
          <a:bodyPr wrap="square" lIns="0" tIns="0" rIns="0" bIns="0" rtlCol="0" anchor="ctr"/>
          <a:lstStyle/>
          <a:p>
            <a:pPr indent="0" marL="0">
              <a:lnSpc>
                <a:spcPts val="5300"/>
              </a:lnSpc>
              <a:buNone/>
            </a:pPr>
            <a:r>
              <a:rPr lang="en-US" sz="4700" b="1" dirty="0">
                <a:solidFill>
                  <a:srgbClr val="F4F2EE"/>
                </a:solidFill>
                <a:latin typeface="Arial" pitchFamily="34" charset="0"/>
                <a:ea typeface="Arial" pitchFamily="34" charset="-122"/>
                <a:cs typeface="Arial" pitchFamily="34" charset="-120"/>
              </a:rPr>
              <a:t>We don't guess</a:t>
            </a:r>
            <a:endParaRPr lang="en-US" sz="4700" dirty="0"/>
          </a:p>
          <a:p>
            <a:pPr indent="0" marL="0">
              <a:lnSpc>
                <a:spcPts val="5300"/>
              </a:lnSpc>
              <a:buNone/>
            </a:pPr>
            <a:r>
              <a:rPr lang="en-US" sz="4700" b="1" dirty="0">
                <a:solidFill>
                  <a:srgbClr val="F4F2EE"/>
                </a:solidFill>
                <a:latin typeface="Arial" pitchFamily="34" charset="0"/>
                <a:ea typeface="Arial" pitchFamily="34" charset="-122"/>
                <a:cs typeface="Arial" pitchFamily="34" charset="-120"/>
              </a:rPr>
              <a:t>who is with us.</a:t>
            </a:r>
            <a:endParaRPr lang="en-US" sz="4700" dirty="0"/>
          </a:p>
          <a:p>
            <a:pPr indent="0" marL="0">
              <a:lnSpc>
                <a:spcPts val="5300"/>
              </a:lnSpc>
              <a:buNone/>
            </a:pPr>
            <a:r>
              <a:rPr lang="en-US" sz="4700" b="1" dirty="0">
                <a:solidFill>
                  <a:srgbClr val="F4F2EE"/>
                </a:solidFill>
                <a:latin typeface="Arial" pitchFamily="34" charset="0"/>
                <a:ea typeface="Arial" pitchFamily="34" charset="-122"/>
                <a:cs typeface="Arial" pitchFamily="34" charset="-120"/>
              </a:rPr>
              <a:t>We can name them.</a:t>
            </a:r>
            <a:endParaRPr lang="en-US" sz="4700" dirty="0"/>
          </a:p>
        </p:txBody>
      </p:sp>
      <p:sp>
        <p:nvSpPr>
          <p:cNvPr id="7" name="Text 5"/>
          <p:cNvSpPr txBox="1"/>
          <p:nvPr/>
        </p:nvSpPr>
        <p:spPr>
          <a:xfrm>
            <a:off x="566928" y="4709160"/>
            <a:ext cx="7223760" cy="640080"/>
          </a:xfrm>
          <a:prstGeom prst="rect">
            <a:avLst/>
          </a:prstGeom>
          <a:noFill/>
          <a:ln/>
        </p:spPr>
        <p:txBody>
          <a:bodyPr wrap="square" lIns="0" tIns="0" rIns="0" bIns="0" rtlCol="0" anchor="ctr"/>
          <a:lstStyle/>
          <a:p>
            <a:pPr indent="0" marL="0">
              <a:lnSpc>
                <a:spcPts val="2300"/>
              </a:lnSpc>
              <a:buNone/>
            </a:pPr>
            <a:r>
              <a:rPr lang="en-US" sz="1550" dirty="0">
                <a:solidFill>
                  <a:srgbClr val="B2B8C4"/>
                </a:solidFill>
                <a:latin typeface="Arial" pitchFamily="34" charset="0"/>
                <a:ea typeface="Arial" pitchFamily="34" charset="-122"/>
                <a:cs typeface="Arial" pitchFamily="34" charset="-120"/>
              </a:rPr>
              <a:t>A supporter register for Turkana — built so every number on it can survive being questioned.</a:t>
            </a:r>
            <a:endParaRPr lang="en-US" sz="1550" dirty="0"/>
          </a:p>
        </p:txBody>
      </p:sp>
      <p:sp>
        <p:nvSpPr>
          <p:cNvPr id="8" name="Shape 6"/>
          <p:cNvSpPr/>
          <p:nvPr/>
        </p:nvSpPr>
        <p:spPr>
          <a:xfrm>
            <a:off x="566928" y="5687568"/>
            <a:ext cx="11027664" cy="0"/>
          </a:xfrm>
          <a:prstGeom prst="line">
            <a:avLst/>
          </a:prstGeom>
          <a:noFill/>
          <a:ln w="12700">
            <a:solidFill>
              <a:srgbClr val="2E3543"/>
            </a:solidFill>
            <a:prstDash val="solid"/>
          </a:ln>
        </p:spPr>
      </p:sp>
      <p:sp>
        <p:nvSpPr>
          <p:cNvPr id="9" name="Text 7"/>
          <p:cNvSpPr txBox="1"/>
          <p:nvPr/>
        </p:nvSpPr>
        <p:spPr>
          <a:xfrm>
            <a:off x="566928" y="5833872"/>
            <a:ext cx="5486400" cy="292608"/>
          </a:xfrm>
          <a:prstGeom prst="rect">
            <a:avLst/>
          </a:prstGeom>
          <a:noFill/>
          <a:ln/>
        </p:spPr>
        <p:txBody>
          <a:bodyPr wrap="square" lIns="0" tIns="0" rIns="0" bIns="0" rtlCol="0" anchor="ctr"/>
          <a:lstStyle/>
          <a:p>
            <a:pPr indent="0" marL="0">
              <a:buNone/>
            </a:pPr>
            <a:r>
              <a:rPr lang="en-US" sz="1000" b="1" spc="200" kern="0" dirty="0">
                <a:solidFill>
                  <a:srgbClr val="868D9C"/>
                </a:solidFill>
                <a:latin typeface="Arial" pitchFamily="34" charset="0"/>
                <a:ea typeface="Arial" pitchFamily="34" charset="-122"/>
                <a:cs typeface="Arial" pitchFamily="34" charset="-120"/>
              </a:rPr>
              <a:t>AKIYAR   ·   COMMAND BRIEF</a:t>
            </a:r>
            <a:endParaRPr lang="en-US" sz="1000" dirty="0"/>
          </a:p>
        </p:txBody>
      </p:sp>
      <p:sp>
        <p:nvSpPr>
          <p:cNvPr id="10" name="Text 8"/>
          <p:cNvSpPr txBox="1"/>
          <p:nvPr/>
        </p:nvSpPr>
        <p:spPr>
          <a:xfrm>
            <a:off x="6108192" y="5833872"/>
            <a:ext cx="5486400" cy="292608"/>
          </a:xfrm>
          <a:prstGeom prst="rect">
            <a:avLst/>
          </a:prstGeom>
          <a:noFill/>
          <a:ln/>
        </p:spPr>
        <p:txBody>
          <a:bodyPr wrap="square" lIns="0" tIns="0" rIns="0" bIns="0" rtlCol="0" anchor="ctr"/>
          <a:lstStyle/>
          <a:p>
            <a:pPr algn="r" indent="0" marL="0">
              <a:buNone/>
            </a:pPr>
            <a:r>
              <a:rPr lang="en-US" sz="1000" dirty="0">
                <a:solidFill>
                  <a:srgbClr val="868D9C"/>
                </a:solidFill>
                <a:latin typeface="Arial" pitchFamily="34" charset="0"/>
                <a:ea typeface="Arial" pitchFamily="34" charset="-122"/>
                <a:cs typeface="Arial" pitchFamily="34" charset="-120"/>
              </a:rPr>
              <a:t>Prepared for Hon. Ekusi Lore   ·   Internal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60A"/>
        </a:solidFill>
      </p:bgPr>
    </p:bg>
    <p:spTree>
      <p:nvGrpSpPr>
        <p:cNvPr id="1" name=""/>
        <p:cNvGrpSpPr/>
        <p:nvPr/>
      </p:nvGrpSpPr>
      <p:grpSpPr>
        <a:xfrm>
          <a:off x="0" y="0"/>
          <a:ext cx="0" cy="0"/>
          <a:chOff x="0" y="0"/>
          <a:chExt cx="0" cy="0"/>
        </a:xfrm>
      </p:grpSpPr>
      <p:sp>
        <p:nvSpPr>
          <p:cNvPr id="2" name="Shape 0"/>
          <p:cNvSpPr/>
          <p:nvPr/>
        </p:nvSpPr>
        <p:spPr>
          <a:xfrm>
            <a:off x="566928" y="566928"/>
            <a:ext cx="137160" cy="137160"/>
          </a:xfrm>
          <a:prstGeom prst="diamond">
            <a:avLst/>
          </a:prstGeom>
          <a:solidFill>
            <a:srgbClr val="F47B20"/>
          </a:solidFill>
          <a:ln/>
        </p:spPr>
      </p:sp>
      <p:sp>
        <p:nvSpPr>
          <p:cNvPr id="3" name="Text 1"/>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AGENDA</a:t>
            </a:r>
            <a:endParaRPr lang="en-US" sz="1100" dirty="0"/>
          </a:p>
        </p:txBody>
      </p:sp>
      <p:sp>
        <p:nvSpPr>
          <p:cNvPr id="4" name="Text 2"/>
          <p:cNvSpPr txBox="1"/>
          <p:nvPr/>
        </p:nvSpPr>
        <p:spPr>
          <a:xfrm>
            <a:off x="566928" y="896112"/>
            <a:ext cx="548640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Ten minutes.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Six things.</a:t>
            </a:r>
            <a:endParaRPr lang="en-US" sz="3400" dirty="0"/>
          </a:p>
        </p:txBody>
      </p:sp>
      <p:sp>
        <p:nvSpPr>
          <p:cNvPr id="5" name="Text 3"/>
          <p:cNvSpPr txBox="1"/>
          <p:nvPr/>
        </p:nvSpPr>
        <p:spPr>
          <a:xfrm>
            <a:off x="566928" y="2212848"/>
            <a:ext cx="4937760" cy="365760"/>
          </a:xfrm>
          <a:prstGeom prst="rect">
            <a:avLst/>
          </a:prstGeom>
          <a:noFill/>
          <a:ln/>
        </p:spPr>
        <p:txBody>
          <a:bodyPr wrap="square" lIns="0" tIns="0" rIns="0" bIns="0" rtlCol="0" anchor="ctr"/>
          <a:lstStyle/>
          <a:p>
            <a:pPr indent="0" marL="0">
              <a:buNone/>
            </a:pPr>
            <a:r>
              <a:rPr lang="en-US" sz="1200" i="1" dirty="0">
                <a:solidFill>
                  <a:srgbClr val="868D9C"/>
                </a:solidFill>
                <a:latin typeface="Arial" pitchFamily="34" charset="0"/>
                <a:ea typeface="Arial" pitchFamily="34" charset="-122"/>
                <a:cs typeface="Arial" pitchFamily="34" charset="-120"/>
              </a:rPr>
              <a:t>Click any line to jump straight to it.</a:t>
            </a:r>
            <a:endParaRPr lang="en-US" sz="1200" dirty="0"/>
          </a:p>
        </p:txBody>
      </p:sp>
      <p:sp>
        <p:nvSpPr>
          <p:cNvPr id="6" name="Shape 4"/>
          <p:cNvSpPr/>
          <p:nvPr/>
        </p:nvSpPr>
        <p:spPr>
          <a:xfrm>
            <a:off x="566928" y="2889504"/>
            <a:ext cx="4846320" cy="0"/>
          </a:xfrm>
          <a:prstGeom prst="line">
            <a:avLst/>
          </a:prstGeom>
          <a:noFill/>
          <a:ln w="12700">
            <a:solidFill>
              <a:srgbClr val="2E3543"/>
            </a:solidFill>
            <a:prstDash val="solid"/>
          </a:ln>
        </p:spPr>
      </p:sp>
      <p:sp>
        <p:nvSpPr>
          <p:cNvPr id="7" name="Text 5"/>
          <p:cNvSpPr txBox="1"/>
          <p:nvPr/>
        </p:nvSpPr>
        <p:spPr>
          <a:xfrm>
            <a:off x="566928" y="3054096"/>
            <a:ext cx="4846320" cy="274320"/>
          </a:xfrm>
          <a:prstGeom prst="rect">
            <a:avLst/>
          </a:prstGeom>
          <a:noFill/>
          <a:ln/>
        </p:spPr>
        <p:txBody>
          <a:bodyPr wrap="square" lIns="0" tIns="0" rIns="0" bIns="0" rtlCol="0" anchor="ctr"/>
          <a:lstStyle/>
          <a:p>
            <a:pPr indent="0" marL="0">
              <a:buNone/>
            </a:pPr>
            <a:r>
              <a:rPr lang="en-US" sz="1000" b="1" spc="180" kern="0" dirty="0">
                <a:solidFill>
                  <a:srgbClr val="868D9C"/>
                </a:solidFill>
                <a:latin typeface="Arial" pitchFamily="34" charset="0"/>
                <a:ea typeface="Arial" pitchFamily="34" charset="-122"/>
                <a:cs typeface="Arial" pitchFamily="34" charset="-120"/>
              </a:rPr>
              <a:t>WHAT WE ARE PLAYING FOR</a:t>
            </a:r>
            <a:endParaRPr lang="en-US" sz="1000" dirty="0"/>
          </a:p>
        </p:txBody>
      </p:sp>
      <p:sp>
        <p:nvSpPr>
          <p:cNvPr id="8" name="Text 6"/>
          <p:cNvSpPr txBox="1"/>
          <p:nvPr/>
        </p:nvSpPr>
        <p:spPr>
          <a:xfrm>
            <a:off x="566928" y="3529584"/>
            <a:ext cx="1920240" cy="457200"/>
          </a:xfrm>
          <a:prstGeom prst="rect">
            <a:avLst/>
          </a:prstGeom>
          <a:noFill/>
          <a:ln/>
        </p:spPr>
        <p:txBody>
          <a:bodyPr wrap="square" lIns="0" tIns="0" rIns="0" bIns="0" rtlCol="0" anchor="ctr"/>
          <a:lstStyle/>
          <a:p>
            <a:pPr indent="0" marL="0">
              <a:buNone/>
            </a:pPr>
            <a:r>
              <a:rPr lang="en-US" sz="2600" b="1" dirty="0">
                <a:solidFill>
                  <a:srgbClr val="F47B20"/>
                </a:solidFill>
                <a:latin typeface="Arial" pitchFamily="34" charset="0"/>
                <a:ea typeface="Arial" pitchFamily="34" charset="-122"/>
                <a:cs typeface="Arial" pitchFamily="34" charset="-120"/>
              </a:rPr>
              <a:t>238,528</a:t>
            </a:r>
            <a:endParaRPr lang="en-US" sz="2600" dirty="0"/>
          </a:p>
        </p:txBody>
      </p:sp>
      <p:sp>
        <p:nvSpPr>
          <p:cNvPr id="9" name="Text 7"/>
          <p:cNvSpPr txBox="1"/>
          <p:nvPr/>
        </p:nvSpPr>
        <p:spPr>
          <a:xfrm>
            <a:off x="2624328" y="3639312"/>
            <a:ext cx="283464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registered voters in Turkana</a:t>
            </a:r>
            <a:endParaRPr lang="en-US" sz="1150" dirty="0"/>
          </a:p>
        </p:txBody>
      </p:sp>
      <p:sp>
        <p:nvSpPr>
          <p:cNvPr id="10" name="Text 8"/>
          <p:cNvSpPr txBox="1"/>
          <p:nvPr/>
        </p:nvSpPr>
        <p:spPr>
          <a:xfrm>
            <a:off x="566928" y="4370832"/>
            <a:ext cx="1920240" cy="457200"/>
          </a:xfrm>
          <a:prstGeom prst="rect">
            <a:avLst/>
          </a:prstGeom>
          <a:noFill/>
          <a:ln/>
        </p:spPr>
        <p:txBody>
          <a:bodyPr wrap="square" lIns="0" tIns="0" rIns="0" bIns="0" rtlCol="0" anchor="ctr"/>
          <a:lstStyle/>
          <a:p>
            <a:pPr indent="0" marL="0">
              <a:buNone/>
            </a:pPr>
            <a:r>
              <a:rPr lang="en-US" sz="2600" b="1" dirty="0">
                <a:solidFill>
                  <a:srgbClr val="F4F2EE"/>
                </a:solidFill>
                <a:latin typeface="Arial" pitchFamily="34" charset="0"/>
                <a:ea typeface="Arial" pitchFamily="34" charset="-122"/>
                <a:cs typeface="Arial" pitchFamily="34" charset="-120"/>
              </a:rPr>
              <a:t>30</a:t>
            </a:r>
            <a:endParaRPr lang="en-US" sz="2600" dirty="0"/>
          </a:p>
        </p:txBody>
      </p:sp>
      <p:sp>
        <p:nvSpPr>
          <p:cNvPr id="11" name="Text 9"/>
          <p:cNvSpPr txBox="1"/>
          <p:nvPr/>
        </p:nvSpPr>
        <p:spPr>
          <a:xfrm>
            <a:off x="2624328" y="4480560"/>
            <a:ext cx="283464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wards, each with its own real total</a:t>
            </a:r>
            <a:endParaRPr lang="en-US" sz="1150" dirty="0"/>
          </a:p>
        </p:txBody>
      </p:sp>
      <p:sp>
        <p:nvSpPr>
          <p:cNvPr id="12" name="Text 10"/>
          <p:cNvSpPr txBox="1"/>
          <p:nvPr/>
        </p:nvSpPr>
        <p:spPr>
          <a:xfrm>
            <a:off x="566928" y="5212080"/>
            <a:ext cx="1920240" cy="457200"/>
          </a:xfrm>
          <a:prstGeom prst="rect">
            <a:avLst/>
          </a:prstGeom>
          <a:noFill/>
          <a:ln/>
        </p:spPr>
        <p:txBody>
          <a:bodyPr wrap="square" lIns="0" tIns="0" rIns="0" bIns="0" rtlCol="0" anchor="ctr"/>
          <a:lstStyle/>
          <a:p>
            <a:pPr indent="0" marL="0">
              <a:buNone/>
            </a:pPr>
            <a:r>
              <a:rPr lang="en-US" sz="2600" b="1" dirty="0">
                <a:solidFill>
                  <a:srgbClr val="F4F2EE"/>
                </a:solidFill>
                <a:latin typeface="Arial" pitchFamily="34" charset="0"/>
                <a:ea typeface="Arial" pitchFamily="34" charset="-122"/>
                <a:cs typeface="Arial" pitchFamily="34" charset="-120"/>
              </a:rPr>
              <a:t>559</a:t>
            </a:r>
            <a:endParaRPr lang="en-US" sz="2600" dirty="0"/>
          </a:p>
        </p:txBody>
      </p:sp>
      <p:sp>
        <p:nvSpPr>
          <p:cNvPr id="13" name="Text 11"/>
          <p:cNvSpPr txBox="1"/>
          <p:nvPr/>
        </p:nvSpPr>
        <p:spPr>
          <a:xfrm>
            <a:off x="2624328" y="5321808"/>
            <a:ext cx="283464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polling stations where it is counted</a:t>
            </a:r>
            <a:endParaRPr lang="en-US" sz="1150" dirty="0"/>
          </a:p>
        </p:txBody>
      </p:sp>
      <p:sp>
        <p:nvSpPr>
          <p:cNvPr id="14" name="Shape 12"/>
          <p:cNvSpPr/>
          <p:nvPr/>
        </p:nvSpPr>
        <p:spPr>
          <a:xfrm>
            <a:off x="5943600" y="932688"/>
            <a:ext cx="5650992" cy="694944"/>
          </a:xfrm>
          <a:prstGeom prst="roundRect">
            <a:avLst>
              <a:gd name="adj" fmla="val 3947"/>
            </a:avLst>
          </a:prstGeom>
          <a:solidFill>
            <a:srgbClr val="11141C"/>
          </a:solidFill>
          <a:ln w="9525">
            <a:solidFill>
              <a:srgbClr val="232833"/>
            </a:solidFill>
            <a:prstDash val="solid"/>
          </a:ln>
        </p:spPr>
      </p:sp>
      <p:sp>
        <p:nvSpPr>
          <p:cNvPr id="15" name="Text 13"/>
          <p:cNvSpPr txBox="1"/>
          <p:nvPr/>
        </p:nvSpPr>
        <p:spPr>
          <a:xfrm>
            <a:off x="6163056" y="111556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01</a:t>
            </a:r>
            <a:endParaRPr lang="en-US" sz="1200" dirty="0"/>
          </a:p>
        </p:txBody>
      </p:sp>
      <p:sp>
        <p:nvSpPr>
          <p:cNvPr id="16" name="Text 14">
            <a:hlinkClick r:id="rId1" tooltip="The problem" action="ppaction://hlinksldjump"/>
          </p:cNvPr>
          <p:cNvSpPr txBox="1"/>
          <p:nvPr/>
        </p:nvSpPr>
        <p:spPr>
          <a:xfrm>
            <a:off x="6693408" y="103327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1" action="ppaction://hlinksldjump" tooltip="The problem">
                  <a:extLst>
                    <a:ext uri="{A12FA001-AC4F-418D-AE19-62706E023703}">
                      <ahyp:hlinkClr xmlns:ahyp="http://schemas.microsoft.com/office/drawing/2018/hyperlinkcolor" val="tx"/>
                    </a:ext>
                  </a:extLst>
                </a:hlinkClick>
              </a:rPr>
              <a:t>The problem</a:t>
            </a:r>
            <a:endParaRPr lang="en-US" sz="1450" dirty="0"/>
          </a:p>
        </p:txBody>
      </p:sp>
      <p:sp>
        <p:nvSpPr>
          <p:cNvPr id="17" name="Text 15"/>
          <p:cNvSpPr txBox="1"/>
          <p:nvPr/>
        </p:nvSpPr>
        <p:spPr>
          <a:xfrm>
            <a:off x="6693408" y="131673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Everyone in this race is guessing</a:t>
            </a:r>
            <a:endParaRPr lang="en-US" sz="1050" dirty="0"/>
          </a:p>
        </p:txBody>
      </p:sp>
      <p:sp>
        <p:nvSpPr>
          <p:cNvPr id="18" name="Shape 16"/>
          <p:cNvSpPr/>
          <p:nvPr/>
        </p:nvSpPr>
        <p:spPr>
          <a:xfrm>
            <a:off x="11228832" y="1234440"/>
            <a:ext cx="100584" cy="100584"/>
          </a:xfrm>
          <a:prstGeom prst="diamond">
            <a:avLst/>
          </a:prstGeom>
          <a:solidFill>
            <a:srgbClr val="868D9C"/>
          </a:solidFill>
          <a:ln/>
        </p:spPr>
      </p:sp>
      <p:sp>
        <p:nvSpPr>
          <p:cNvPr id="19" name="Shape 17"/>
          <p:cNvSpPr/>
          <p:nvPr/>
        </p:nvSpPr>
        <p:spPr>
          <a:xfrm>
            <a:off x="5943600" y="1755648"/>
            <a:ext cx="5650992" cy="694944"/>
          </a:xfrm>
          <a:prstGeom prst="roundRect">
            <a:avLst>
              <a:gd name="adj" fmla="val 3947"/>
            </a:avLst>
          </a:prstGeom>
          <a:solidFill>
            <a:srgbClr val="11141C"/>
          </a:solidFill>
          <a:ln w="9525">
            <a:solidFill>
              <a:srgbClr val="232833"/>
            </a:solidFill>
            <a:prstDash val="solid"/>
          </a:ln>
        </p:spPr>
      </p:sp>
      <p:sp>
        <p:nvSpPr>
          <p:cNvPr id="20" name="Text 18"/>
          <p:cNvSpPr txBox="1"/>
          <p:nvPr/>
        </p:nvSpPr>
        <p:spPr>
          <a:xfrm>
            <a:off x="6163056" y="193852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02</a:t>
            </a:r>
            <a:endParaRPr lang="en-US" sz="1200" dirty="0"/>
          </a:p>
        </p:txBody>
      </p:sp>
      <p:sp>
        <p:nvSpPr>
          <p:cNvPr id="21" name="Text 19">
            <a:hlinkClick r:id="rId2" tooltip="What we collect" action="ppaction://hlinksldjump"/>
          </p:cNvPr>
          <p:cNvSpPr txBox="1"/>
          <p:nvPr/>
        </p:nvSpPr>
        <p:spPr>
          <a:xfrm>
            <a:off x="6693408" y="185623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2" action="ppaction://hlinksldjump" tooltip="What we collect">
                  <a:extLst>
                    <a:ext uri="{A12FA001-AC4F-418D-AE19-62706E023703}">
                      <ahyp:hlinkClr xmlns:ahyp="http://schemas.microsoft.com/office/drawing/2018/hyperlinkcolor" val="tx"/>
                    </a:ext>
                  </a:extLst>
                </a:hlinkClick>
              </a:rPr>
              <a:t>What we collect</a:t>
            </a:r>
            <a:endParaRPr lang="en-US" sz="1450" dirty="0"/>
          </a:p>
        </p:txBody>
      </p:sp>
      <p:sp>
        <p:nvSpPr>
          <p:cNvPr id="22" name="Text 20"/>
          <p:cNvSpPr txBox="1"/>
          <p:nvPr/>
        </p:nvSpPr>
        <p:spPr>
          <a:xfrm>
            <a:off x="6693408" y="213969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One supporter, five facts</a:t>
            </a:r>
            <a:endParaRPr lang="en-US" sz="1050" dirty="0"/>
          </a:p>
        </p:txBody>
      </p:sp>
      <p:sp>
        <p:nvSpPr>
          <p:cNvPr id="23" name="Shape 21"/>
          <p:cNvSpPr/>
          <p:nvPr/>
        </p:nvSpPr>
        <p:spPr>
          <a:xfrm>
            <a:off x="11228832" y="2057400"/>
            <a:ext cx="100584" cy="100584"/>
          </a:xfrm>
          <a:prstGeom prst="diamond">
            <a:avLst/>
          </a:prstGeom>
          <a:solidFill>
            <a:srgbClr val="868D9C"/>
          </a:solidFill>
          <a:ln/>
        </p:spPr>
      </p:sp>
      <p:sp>
        <p:nvSpPr>
          <p:cNvPr id="24" name="Shape 22"/>
          <p:cNvSpPr/>
          <p:nvPr/>
        </p:nvSpPr>
        <p:spPr>
          <a:xfrm>
            <a:off x="5943600" y="2578608"/>
            <a:ext cx="5650992" cy="694944"/>
          </a:xfrm>
          <a:prstGeom prst="roundRect">
            <a:avLst>
              <a:gd name="adj" fmla="val 3947"/>
            </a:avLst>
          </a:prstGeom>
          <a:solidFill>
            <a:srgbClr val="11141C"/>
          </a:solidFill>
          <a:ln w="9525">
            <a:solidFill>
              <a:srgbClr val="232833"/>
            </a:solidFill>
            <a:prstDash val="solid"/>
          </a:ln>
        </p:spPr>
      </p:sp>
      <p:sp>
        <p:nvSpPr>
          <p:cNvPr id="25" name="Text 23"/>
          <p:cNvSpPr txBox="1"/>
          <p:nvPr/>
        </p:nvSpPr>
        <p:spPr>
          <a:xfrm>
            <a:off x="6163056" y="276148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03</a:t>
            </a:r>
            <a:endParaRPr lang="en-US" sz="1200" dirty="0"/>
          </a:p>
        </p:txBody>
      </p:sp>
      <p:sp>
        <p:nvSpPr>
          <p:cNvPr id="26" name="Text 24">
            <a:hlinkClick r:id="rId3" tooltip="Why saturation wins" action="ppaction://hlinksldjump"/>
          </p:cNvPr>
          <p:cNvSpPr txBox="1"/>
          <p:nvPr/>
        </p:nvSpPr>
        <p:spPr>
          <a:xfrm>
            <a:off x="6693408" y="267919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3" action="ppaction://hlinksldjump" tooltip="Why saturation wins">
                  <a:extLst>
                    <a:ext uri="{A12FA001-AC4F-418D-AE19-62706E023703}">
                      <ahyp:hlinkClr xmlns:ahyp="http://schemas.microsoft.com/office/drawing/2018/hyperlinkcolor" val="tx"/>
                    </a:ext>
                  </a:extLst>
                </a:hlinkClick>
              </a:rPr>
              <a:t>Why saturation wins</a:t>
            </a:r>
            <a:endParaRPr lang="en-US" sz="1450" dirty="0"/>
          </a:p>
        </p:txBody>
      </p:sp>
      <p:sp>
        <p:nvSpPr>
          <p:cNvPr id="27" name="Text 25"/>
          <p:cNvSpPr txBox="1"/>
          <p:nvPr/>
        </p:nvSpPr>
        <p:spPr>
          <a:xfrm>
            <a:off x="6693408" y="296265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Headcount lies. Share doesn't</a:t>
            </a:r>
            <a:endParaRPr lang="en-US" sz="1050" dirty="0"/>
          </a:p>
        </p:txBody>
      </p:sp>
      <p:sp>
        <p:nvSpPr>
          <p:cNvPr id="28" name="Shape 26"/>
          <p:cNvSpPr/>
          <p:nvPr/>
        </p:nvSpPr>
        <p:spPr>
          <a:xfrm>
            <a:off x="11228832" y="2880360"/>
            <a:ext cx="100584" cy="100584"/>
          </a:xfrm>
          <a:prstGeom prst="diamond">
            <a:avLst/>
          </a:prstGeom>
          <a:solidFill>
            <a:srgbClr val="868D9C"/>
          </a:solidFill>
          <a:ln/>
        </p:spPr>
      </p:sp>
      <p:sp>
        <p:nvSpPr>
          <p:cNvPr id="29" name="Shape 27"/>
          <p:cNvSpPr/>
          <p:nvPr/>
        </p:nvSpPr>
        <p:spPr>
          <a:xfrm>
            <a:off x="5943600" y="3401568"/>
            <a:ext cx="5650992" cy="694944"/>
          </a:xfrm>
          <a:prstGeom prst="roundRect">
            <a:avLst>
              <a:gd name="adj" fmla="val 3947"/>
            </a:avLst>
          </a:prstGeom>
          <a:solidFill>
            <a:srgbClr val="11141C"/>
          </a:solidFill>
          <a:ln w="9525">
            <a:solidFill>
              <a:srgbClr val="232833"/>
            </a:solidFill>
            <a:prstDash val="solid"/>
          </a:ln>
        </p:spPr>
      </p:sp>
      <p:sp>
        <p:nvSpPr>
          <p:cNvPr id="30" name="Text 28"/>
          <p:cNvSpPr txBox="1"/>
          <p:nvPr/>
        </p:nvSpPr>
        <p:spPr>
          <a:xfrm>
            <a:off x="6163056" y="358444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04</a:t>
            </a:r>
            <a:endParaRPr lang="en-US" sz="1200" dirty="0"/>
          </a:p>
        </p:txBody>
      </p:sp>
      <p:sp>
        <p:nvSpPr>
          <p:cNvPr id="31" name="Text 29">
            <a:hlinkClick r:id="rId4" tooltip="Where to go next" action="ppaction://hlinksldjump"/>
          </p:cNvPr>
          <p:cNvSpPr txBox="1"/>
          <p:nvPr/>
        </p:nvSpPr>
        <p:spPr>
          <a:xfrm>
            <a:off x="6693408" y="350215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4" action="ppaction://hlinksldjump" tooltip="Where to go next">
                  <a:extLst>
                    <a:ext uri="{A12FA001-AC4F-418D-AE19-62706E023703}">
                      <ahyp:hlinkClr xmlns:ahyp="http://schemas.microsoft.com/office/drawing/2018/hyperlinkcolor" val="tx"/>
                    </a:ext>
                  </a:extLst>
                </a:hlinkClick>
              </a:rPr>
              <a:t>Where to go next</a:t>
            </a:r>
            <a:endParaRPr lang="en-US" sz="1450" dirty="0"/>
          </a:p>
        </p:txBody>
      </p:sp>
      <p:sp>
        <p:nvSpPr>
          <p:cNvPr id="32" name="Text 30"/>
          <p:cNvSpPr txBox="1"/>
          <p:nvPr/>
        </p:nvSpPr>
        <p:spPr>
          <a:xfrm>
            <a:off x="6693408" y="378561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The board picks the route</a:t>
            </a:r>
            <a:endParaRPr lang="en-US" sz="1050" dirty="0"/>
          </a:p>
        </p:txBody>
      </p:sp>
      <p:sp>
        <p:nvSpPr>
          <p:cNvPr id="33" name="Shape 31"/>
          <p:cNvSpPr/>
          <p:nvPr/>
        </p:nvSpPr>
        <p:spPr>
          <a:xfrm>
            <a:off x="11228832" y="3703320"/>
            <a:ext cx="100584" cy="100584"/>
          </a:xfrm>
          <a:prstGeom prst="diamond">
            <a:avLst/>
          </a:prstGeom>
          <a:solidFill>
            <a:srgbClr val="868D9C"/>
          </a:solidFill>
          <a:ln/>
        </p:spPr>
      </p:sp>
      <p:sp>
        <p:nvSpPr>
          <p:cNvPr id="34" name="Shape 32"/>
          <p:cNvSpPr/>
          <p:nvPr/>
        </p:nvSpPr>
        <p:spPr>
          <a:xfrm>
            <a:off x="5943600" y="4224528"/>
            <a:ext cx="5650992" cy="694944"/>
          </a:xfrm>
          <a:prstGeom prst="roundRect">
            <a:avLst>
              <a:gd name="adj" fmla="val 3947"/>
            </a:avLst>
          </a:prstGeom>
          <a:solidFill>
            <a:srgbClr val="11141C"/>
          </a:solidFill>
          <a:ln w="9525">
            <a:solidFill>
              <a:srgbClr val="232833"/>
            </a:solidFill>
            <a:prstDash val="solid"/>
          </a:ln>
        </p:spPr>
      </p:sp>
      <p:sp>
        <p:nvSpPr>
          <p:cNvPr id="35" name="Text 33"/>
          <p:cNvSpPr txBox="1"/>
          <p:nvPr/>
        </p:nvSpPr>
        <p:spPr>
          <a:xfrm>
            <a:off x="6163056" y="440740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05</a:t>
            </a:r>
            <a:endParaRPr lang="en-US" sz="1200" dirty="0"/>
          </a:p>
        </p:txBody>
      </p:sp>
      <p:sp>
        <p:nvSpPr>
          <p:cNvPr id="36" name="Text 34">
            <a:hlinkClick r:id="rId5" tooltip="Reaching all of Turkana" action="ppaction://hlinksldjump"/>
          </p:cNvPr>
          <p:cNvSpPr txBox="1"/>
          <p:nvPr/>
        </p:nvSpPr>
        <p:spPr>
          <a:xfrm>
            <a:off x="6693408" y="432511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5" action="ppaction://hlinksldjump" tooltip="Reaching all of Turkana">
                  <a:extLst>
                    <a:ext uri="{A12FA001-AC4F-418D-AE19-62706E023703}">
                      <ahyp:hlinkClr xmlns:ahyp="http://schemas.microsoft.com/office/drawing/2018/hyperlinkcolor" val="tx"/>
                    </a:ext>
                  </a:extLst>
                </a:hlinkClick>
              </a:rPr>
              <a:t>Reaching all of Turkana</a:t>
            </a:r>
            <a:endParaRPr lang="en-US" sz="1450" dirty="0"/>
          </a:p>
        </p:txBody>
      </p:sp>
      <p:sp>
        <p:nvSpPr>
          <p:cNvPr id="37" name="Text 35"/>
          <p:cNvSpPr txBox="1"/>
          <p:nvPr/>
        </p:nvSpPr>
        <p:spPr>
          <a:xfrm>
            <a:off x="6693408" y="460857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Two levers, honestly costed</a:t>
            </a:r>
            <a:endParaRPr lang="en-US" sz="1050" dirty="0"/>
          </a:p>
        </p:txBody>
      </p:sp>
      <p:sp>
        <p:nvSpPr>
          <p:cNvPr id="38" name="Shape 36"/>
          <p:cNvSpPr/>
          <p:nvPr/>
        </p:nvSpPr>
        <p:spPr>
          <a:xfrm>
            <a:off x="11228832" y="4526280"/>
            <a:ext cx="100584" cy="100584"/>
          </a:xfrm>
          <a:prstGeom prst="diamond">
            <a:avLst/>
          </a:prstGeom>
          <a:solidFill>
            <a:srgbClr val="868D9C"/>
          </a:solidFill>
          <a:ln/>
        </p:spPr>
      </p:sp>
      <p:sp>
        <p:nvSpPr>
          <p:cNvPr id="39" name="Shape 37"/>
          <p:cNvSpPr/>
          <p:nvPr/>
        </p:nvSpPr>
        <p:spPr>
          <a:xfrm>
            <a:off x="5943600" y="5047488"/>
            <a:ext cx="5650992" cy="694944"/>
          </a:xfrm>
          <a:prstGeom prst="roundRect">
            <a:avLst>
              <a:gd name="adj" fmla="val 3947"/>
            </a:avLst>
          </a:prstGeom>
          <a:solidFill>
            <a:srgbClr val="11141C"/>
          </a:solidFill>
          <a:ln w="9525">
            <a:solidFill>
              <a:srgbClr val="232833"/>
            </a:solidFill>
            <a:prstDash val="solid"/>
          </a:ln>
        </p:spPr>
      </p:sp>
      <p:sp>
        <p:nvSpPr>
          <p:cNvPr id="40" name="Text 38"/>
          <p:cNvSpPr txBox="1"/>
          <p:nvPr/>
        </p:nvSpPr>
        <p:spPr>
          <a:xfrm>
            <a:off x="6163056" y="5230368"/>
            <a:ext cx="457200" cy="329184"/>
          </a:xfrm>
          <a:prstGeom prst="rect">
            <a:avLst/>
          </a:prstGeom>
          <a:noFill/>
          <a:ln/>
        </p:spPr>
        <p:txBody>
          <a:bodyPr wrap="square" lIns="0" tIns="0" rIns="0" bIns="0" rtlCol="0" anchor="ctr"/>
          <a:lstStyle/>
          <a:p>
            <a:pPr indent="0" marL="0">
              <a:buNone/>
            </a:pPr>
            <a:r>
              <a:rPr lang="en-US" sz="1200" b="1" spc="100" kern="0" dirty="0">
                <a:solidFill>
                  <a:srgbClr val="F47B20"/>
                </a:solidFill>
                <a:latin typeface="Arial" pitchFamily="34" charset="0"/>
                <a:ea typeface="Arial" pitchFamily="34" charset="-122"/>
                <a:cs typeface="Arial" pitchFamily="34" charset="-120"/>
              </a:rPr>
              <a:t>06</a:t>
            </a:r>
            <a:endParaRPr lang="en-US" sz="1200" dirty="0"/>
          </a:p>
        </p:txBody>
      </p:sp>
      <p:sp>
        <p:nvSpPr>
          <p:cNvPr id="41" name="Text 39">
            <a:hlinkClick r:id="rId6" tooltip="The first 90 days" action="ppaction://hlinksldjump"/>
          </p:cNvPr>
          <p:cNvSpPr txBox="1"/>
          <p:nvPr/>
        </p:nvSpPr>
        <p:spPr>
          <a:xfrm>
            <a:off x="6693408" y="5148072"/>
            <a:ext cx="2834640" cy="292608"/>
          </a:xfrm>
          <a:prstGeom prst="rect">
            <a:avLst/>
          </a:prstGeom>
          <a:noFill/>
          <a:ln/>
        </p:spPr>
        <p:txBody>
          <a:bodyPr wrap="square" lIns="0" tIns="0" rIns="0" bIns="0" rtlCol="0" anchor="ctr"/>
          <a:lstStyle/>
          <a:p>
            <a:pPr indent="0" marL="0">
              <a:buNone/>
            </a:pPr>
            <a:r>
              <a:rPr lang="en-US" sz="1450" b="1" u="sng" dirty="0">
                <a:solidFill>
                  <a:srgbClr val="F4F2EE"/>
                </a:solidFill>
                <a:latin typeface="Arial" pitchFamily="34" charset="0"/>
                <a:ea typeface="Arial" pitchFamily="34" charset="-122"/>
                <a:cs typeface="Arial" pitchFamily="34" charset="-120"/>
                <a:hlinkClick r:id="rId6" action="ppaction://hlinksldjump" tooltip="The first 90 days">
                  <a:extLst>
                    <a:ext uri="{A12FA001-AC4F-418D-AE19-62706E023703}">
                      <ahyp:hlinkClr xmlns:ahyp="http://schemas.microsoft.com/office/drawing/2018/hyperlinkcolor" val="tx"/>
                    </a:ext>
                  </a:extLst>
                </a:hlinkClick>
              </a:rPr>
              <a:t>The first 90 days</a:t>
            </a:r>
            <a:endParaRPr lang="en-US" sz="1450" dirty="0"/>
          </a:p>
        </p:txBody>
      </p:sp>
      <p:sp>
        <p:nvSpPr>
          <p:cNvPr id="42" name="Text 40"/>
          <p:cNvSpPr txBox="1"/>
          <p:nvPr/>
        </p:nvSpPr>
        <p:spPr>
          <a:xfrm>
            <a:off x="6693408" y="5431536"/>
            <a:ext cx="466344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And what we need from you</a:t>
            </a:r>
            <a:endParaRPr lang="en-US" sz="1050" dirty="0"/>
          </a:p>
        </p:txBody>
      </p:sp>
      <p:sp>
        <p:nvSpPr>
          <p:cNvPr id="43" name="Shape 41"/>
          <p:cNvSpPr/>
          <p:nvPr/>
        </p:nvSpPr>
        <p:spPr>
          <a:xfrm>
            <a:off x="11228832" y="5349240"/>
            <a:ext cx="100584" cy="100584"/>
          </a:xfrm>
          <a:prstGeom prst="diamond">
            <a:avLst/>
          </a:prstGeom>
          <a:solidFill>
            <a:srgbClr val="868D9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01  ·  THE PROBLEM</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Everyone in this race</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is guessing.</a:t>
            </a:r>
            <a:endParaRPr lang="en-US" sz="3400" dirty="0"/>
          </a:p>
        </p:txBody>
      </p:sp>
      <p:sp>
        <p:nvSpPr>
          <p:cNvPr id="6" name="Text 4"/>
          <p:cNvSpPr txBox="1"/>
          <p:nvPr/>
        </p:nvSpPr>
        <p:spPr>
          <a:xfrm>
            <a:off x="566928" y="2331720"/>
            <a:ext cx="5532120" cy="1371600"/>
          </a:xfrm>
          <a:prstGeom prst="rect">
            <a:avLst/>
          </a:prstGeom>
          <a:noFill/>
          <a:ln/>
        </p:spPr>
        <p:txBody>
          <a:bodyPr wrap="square" lIns="0" tIns="0" rIns="0" bIns="0" rtlCol="0" anchor="t"/>
          <a:lstStyle/>
          <a:p>
            <a:pPr indent="0" marL="0">
              <a:lnSpc>
                <a:spcPts val="2175"/>
              </a:lnSpc>
              <a:buNone/>
            </a:pPr>
            <a:r>
              <a:rPr lang="en-US" sz="1450" dirty="0">
                <a:solidFill>
                  <a:srgbClr val="B2B8C4"/>
                </a:solidFill>
                <a:latin typeface="Arial" pitchFamily="34" charset="0"/>
                <a:ea typeface="Arial" pitchFamily="34" charset="-122"/>
                <a:cs typeface="Arial" pitchFamily="34" charset="-120"/>
              </a:rPr>
              <a:t>Turkana has 238,528 registered voters. Right now every campaign here — ours included — is working off crowd sizes, page likes and what the mobilisers say. None of that can be checked. On election eve you get a number somebody made up, defended loudly.</a:t>
            </a:r>
            <a:endParaRPr lang="en-US" sz="1450" dirty="0"/>
          </a:p>
        </p:txBody>
      </p:sp>
      <p:sp>
        <p:nvSpPr>
          <p:cNvPr id="7" name="Shape 5"/>
          <p:cNvSpPr/>
          <p:nvPr/>
        </p:nvSpPr>
        <p:spPr>
          <a:xfrm>
            <a:off x="6537960" y="960120"/>
            <a:ext cx="5056632" cy="4892040"/>
          </a:xfrm>
          <a:prstGeom prst="roundRect">
            <a:avLst>
              <a:gd name="adj" fmla="val 561"/>
            </a:avLst>
          </a:prstGeom>
          <a:solidFill>
            <a:srgbClr val="11141C"/>
          </a:solidFill>
          <a:ln w="9525">
            <a:solidFill>
              <a:srgbClr val="232833"/>
            </a:solidFill>
            <a:prstDash val="solid"/>
          </a:ln>
        </p:spPr>
      </p:sp>
      <p:sp>
        <p:nvSpPr>
          <p:cNvPr id="8" name="Text 6"/>
          <p:cNvSpPr txBox="1"/>
          <p:nvPr/>
        </p:nvSpPr>
        <p:spPr>
          <a:xfrm>
            <a:off x="6922008" y="1298448"/>
            <a:ext cx="4297680" cy="274320"/>
          </a:xfrm>
          <a:prstGeom prst="rect">
            <a:avLst/>
          </a:prstGeom>
          <a:noFill/>
          <a:ln/>
        </p:spPr>
        <p:txBody>
          <a:bodyPr wrap="square" lIns="0" tIns="0" rIns="0" bIns="0" rtlCol="0" anchor="ctr"/>
          <a:lstStyle/>
          <a:p>
            <a:pPr indent="0" marL="0">
              <a:buNone/>
            </a:pPr>
            <a:r>
              <a:rPr lang="en-US" sz="1000" b="1" spc="180" kern="0" dirty="0">
                <a:solidFill>
                  <a:srgbClr val="868D9C"/>
                </a:solidFill>
                <a:latin typeface="Arial" pitchFamily="34" charset="0"/>
                <a:ea typeface="Arial" pitchFamily="34" charset="-122"/>
                <a:cs typeface="Arial" pitchFamily="34" charset="-120"/>
              </a:rPr>
              <a:t>WHAT A RIVAL WILL HAVE</a:t>
            </a:r>
            <a:endParaRPr lang="en-US" sz="1000" dirty="0"/>
          </a:p>
        </p:txBody>
      </p:sp>
      <p:sp>
        <p:nvSpPr>
          <p:cNvPr id="9" name="Shape 7"/>
          <p:cNvSpPr/>
          <p:nvPr/>
        </p:nvSpPr>
        <p:spPr>
          <a:xfrm>
            <a:off x="6922008" y="1993392"/>
            <a:ext cx="109728" cy="109728"/>
          </a:xfrm>
          <a:prstGeom prst="diamond">
            <a:avLst/>
          </a:prstGeom>
          <a:solidFill>
            <a:srgbClr val="868D9C"/>
          </a:solidFill>
          <a:ln/>
        </p:spPr>
      </p:sp>
      <p:sp>
        <p:nvSpPr>
          <p:cNvPr id="10" name="Text 8"/>
          <p:cNvSpPr txBox="1"/>
          <p:nvPr/>
        </p:nvSpPr>
        <p:spPr>
          <a:xfrm>
            <a:off x="7196328" y="1874520"/>
            <a:ext cx="4114800" cy="310896"/>
          </a:xfrm>
          <a:prstGeom prst="rect">
            <a:avLst/>
          </a:prstGeom>
          <a:noFill/>
          <a:ln/>
        </p:spPr>
        <p:txBody>
          <a:bodyPr wrap="square" lIns="0" tIns="0" rIns="0" bIns="0" rtlCol="0" anchor="ctr"/>
          <a:lstStyle/>
          <a:p>
            <a:pPr indent="0" marL="0">
              <a:buNone/>
            </a:pPr>
            <a:r>
              <a:rPr lang="en-US" sz="1400" b="1" dirty="0">
                <a:solidFill>
                  <a:srgbClr val="F4F2EE"/>
                </a:solidFill>
                <a:latin typeface="Arial" pitchFamily="34" charset="0"/>
                <a:ea typeface="Arial" pitchFamily="34" charset="-122"/>
                <a:cs typeface="Arial" pitchFamily="34" charset="-120"/>
              </a:rPr>
              <a:t>Crowd at the last rally</a:t>
            </a:r>
            <a:endParaRPr lang="en-US" sz="1400" dirty="0"/>
          </a:p>
        </p:txBody>
      </p:sp>
      <p:sp>
        <p:nvSpPr>
          <p:cNvPr id="11" name="Text 9"/>
          <p:cNvSpPr txBox="1"/>
          <p:nvPr/>
        </p:nvSpPr>
        <p:spPr>
          <a:xfrm>
            <a:off x="7196328" y="2176272"/>
            <a:ext cx="4114800" cy="274320"/>
          </a:xfrm>
          <a:prstGeom prst="rect">
            <a:avLst/>
          </a:prstGeom>
          <a:noFill/>
          <a:ln/>
        </p:spPr>
        <p:txBody>
          <a:bodyPr wrap="square" lIns="0" tIns="0" rIns="0" bIns="0" rtlCol="0" anchor="ctr"/>
          <a:lstStyle/>
          <a:p>
            <a:pPr indent="0" marL="0">
              <a:buNone/>
            </a:pPr>
            <a:r>
              <a:rPr lang="en-US" sz="1150" i="1" dirty="0">
                <a:solidFill>
                  <a:srgbClr val="868D9C"/>
                </a:solidFill>
                <a:latin typeface="Arial" pitchFamily="34" charset="0"/>
                <a:ea typeface="Arial" pitchFamily="34" charset="-122"/>
                <a:cs typeface="Arial" pitchFamily="34" charset="-120"/>
              </a:rPr>
              <a:t>counted by eye</a:t>
            </a:r>
            <a:endParaRPr lang="en-US" sz="1150" dirty="0"/>
          </a:p>
        </p:txBody>
      </p:sp>
      <p:sp>
        <p:nvSpPr>
          <p:cNvPr id="12" name="Shape 10"/>
          <p:cNvSpPr/>
          <p:nvPr/>
        </p:nvSpPr>
        <p:spPr>
          <a:xfrm>
            <a:off x="6922008" y="2889504"/>
            <a:ext cx="109728" cy="109728"/>
          </a:xfrm>
          <a:prstGeom prst="diamond">
            <a:avLst/>
          </a:prstGeom>
          <a:solidFill>
            <a:srgbClr val="868D9C"/>
          </a:solidFill>
          <a:ln/>
        </p:spPr>
      </p:sp>
      <p:sp>
        <p:nvSpPr>
          <p:cNvPr id="13" name="Text 11"/>
          <p:cNvSpPr txBox="1"/>
          <p:nvPr/>
        </p:nvSpPr>
        <p:spPr>
          <a:xfrm>
            <a:off x="7196328" y="2770632"/>
            <a:ext cx="4114800" cy="310896"/>
          </a:xfrm>
          <a:prstGeom prst="rect">
            <a:avLst/>
          </a:prstGeom>
          <a:noFill/>
          <a:ln/>
        </p:spPr>
        <p:txBody>
          <a:bodyPr wrap="square" lIns="0" tIns="0" rIns="0" bIns="0" rtlCol="0" anchor="ctr"/>
          <a:lstStyle/>
          <a:p>
            <a:pPr indent="0" marL="0">
              <a:buNone/>
            </a:pPr>
            <a:r>
              <a:rPr lang="en-US" sz="1400" b="1" dirty="0">
                <a:solidFill>
                  <a:srgbClr val="F4F2EE"/>
                </a:solidFill>
                <a:latin typeface="Arial" pitchFamily="34" charset="0"/>
                <a:ea typeface="Arial" pitchFamily="34" charset="-122"/>
                <a:cs typeface="Arial" pitchFamily="34" charset="-120"/>
              </a:rPr>
              <a:t>42,000 page likes</a:t>
            </a:r>
            <a:endParaRPr lang="en-US" sz="1400" dirty="0"/>
          </a:p>
        </p:txBody>
      </p:sp>
      <p:sp>
        <p:nvSpPr>
          <p:cNvPr id="14" name="Text 12"/>
          <p:cNvSpPr txBox="1"/>
          <p:nvPr/>
        </p:nvSpPr>
        <p:spPr>
          <a:xfrm>
            <a:off x="7196328" y="3072384"/>
            <a:ext cx="4114800" cy="274320"/>
          </a:xfrm>
          <a:prstGeom prst="rect">
            <a:avLst/>
          </a:prstGeom>
          <a:noFill/>
          <a:ln/>
        </p:spPr>
        <p:txBody>
          <a:bodyPr wrap="square" lIns="0" tIns="0" rIns="0" bIns="0" rtlCol="0" anchor="ctr"/>
          <a:lstStyle/>
          <a:p>
            <a:pPr indent="0" marL="0">
              <a:buNone/>
            </a:pPr>
            <a:r>
              <a:rPr lang="en-US" sz="1150" i="1" dirty="0">
                <a:solidFill>
                  <a:srgbClr val="868D9C"/>
                </a:solidFill>
                <a:latin typeface="Arial" pitchFamily="34" charset="0"/>
                <a:ea typeface="Arial" pitchFamily="34" charset="-122"/>
                <a:cs typeface="Arial" pitchFamily="34" charset="-120"/>
              </a:rPr>
              <a:t>half from outside Turkana</a:t>
            </a:r>
            <a:endParaRPr lang="en-US" sz="1150" dirty="0"/>
          </a:p>
        </p:txBody>
      </p:sp>
      <p:sp>
        <p:nvSpPr>
          <p:cNvPr id="15" name="Shape 13"/>
          <p:cNvSpPr/>
          <p:nvPr/>
        </p:nvSpPr>
        <p:spPr>
          <a:xfrm>
            <a:off x="6922008" y="3785616"/>
            <a:ext cx="109728" cy="109728"/>
          </a:xfrm>
          <a:prstGeom prst="diamond">
            <a:avLst/>
          </a:prstGeom>
          <a:solidFill>
            <a:srgbClr val="868D9C"/>
          </a:solidFill>
          <a:ln/>
        </p:spPr>
      </p:sp>
      <p:sp>
        <p:nvSpPr>
          <p:cNvPr id="16" name="Text 14"/>
          <p:cNvSpPr txBox="1"/>
          <p:nvPr/>
        </p:nvSpPr>
        <p:spPr>
          <a:xfrm>
            <a:off x="7196328" y="3666744"/>
            <a:ext cx="4114800" cy="310896"/>
          </a:xfrm>
          <a:prstGeom prst="rect">
            <a:avLst/>
          </a:prstGeom>
          <a:noFill/>
          <a:ln/>
        </p:spPr>
        <p:txBody>
          <a:bodyPr wrap="square" lIns="0" tIns="0" rIns="0" bIns="0" rtlCol="0" anchor="ctr"/>
          <a:lstStyle/>
          <a:p>
            <a:pPr indent="0" marL="0">
              <a:buNone/>
            </a:pPr>
            <a:r>
              <a:rPr lang="en-US" sz="1400" b="1" dirty="0">
                <a:solidFill>
                  <a:srgbClr val="F4F2EE"/>
                </a:solidFill>
                <a:latin typeface="Arial" pitchFamily="34" charset="0"/>
                <a:ea typeface="Arial" pitchFamily="34" charset="-122"/>
                <a:cs typeface="Arial" pitchFamily="34" charset="-120"/>
              </a:rPr>
              <a:t>A paper list of names</a:t>
            </a:r>
            <a:endParaRPr lang="en-US" sz="1400" dirty="0"/>
          </a:p>
        </p:txBody>
      </p:sp>
      <p:sp>
        <p:nvSpPr>
          <p:cNvPr id="17" name="Text 15"/>
          <p:cNvSpPr txBox="1"/>
          <p:nvPr/>
        </p:nvSpPr>
        <p:spPr>
          <a:xfrm>
            <a:off x="7196328" y="3968496"/>
            <a:ext cx="4114800" cy="274320"/>
          </a:xfrm>
          <a:prstGeom prst="rect">
            <a:avLst/>
          </a:prstGeom>
          <a:noFill/>
          <a:ln/>
        </p:spPr>
        <p:txBody>
          <a:bodyPr wrap="square" lIns="0" tIns="0" rIns="0" bIns="0" rtlCol="0" anchor="ctr"/>
          <a:lstStyle/>
          <a:p>
            <a:pPr indent="0" marL="0">
              <a:buNone/>
            </a:pPr>
            <a:r>
              <a:rPr lang="en-US" sz="1150" i="1" dirty="0">
                <a:solidFill>
                  <a:srgbClr val="868D9C"/>
                </a:solidFill>
                <a:latin typeface="Arial" pitchFamily="34" charset="0"/>
                <a:ea typeface="Arial" pitchFamily="34" charset="-122"/>
                <a:cs typeface="Arial" pitchFamily="34" charset="-120"/>
              </a:rPr>
              <a:t>no phone, no ward</a:t>
            </a:r>
            <a:endParaRPr lang="en-US" sz="1150" dirty="0"/>
          </a:p>
        </p:txBody>
      </p:sp>
      <p:sp>
        <p:nvSpPr>
          <p:cNvPr id="18" name="Shape 16"/>
          <p:cNvSpPr/>
          <p:nvPr/>
        </p:nvSpPr>
        <p:spPr>
          <a:xfrm>
            <a:off x="6922008" y="4681728"/>
            <a:ext cx="109728" cy="109728"/>
          </a:xfrm>
          <a:prstGeom prst="diamond">
            <a:avLst/>
          </a:prstGeom>
          <a:solidFill>
            <a:srgbClr val="868D9C"/>
          </a:solidFill>
          <a:ln/>
        </p:spPr>
      </p:sp>
      <p:sp>
        <p:nvSpPr>
          <p:cNvPr id="19" name="Text 17"/>
          <p:cNvSpPr txBox="1"/>
          <p:nvPr/>
        </p:nvSpPr>
        <p:spPr>
          <a:xfrm>
            <a:off x="7196328" y="4562856"/>
            <a:ext cx="4114800" cy="310896"/>
          </a:xfrm>
          <a:prstGeom prst="rect">
            <a:avLst/>
          </a:prstGeom>
          <a:noFill/>
          <a:ln/>
        </p:spPr>
        <p:txBody>
          <a:bodyPr wrap="square" lIns="0" tIns="0" rIns="0" bIns="0" rtlCol="0" anchor="ctr"/>
          <a:lstStyle/>
          <a:p>
            <a:pPr indent="0" marL="0">
              <a:buNone/>
            </a:pPr>
            <a:r>
              <a:rPr lang="en-US" sz="1400" b="1" dirty="0">
                <a:solidFill>
                  <a:srgbClr val="F4F2EE"/>
                </a:solidFill>
                <a:latin typeface="Arial" pitchFamily="34" charset="0"/>
                <a:ea typeface="Arial" pitchFamily="34" charset="-122"/>
                <a:cs typeface="Arial" pitchFamily="34" charset="-120"/>
              </a:rPr>
              <a:t>"We are strong in the north"</a:t>
            </a:r>
            <a:endParaRPr lang="en-US" sz="1400" dirty="0"/>
          </a:p>
        </p:txBody>
      </p:sp>
      <p:sp>
        <p:nvSpPr>
          <p:cNvPr id="20" name="Text 18"/>
          <p:cNvSpPr txBox="1"/>
          <p:nvPr/>
        </p:nvSpPr>
        <p:spPr>
          <a:xfrm>
            <a:off x="7196328" y="4864608"/>
            <a:ext cx="4114800" cy="274320"/>
          </a:xfrm>
          <a:prstGeom prst="rect">
            <a:avLst/>
          </a:prstGeom>
          <a:noFill/>
          <a:ln/>
        </p:spPr>
        <p:txBody>
          <a:bodyPr wrap="square" lIns="0" tIns="0" rIns="0" bIns="0" rtlCol="0" anchor="ctr"/>
          <a:lstStyle/>
          <a:p>
            <a:pPr indent="0" marL="0">
              <a:buNone/>
            </a:pPr>
            <a:r>
              <a:rPr lang="en-US" sz="1150" i="1" dirty="0">
                <a:solidFill>
                  <a:srgbClr val="868D9C"/>
                </a:solidFill>
                <a:latin typeface="Arial" pitchFamily="34" charset="0"/>
                <a:ea typeface="Arial" pitchFamily="34" charset="-122"/>
                <a:cs typeface="Arial" pitchFamily="34" charset="-120"/>
              </a:rPr>
              <a:t>nobody has measured it</a:t>
            </a:r>
            <a:endParaRPr lang="en-US" sz="1150" dirty="0"/>
          </a:p>
        </p:txBody>
      </p:sp>
      <p:sp>
        <p:nvSpPr>
          <p:cNvPr id="21" name="Shape 19"/>
          <p:cNvSpPr/>
          <p:nvPr/>
        </p:nvSpPr>
        <p:spPr>
          <a:xfrm>
            <a:off x="6922008" y="5230368"/>
            <a:ext cx="4297680" cy="0"/>
          </a:xfrm>
          <a:prstGeom prst="line">
            <a:avLst/>
          </a:prstGeom>
          <a:noFill/>
          <a:ln w="12700">
            <a:solidFill>
              <a:srgbClr val="2E3543"/>
            </a:solidFill>
            <a:prstDash val="solid"/>
          </a:ln>
        </p:spPr>
      </p:sp>
      <p:sp>
        <p:nvSpPr>
          <p:cNvPr id="22" name="Text 20"/>
          <p:cNvSpPr txBox="1"/>
          <p:nvPr/>
        </p:nvSpPr>
        <p:spPr>
          <a:xfrm>
            <a:off x="6922008" y="5358384"/>
            <a:ext cx="4297680" cy="292608"/>
          </a:xfrm>
          <a:prstGeom prst="rect">
            <a:avLst/>
          </a:prstGeom>
          <a:noFill/>
          <a:ln/>
        </p:spPr>
        <p:txBody>
          <a:bodyPr wrap="square" lIns="0" tIns="0" rIns="0" bIns="0" rtlCol="0" anchor="ctr"/>
          <a:lstStyle/>
          <a:p>
            <a:pPr indent="0" marL="0">
              <a:buNone/>
            </a:pPr>
            <a:r>
              <a:rPr lang="en-US" sz="1250" b="1" dirty="0">
                <a:solidFill>
                  <a:srgbClr val="F47B20"/>
                </a:solidFill>
                <a:latin typeface="Arial" pitchFamily="34" charset="0"/>
                <a:ea typeface="Arial" pitchFamily="34" charset="-122"/>
                <a:cs typeface="Arial" pitchFamily="34" charset="-120"/>
              </a:rPr>
              <a:t>None of it survives one hard question.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02  ·  WHAT WE COLLECT</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One supporter.</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Five facts.</a:t>
            </a:r>
            <a:endParaRPr lang="en-US" sz="3400" dirty="0"/>
          </a:p>
        </p:txBody>
      </p:sp>
      <p:sp>
        <p:nvSpPr>
          <p:cNvPr id="6" name="Text 4"/>
          <p:cNvSpPr txBox="1"/>
          <p:nvPr/>
        </p:nvSpPr>
        <p:spPr>
          <a:xfrm>
            <a:off x="566928" y="2240280"/>
            <a:ext cx="5074920" cy="1371600"/>
          </a:xfrm>
          <a:prstGeom prst="rect">
            <a:avLst/>
          </a:prstGeom>
          <a:noFill/>
          <a:ln/>
        </p:spPr>
        <p:txBody>
          <a:bodyPr wrap="square" lIns="0" tIns="0" rIns="0" bIns="0" rtlCol="0" anchor="t"/>
          <a:lstStyle/>
          <a:p>
            <a:pPr indent="0" marL="0">
              <a:lnSpc>
                <a:spcPts val="2175"/>
              </a:lnSpc>
              <a:buNone/>
            </a:pPr>
            <a:r>
              <a:rPr lang="en-US" sz="1450" dirty="0">
                <a:solidFill>
                  <a:srgbClr val="B2B8C4"/>
                </a:solidFill>
                <a:latin typeface="Arial" pitchFamily="34" charset="0"/>
                <a:ea typeface="Arial" pitchFamily="34" charset="-122"/>
                <a:cs typeface="Arial" pitchFamily="34" charset="-120"/>
              </a:rPr>
              <a:t>Somebody signs up in ninety seconds, then gets a code by SMS. Until they type that code back, they are not on the register. That single rule is what makes every number we publish defensible.</a:t>
            </a:r>
            <a:endParaRPr lang="en-US" sz="1450" dirty="0"/>
          </a:p>
        </p:txBody>
      </p:sp>
      <p:sp>
        <p:nvSpPr>
          <p:cNvPr id="7" name="Shape 5"/>
          <p:cNvSpPr/>
          <p:nvPr/>
        </p:nvSpPr>
        <p:spPr>
          <a:xfrm>
            <a:off x="5943600" y="932688"/>
            <a:ext cx="5650992" cy="841248"/>
          </a:xfrm>
          <a:prstGeom prst="roundRect">
            <a:avLst>
              <a:gd name="adj" fmla="val 3261"/>
            </a:avLst>
          </a:prstGeom>
          <a:solidFill>
            <a:srgbClr val="11141C"/>
          </a:solidFill>
          <a:ln w="9525">
            <a:solidFill>
              <a:srgbClr val="232833"/>
            </a:solidFill>
            <a:prstDash val="solid"/>
          </a:ln>
        </p:spPr>
      </p:sp>
      <p:sp>
        <p:nvSpPr>
          <p:cNvPr id="8" name="Shape 6"/>
          <p:cNvSpPr/>
          <p:nvPr/>
        </p:nvSpPr>
        <p:spPr>
          <a:xfrm>
            <a:off x="6217920" y="1298448"/>
            <a:ext cx="118872" cy="118872"/>
          </a:xfrm>
          <a:prstGeom prst="diamond">
            <a:avLst/>
          </a:prstGeom>
          <a:solidFill>
            <a:srgbClr val="F47B20"/>
          </a:solidFill>
          <a:ln/>
        </p:spPr>
      </p:sp>
      <p:sp>
        <p:nvSpPr>
          <p:cNvPr id="9" name="Text 7"/>
          <p:cNvSpPr txBox="1"/>
          <p:nvPr/>
        </p:nvSpPr>
        <p:spPr>
          <a:xfrm>
            <a:off x="6510528" y="1078992"/>
            <a:ext cx="4846320" cy="292608"/>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Their name</a:t>
            </a:r>
            <a:endParaRPr lang="en-US" sz="1450" dirty="0"/>
          </a:p>
        </p:txBody>
      </p:sp>
      <p:sp>
        <p:nvSpPr>
          <p:cNvPr id="10" name="Text 8"/>
          <p:cNvSpPr txBox="1"/>
          <p:nvPr/>
        </p:nvSpPr>
        <p:spPr>
          <a:xfrm>
            <a:off x="6510528" y="1371600"/>
            <a:ext cx="4846320" cy="274320"/>
          </a:xfrm>
          <a:prstGeom prst="rect">
            <a:avLst/>
          </a:prstGeom>
          <a:noFill/>
          <a:ln/>
        </p:spPr>
        <p:txBody>
          <a:bodyPr wrap="square" lIns="0" tIns="0" rIns="0" bIns="0" rtlCol="0" anchor="ctr"/>
          <a:lstStyle/>
          <a:p>
            <a:pPr indent="0" marL="0">
              <a:buNone/>
            </a:pPr>
            <a:r>
              <a:rPr lang="en-US" sz="1100" dirty="0">
                <a:solidFill>
                  <a:srgbClr val="868D9C"/>
                </a:solidFill>
                <a:latin typeface="Arial" pitchFamily="34" charset="0"/>
                <a:ea typeface="Arial" pitchFamily="34" charset="-122"/>
                <a:cs typeface="Arial" pitchFamily="34" charset="-120"/>
              </a:rPr>
              <a:t>So a coordinator greets a real person</a:t>
            </a:r>
            <a:endParaRPr lang="en-US" sz="1100" dirty="0"/>
          </a:p>
        </p:txBody>
      </p:sp>
      <p:sp>
        <p:nvSpPr>
          <p:cNvPr id="11" name="Shape 9"/>
          <p:cNvSpPr/>
          <p:nvPr/>
        </p:nvSpPr>
        <p:spPr>
          <a:xfrm>
            <a:off x="5943600" y="1901952"/>
            <a:ext cx="5650992" cy="841248"/>
          </a:xfrm>
          <a:prstGeom prst="roundRect">
            <a:avLst>
              <a:gd name="adj" fmla="val 3261"/>
            </a:avLst>
          </a:prstGeom>
          <a:solidFill>
            <a:srgbClr val="11141C"/>
          </a:solidFill>
          <a:ln w="9525">
            <a:solidFill>
              <a:srgbClr val="232833"/>
            </a:solidFill>
            <a:prstDash val="solid"/>
          </a:ln>
        </p:spPr>
      </p:sp>
      <p:sp>
        <p:nvSpPr>
          <p:cNvPr id="12" name="Shape 10"/>
          <p:cNvSpPr/>
          <p:nvPr/>
        </p:nvSpPr>
        <p:spPr>
          <a:xfrm>
            <a:off x="6217920" y="2267712"/>
            <a:ext cx="118872" cy="118872"/>
          </a:xfrm>
          <a:prstGeom prst="diamond">
            <a:avLst/>
          </a:prstGeom>
          <a:solidFill>
            <a:srgbClr val="F47B20"/>
          </a:solidFill>
          <a:ln/>
        </p:spPr>
      </p:sp>
      <p:sp>
        <p:nvSpPr>
          <p:cNvPr id="13" name="Text 11"/>
          <p:cNvSpPr txBox="1"/>
          <p:nvPr/>
        </p:nvSpPr>
        <p:spPr>
          <a:xfrm>
            <a:off x="6510528" y="2048256"/>
            <a:ext cx="4846320" cy="292608"/>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Their phone, confirmed</a:t>
            </a:r>
            <a:endParaRPr lang="en-US" sz="1450" dirty="0"/>
          </a:p>
        </p:txBody>
      </p:sp>
      <p:sp>
        <p:nvSpPr>
          <p:cNvPr id="14" name="Text 12"/>
          <p:cNvSpPr txBox="1"/>
          <p:nvPr/>
        </p:nvSpPr>
        <p:spPr>
          <a:xfrm>
            <a:off x="6510528" y="2340864"/>
            <a:ext cx="4846320" cy="274320"/>
          </a:xfrm>
          <a:prstGeom prst="rect">
            <a:avLst/>
          </a:prstGeom>
          <a:noFill/>
          <a:ln/>
        </p:spPr>
        <p:txBody>
          <a:bodyPr wrap="square" lIns="0" tIns="0" rIns="0" bIns="0" rtlCol="0" anchor="ctr"/>
          <a:lstStyle/>
          <a:p>
            <a:pPr indent="0" marL="0">
              <a:buNone/>
            </a:pPr>
            <a:r>
              <a:rPr lang="en-US" sz="1100" dirty="0">
                <a:solidFill>
                  <a:srgbClr val="868D9C"/>
                </a:solidFill>
                <a:latin typeface="Arial" pitchFamily="34" charset="0"/>
                <a:ea typeface="Arial" pitchFamily="34" charset="-122"/>
                <a:cs typeface="Arial" pitchFamily="34" charset="-120"/>
              </a:rPr>
              <a:t>One person, one number. The proof.</a:t>
            </a:r>
            <a:endParaRPr lang="en-US" sz="1100" dirty="0"/>
          </a:p>
        </p:txBody>
      </p:sp>
      <p:sp>
        <p:nvSpPr>
          <p:cNvPr id="15" name="Shape 13"/>
          <p:cNvSpPr/>
          <p:nvPr/>
        </p:nvSpPr>
        <p:spPr>
          <a:xfrm>
            <a:off x="5943600" y="2871216"/>
            <a:ext cx="5650992" cy="841248"/>
          </a:xfrm>
          <a:prstGeom prst="roundRect">
            <a:avLst>
              <a:gd name="adj" fmla="val 3261"/>
            </a:avLst>
          </a:prstGeom>
          <a:solidFill>
            <a:srgbClr val="11141C"/>
          </a:solidFill>
          <a:ln w="9525">
            <a:solidFill>
              <a:srgbClr val="232833"/>
            </a:solidFill>
            <a:prstDash val="solid"/>
          </a:ln>
        </p:spPr>
      </p:sp>
      <p:sp>
        <p:nvSpPr>
          <p:cNvPr id="16" name="Shape 14"/>
          <p:cNvSpPr/>
          <p:nvPr/>
        </p:nvSpPr>
        <p:spPr>
          <a:xfrm>
            <a:off x="6217920" y="3236976"/>
            <a:ext cx="118872" cy="118872"/>
          </a:xfrm>
          <a:prstGeom prst="diamond">
            <a:avLst/>
          </a:prstGeom>
          <a:solidFill>
            <a:srgbClr val="F47B20"/>
          </a:solidFill>
          <a:ln/>
        </p:spPr>
      </p:sp>
      <p:sp>
        <p:nvSpPr>
          <p:cNvPr id="17" name="Text 15"/>
          <p:cNvSpPr txBox="1"/>
          <p:nvPr/>
        </p:nvSpPr>
        <p:spPr>
          <a:xfrm>
            <a:off x="6510528" y="3017520"/>
            <a:ext cx="4846320" cy="292608"/>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Their ward</a:t>
            </a:r>
            <a:endParaRPr lang="en-US" sz="1450" dirty="0"/>
          </a:p>
        </p:txBody>
      </p:sp>
      <p:sp>
        <p:nvSpPr>
          <p:cNvPr id="18" name="Text 16"/>
          <p:cNvSpPr txBox="1"/>
          <p:nvPr/>
        </p:nvSpPr>
        <p:spPr>
          <a:xfrm>
            <a:off x="6510528" y="3310128"/>
            <a:ext cx="4846320" cy="274320"/>
          </a:xfrm>
          <a:prstGeom prst="rect">
            <a:avLst/>
          </a:prstGeom>
          <a:noFill/>
          <a:ln/>
        </p:spPr>
        <p:txBody>
          <a:bodyPr wrap="square" lIns="0" tIns="0" rIns="0" bIns="0" rtlCol="0" anchor="ctr"/>
          <a:lstStyle/>
          <a:p>
            <a:pPr indent="0" marL="0">
              <a:buNone/>
            </a:pPr>
            <a:r>
              <a:rPr lang="en-US" sz="1100" dirty="0">
                <a:solidFill>
                  <a:srgbClr val="868D9C"/>
                </a:solidFill>
                <a:latin typeface="Arial" pitchFamily="34" charset="0"/>
                <a:ea typeface="Arial" pitchFamily="34" charset="-122"/>
                <a:cs typeface="Arial" pitchFamily="34" charset="-120"/>
              </a:rPr>
              <a:t>Turns a headcount into a percentage</a:t>
            </a:r>
            <a:endParaRPr lang="en-US" sz="1100" dirty="0"/>
          </a:p>
        </p:txBody>
      </p:sp>
      <p:sp>
        <p:nvSpPr>
          <p:cNvPr id="19" name="Shape 17"/>
          <p:cNvSpPr/>
          <p:nvPr/>
        </p:nvSpPr>
        <p:spPr>
          <a:xfrm>
            <a:off x="5943600" y="3840480"/>
            <a:ext cx="5650992" cy="841248"/>
          </a:xfrm>
          <a:prstGeom prst="roundRect">
            <a:avLst>
              <a:gd name="adj" fmla="val 3261"/>
            </a:avLst>
          </a:prstGeom>
          <a:solidFill>
            <a:srgbClr val="11141C"/>
          </a:solidFill>
          <a:ln w="9525">
            <a:solidFill>
              <a:srgbClr val="232833"/>
            </a:solidFill>
            <a:prstDash val="solid"/>
          </a:ln>
        </p:spPr>
      </p:sp>
      <p:sp>
        <p:nvSpPr>
          <p:cNvPr id="20" name="Shape 18"/>
          <p:cNvSpPr/>
          <p:nvPr/>
        </p:nvSpPr>
        <p:spPr>
          <a:xfrm>
            <a:off x="6217920" y="4206240"/>
            <a:ext cx="118872" cy="118872"/>
          </a:xfrm>
          <a:prstGeom prst="diamond">
            <a:avLst/>
          </a:prstGeom>
          <a:solidFill>
            <a:srgbClr val="F47B20"/>
          </a:solidFill>
          <a:ln/>
        </p:spPr>
      </p:sp>
      <p:sp>
        <p:nvSpPr>
          <p:cNvPr id="21" name="Text 19"/>
          <p:cNvSpPr txBox="1"/>
          <p:nvPr/>
        </p:nvSpPr>
        <p:spPr>
          <a:xfrm>
            <a:off x="6510528" y="3986784"/>
            <a:ext cx="4846320" cy="292608"/>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Their polling station</a:t>
            </a:r>
            <a:endParaRPr lang="en-US" sz="1450" dirty="0"/>
          </a:p>
        </p:txBody>
      </p:sp>
      <p:sp>
        <p:nvSpPr>
          <p:cNvPr id="22" name="Text 20"/>
          <p:cNvSpPr txBox="1"/>
          <p:nvPr/>
        </p:nvSpPr>
        <p:spPr>
          <a:xfrm>
            <a:off x="6510528" y="4279392"/>
            <a:ext cx="4846320" cy="274320"/>
          </a:xfrm>
          <a:prstGeom prst="rect">
            <a:avLst/>
          </a:prstGeom>
          <a:noFill/>
          <a:ln/>
        </p:spPr>
        <p:txBody>
          <a:bodyPr wrap="square" lIns="0" tIns="0" rIns="0" bIns="0" rtlCol="0" anchor="ctr"/>
          <a:lstStyle/>
          <a:p>
            <a:pPr indent="0" marL="0">
              <a:buNone/>
            </a:pPr>
            <a:r>
              <a:rPr lang="en-US" sz="1100" dirty="0">
                <a:solidFill>
                  <a:srgbClr val="868D9C"/>
                </a:solidFill>
                <a:latin typeface="Arial" pitchFamily="34" charset="0"/>
                <a:ea typeface="Arial" pitchFamily="34" charset="-122"/>
                <a:cs typeface="Arial" pitchFamily="34" charset="-120"/>
              </a:rPr>
              <a:t>Where their vote is actually counted</a:t>
            </a:r>
            <a:endParaRPr lang="en-US" sz="1100" dirty="0"/>
          </a:p>
        </p:txBody>
      </p:sp>
      <p:sp>
        <p:nvSpPr>
          <p:cNvPr id="23" name="Shape 21"/>
          <p:cNvSpPr/>
          <p:nvPr/>
        </p:nvSpPr>
        <p:spPr>
          <a:xfrm>
            <a:off x="5943600" y="4809744"/>
            <a:ext cx="5650992" cy="841248"/>
          </a:xfrm>
          <a:prstGeom prst="roundRect">
            <a:avLst>
              <a:gd name="adj" fmla="val 3261"/>
            </a:avLst>
          </a:prstGeom>
          <a:solidFill>
            <a:srgbClr val="11141C"/>
          </a:solidFill>
          <a:ln w="9525">
            <a:solidFill>
              <a:srgbClr val="232833"/>
            </a:solidFill>
            <a:prstDash val="solid"/>
          </a:ln>
        </p:spPr>
      </p:sp>
      <p:sp>
        <p:nvSpPr>
          <p:cNvPr id="24" name="Shape 22"/>
          <p:cNvSpPr/>
          <p:nvPr/>
        </p:nvSpPr>
        <p:spPr>
          <a:xfrm>
            <a:off x="6217920" y="5175504"/>
            <a:ext cx="118872" cy="118872"/>
          </a:xfrm>
          <a:prstGeom prst="diamond">
            <a:avLst/>
          </a:prstGeom>
          <a:solidFill>
            <a:srgbClr val="F47B20"/>
          </a:solidFill>
          <a:ln/>
        </p:spPr>
      </p:sp>
      <p:sp>
        <p:nvSpPr>
          <p:cNvPr id="25" name="Text 23"/>
          <p:cNvSpPr txBox="1"/>
          <p:nvPr/>
        </p:nvSpPr>
        <p:spPr>
          <a:xfrm>
            <a:off x="6510528" y="4956048"/>
            <a:ext cx="4846320" cy="292608"/>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Their chief's area</a:t>
            </a:r>
            <a:endParaRPr lang="en-US" sz="1450" dirty="0"/>
          </a:p>
        </p:txBody>
      </p:sp>
      <p:sp>
        <p:nvSpPr>
          <p:cNvPr id="26" name="Text 24"/>
          <p:cNvSpPr txBox="1"/>
          <p:nvPr/>
        </p:nvSpPr>
        <p:spPr>
          <a:xfrm>
            <a:off x="6510528" y="5248656"/>
            <a:ext cx="4846320" cy="274320"/>
          </a:xfrm>
          <a:prstGeom prst="rect">
            <a:avLst/>
          </a:prstGeom>
          <a:noFill/>
          <a:ln/>
        </p:spPr>
        <p:txBody>
          <a:bodyPr wrap="square" lIns="0" tIns="0" rIns="0" bIns="0" rtlCol="0" anchor="ctr"/>
          <a:lstStyle/>
          <a:p>
            <a:pPr indent="0" marL="0">
              <a:buNone/>
            </a:pPr>
            <a:r>
              <a:rPr lang="en-US" sz="1100" dirty="0">
                <a:solidFill>
                  <a:srgbClr val="868D9C"/>
                </a:solidFill>
                <a:latin typeface="Arial" pitchFamily="34" charset="0"/>
                <a:ea typeface="Arial" pitchFamily="34" charset="-122"/>
                <a:cs typeface="Arial" pitchFamily="34" charset="-120"/>
              </a:rPr>
              <a:t>How you call a baraza that they attend</a:t>
            </a:r>
            <a:endParaRPr lang="en-US" sz="1100" dirty="0"/>
          </a:p>
        </p:txBody>
      </p:sp>
      <p:sp>
        <p:nvSpPr>
          <p:cNvPr id="27" name="Shape 25"/>
          <p:cNvSpPr/>
          <p:nvPr/>
        </p:nvSpPr>
        <p:spPr>
          <a:xfrm>
            <a:off x="566928" y="4617720"/>
            <a:ext cx="5074920" cy="1234440"/>
          </a:xfrm>
          <a:prstGeom prst="roundRect">
            <a:avLst>
              <a:gd name="adj" fmla="val 2222"/>
            </a:avLst>
          </a:prstGeom>
          <a:solidFill>
            <a:srgbClr val="0A0C12"/>
          </a:solidFill>
          <a:ln w="12700">
            <a:solidFill>
              <a:srgbClr val="C3621A"/>
            </a:solidFill>
            <a:prstDash val="solid"/>
          </a:ln>
        </p:spPr>
      </p:sp>
      <p:sp>
        <p:nvSpPr>
          <p:cNvPr id="28" name="Text 26"/>
          <p:cNvSpPr txBox="1"/>
          <p:nvPr/>
        </p:nvSpPr>
        <p:spPr>
          <a:xfrm>
            <a:off x="877824" y="4791456"/>
            <a:ext cx="4480560" cy="329184"/>
          </a:xfrm>
          <a:prstGeom prst="rect">
            <a:avLst/>
          </a:prstGeom>
          <a:noFill/>
          <a:ln/>
        </p:spPr>
        <p:txBody>
          <a:bodyPr wrap="square" lIns="0" tIns="0" rIns="0" bIns="0" rtlCol="0" anchor="ctr"/>
          <a:lstStyle/>
          <a:p>
            <a:pPr indent="0" marL="0">
              <a:buNone/>
            </a:pPr>
            <a:r>
              <a:rPr lang="en-US" sz="1600" b="1" dirty="0">
                <a:solidFill>
                  <a:srgbClr val="F47B20"/>
                </a:solidFill>
                <a:latin typeface="Arial" pitchFamily="34" charset="0"/>
                <a:ea typeface="Arial" pitchFamily="34" charset="-122"/>
                <a:cs typeface="Arial" pitchFamily="34" charset="-120"/>
              </a:rPr>
              <a:t>No SMS, no supporter.</a:t>
            </a:r>
            <a:endParaRPr lang="en-US" sz="1600" dirty="0"/>
          </a:p>
        </p:txBody>
      </p:sp>
      <p:sp>
        <p:nvSpPr>
          <p:cNvPr id="29" name="Text 27"/>
          <p:cNvSpPr txBox="1"/>
          <p:nvPr/>
        </p:nvSpPr>
        <p:spPr>
          <a:xfrm>
            <a:off x="877824" y="5120640"/>
            <a:ext cx="4480560" cy="566928"/>
          </a:xfrm>
          <a:prstGeom prst="rect">
            <a:avLst/>
          </a:prstGeom>
          <a:noFill/>
          <a:ln/>
        </p:spPr>
        <p:txBody>
          <a:bodyPr wrap="square" lIns="0" tIns="0" rIns="0" bIns="0" rtlCol="0" anchor="ctr"/>
          <a:lstStyle/>
          <a:p>
            <a:pPr indent="0" marL="0">
              <a:lnSpc>
                <a:spcPts val="1600"/>
              </a:lnSpc>
              <a:buNone/>
            </a:pPr>
            <a:r>
              <a:rPr lang="en-US" sz="1150" dirty="0">
                <a:solidFill>
                  <a:srgbClr val="B2B8C4"/>
                </a:solidFill>
                <a:latin typeface="Arial" pitchFamily="34" charset="0"/>
                <a:ea typeface="Arial" pitchFamily="34" charset="-122"/>
                <a:cs typeface="Arial" pitchFamily="34" charset="-120"/>
              </a:rPr>
              <a:t>A signature, a shout at a rally or a follow online never enters a published figure.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03  ·  WHY SATURATION WINS</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Headcount lies.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Share doesn't.</a:t>
            </a:r>
            <a:endParaRPr lang="en-US" sz="3400" dirty="0"/>
          </a:p>
        </p:txBody>
      </p:sp>
      <p:sp>
        <p:nvSpPr>
          <p:cNvPr id="6" name="Text 4"/>
          <p:cNvSpPr txBox="1"/>
          <p:nvPr/>
        </p:nvSpPr>
        <p:spPr>
          <a:xfrm>
            <a:off x="566928" y="2240280"/>
            <a:ext cx="5029200" cy="1371600"/>
          </a:xfrm>
          <a:prstGeom prst="rect">
            <a:avLst/>
          </a:prstGeom>
          <a:noFill/>
          <a:ln/>
        </p:spPr>
        <p:txBody>
          <a:bodyPr wrap="square" lIns="0" tIns="0" rIns="0" bIns="0" rtlCol="0" anchor="t"/>
          <a:lstStyle/>
          <a:p>
            <a:pPr indent="0" marL="0">
              <a:lnSpc>
                <a:spcPts val="2100"/>
              </a:lnSpc>
              <a:buNone/>
            </a:pPr>
            <a:r>
              <a:rPr lang="en-US" sz="1400" dirty="0">
                <a:solidFill>
                  <a:srgbClr val="B2B8C4"/>
                </a:solidFill>
                <a:latin typeface="Arial" pitchFamily="34" charset="0"/>
                <a:ea typeface="Arial" pitchFamily="34" charset="-122"/>
                <a:cs typeface="Arial" pitchFamily="34" charset="-120"/>
              </a:rPr>
              <a:t>Lodwar Township has our biggest crowd of supporters. Lokiriama has less than half as many — and is the stronger ward, because it has far fewer voters to win. Judge a ward by its own size and the map tells you where to drive.</a:t>
            </a:r>
            <a:endParaRPr lang="en-US" sz="1400" dirty="0"/>
          </a:p>
        </p:txBody>
      </p:sp>
      <p:sp>
        <p:nvSpPr>
          <p:cNvPr id="7" name="Shape 5"/>
          <p:cNvSpPr/>
          <p:nvPr/>
        </p:nvSpPr>
        <p:spPr>
          <a:xfrm>
            <a:off x="566928" y="3977640"/>
            <a:ext cx="2423160" cy="1828800"/>
          </a:xfrm>
          <a:prstGeom prst="roundRect">
            <a:avLst>
              <a:gd name="adj" fmla="val 1500"/>
            </a:avLst>
          </a:prstGeom>
          <a:solidFill>
            <a:srgbClr val="0A0C12"/>
          </a:solidFill>
          <a:ln w="9525">
            <a:solidFill>
              <a:srgbClr val="232833"/>
            </a:solidFill>
            <a:prstDash val="solid"/>
          </a:ln>
        </p:spPr>
      </p:sp>
      <p:sp>
        <p:nvSpPr>
          <p:cNvPr id="8" name="Text 6"/>
          <p:cNvSpPr txBox="1"/>
          <p:nvPr/>
        </p:nvSpPr>
        <p:spPr>
          <a:xfrm>
            <a:off x="804672" y="4160520"/>
            <a:ext cx="1965960" cy="457200"/>
          </a:xfrm>
          <a:prstGeom prst="rect">
            <a:avLst/>
          </a:prstGeom>
          <a:noFill/>
          <a:ln/>
        </p:spPr>
        <p:txBody>
          <a:bodyPr wrap="square" lIns="0" tIns="0" rIns="0" bIns="0" rtlCol="0" anchor="ctr"/>
          <a:lstStyle/>
          <a:p>
            <a:pPr indent="0" marL="0">
              <a:lnSpc>
                <a:spcPts val="1400"/>
              </a:lnSpc>
              <a:buNone/>
            </a:pPr>
            <a:r>
              <a:rPr lang="en-US" sz="1100" b="1" dirty="0">
                <a:solidFill>
                  <a:srgbClr val="B2B8C4"/>
                </a:solidFill>
                <a:latin typeface="Arial" pitchFamily="34" charset="0"/>
                <a:ea typeface="Arial" pitchFamily="34" charset="-122"/>
                <a:cs typeface="Arial" pitchFamily="34" charset="-120"/>
              </a:rPr>
              <a:t>Lodwar Township</a:t>
            </a:r>
            <a:endParaRPr lang="en-US" sz="1100" dirty="0"/>
          </a:p>
        </p:txBody>
      </p:sp>
      <p:sp>
        <p:nvSpPr>
          <p:cNvPr id="9" name="Text 7"/>
          <p:cNvSpPr txBox="1"/>
          <p:nvPr/>
        </p:nvSpPr>
        <p:spPr>
          <a:xfrm>
            <a:off x="804672" y="4636008"/>
            <a:ext cx="1965960" cy="548640"/>
          </a:xfrm>
          <a:prstGeom prst="rect">
            <a:avLst/>
          </a:prstGeom>
          <a:noFill/>
          <a:ln/>
        </p:spPr>
        <p:txBody>
          <a:bodyPr wrap="square" lIns="0" tIns="0" rIns="0" bIns="0" rtlCol="0" anchor="ctr"/>
          <a:lstStyle/>
          <a:p>
            <a:pPr indent="0" marL="0">
              <a:buNone/>
            </a:pPr>
            <a:r>
              <a:rPr lang="en-US" sz="3000" b="1" dirty="0">
                <a:solidFill>
                  <a:srgbClr val="868D9C"/>
                </a:solidFill>
                <a:latin typeface="Arial" pitchFamily="34" charset="0"/>
                <a:ea typeface="Arial" pitchFamily="34" charset="-122"/>
                <a:cs typeface="Arial" pitchFamily="34" charset="-120"/>
              </a:rPr>
              <a:t>3.55%</a:t>
            </a:r>
            <a:endParaRPr lang="en-US" sz="3000" dirty="0"/>
          </a:p>
        </p:txBody>
      </p:sp>
      <p:sp>
        <p:nvSpPr>
          <p:cNvPr id="10" name="Text 8"/>
          <p:cNvSpPr txBox="1"/>
          <p:nvPr/>
        </p:nvSpPr>
        <p:spPr>
          <a:xfrm>
            <a:off x="804672" y="5202936"/>
            <a:ext cx="1965960" cy="256032"/>
          </a:xfrm>
          <a:prstGeom prst="rect">
            <a:avLst/>
          </a:prstGeom>
          <a:noFill/>
          <a:ln/>
        </p:spPr>
        <p:txBody>
          <a:bodyPr wrap="square" lIns="0" tIns="0" rIns="0" bIns="0" rtlCol="0" anchor="ctr"/>
          <a:lstStyle/>
          <a:p>
            <a:pPr indent="0" marL="0">
              <a:buNone/>
            </a:pPr>
            <a:r>
              <a:rPr lang="en-US" sz="1150" dirty="0">
                <a:solidFill>
                  <a:srgbClr val="F4F2EE"/>
                </a:solidFill>
                <a:latin typeface="Arial" pitchFamily="34" charset="0"/>
                <a:ea typeface="Arial" pitchFamily="34" charset="-122"/>
                <a:cs typeface="Arial" pitchFamily="34" charset="-120"/>
              </a:rPr>
              <a:t>614 supporters</a:t>
            </a:r>
            <a:endParaRPr lang="en-US" sz="1150" dirty="0"/>
          </a:p>
        </p:txBody>
      </p:sp>
      <p:sp>
        <p:nvSpPr>
          <p:cNvPr id="11" name="Text 9"/>
          <p:cNvSpPr txBox="1"/>
          <p:nvPr/>
        </p:nvSpPr>
        <p:spPr>
          <a:xfrm>
            <a:off x="804672" y="5440680"/>
            <a:ext cx="196596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of 17,273 voters</a:t>
            </a:r>
            <a:endParaRPr lang="en-US" sz="1050" dirty="0"/>
          </a:p>
        </p:txBody>
      </p:sp>
      <p:sp>
        <p:nvSpPr>
          <p:cNvPr id="12" name="Shape 10"/>
          <p:cNvSpPr/>
          <p:nvPr/>
        </p:nvSpPr>
        <p:spPr>
          <a:xfrm>
            <a:off x="3218688" y="3977640"/>
            <a:ext cx="2423160" cy="1828800"/>
          </a:xfrm>
          <a:prstGeom prst="roundRect">
            <a:avLst>
              <a:gd name="adj" fmla="val 1500"/>
            </a:avLst>
          </a:prstGeom>
          <a:solidFill>
            <a:srgbClr val="11141C"/>
          </a:solidFill>
          <a:ln w="9525">
            <a:solidFill>
              <a:srgbClr val="232833"/>
            </a:solidFill>
            <a:prstDash val="solid"/>
          </a:ln>
        </p:spPr>
      </p:sp>
      <p:sp>
        <p:nvSpPr>
          <p:cNvPr id="13" name="Text 11"/>
          <p:cNvSpPr txBox="1"/>
          <p:nvPr/>
        </p:nvSpPr>
        <p:spPr>
          <a:xfrm>
            <a:off x="3456432" y="4160520"/>
            <a:ext cx="1965960" cy="457200"/>
          </a:xfrm>
          <a:prstGeom prst="rect">
            <a:avLst/>
          </a:prstGeom>
          <a:noFill/>
          <a:ln/>
        </p:spPr>
        <p:txBody>
          <a:bodyPr wrap="square" lIns="0" tIns="0" rIns="0" bIns="0" rtlCol="0" anchor="ctr"/>
          <a:lstStyle/>
          <a:p>
            <a:pPr indent="0" marL="0">
              <a:lnSpc>
                <a:spcPts val="1400"/>
              </a:lnSpc>
              <a:buNone/>
            </a:pPr>
            <a:r>
              <a:rPr lang="en-US" sz="1100" b="1" dirty="0">
                <a:solidFill>
                  <a:srgbClr val="B2B8C4"/>
                </a:solidFill>
                <a:latin typeface="Arial" pitchFamily="34" charset="0"/>
                <a:ea typeface="Arial" pitchFamily="34" charset="-122"/>
                <a:cs typeface="Arial" pitchFamily="34" charset="-120"/>
              </a:rPr>
              <a:t>Lokiriama/Lorengippi</a:t>
            </a:r>
            <a:endParaRPr lang="en-US" sz="1100" dirty="0"/>
          </a:p>
        </p:txBody>
      </p:sp>
      <p:sp>
        <p:nvSpPr>
          <p:cNvPr id="14" name="Text 12"/>
          <p:cNvSpPr txBox="1"/>
          <p:nvPr/>
        </p:nvSpPr>
        <p:spPr>
          <a:xfrm>
            <a:off x="3456432" y="4636008"/>
            <a:ext cx="1965960" cy="548640"/>
          </a:xfrm>
          <a:prstGeom prst="rect">
            <a:avLst/>
          </a:prstGeom>
          <a:noFill/>
          <a:ln/>
        </p:spPr>
        <p:txBody>
          <a:bodyPr wrap="square" lIns="0" tIns="0" rIns="0" bIns="0" rtlCol="0" anchor="ctr"/>
          <a:lstStyle/>
          <a:p>
            <a:pPr indent="0" marL="0">
              <a:buNone/>
            </a:pPr>
            <a:r>
              <a:rPr lang="en-US" sz="3000" b="1" dirty="0">
                <a:solidFill>
                  <a:srgbClr val="F47B20"/>
                </a:solidFill>
                <a:latin typeface="Arial" pitchFamily="34" charset="0"/>
                <a:ea typeface="Arial" pitchFamily="34" charset="-122"/>
                <a:cs typeface="Arial" pitchFamily="34" charset="-120"/>
              </a:rPr>
              <a:t>5.25%</a:t>
            </a:r>
            <a:endParaRPr lang="en-US" sz="3000" dirty="0"/>
          </a:p>
        </p:txBody>
      </p:sp>
      <p:sp>
        <p:nvSpPr>
          <p:cNvPr id="15" name="Text 13"/>
          <p:cNvSpPr txBox="1"/>
          <p:nvPr/>
        </p:nvSpPr>
        <p:spPr>
          <a:xfrm>
            <a:off x="3456432" y="5202936"/>
            <a:ext cx="1965960" cy="256032"/>
          </a:xfrm>
          <a:prstGeom prst="rect">
            <a:avLst/>
          </a:prstGeom>
          <a:noFill/>
          <a:ln/>
        </p:spPr>
        <p:txBody>
          <a:bodyPr wrap="square" lIns="0" tIns="0" rIns="0" bIns="0" rtlCol="0" anchor="ctr"/>
          <a:lstStyle/>
          <a:p>
            <a:pPr indent="0" marL="0">
              <a:buNone/>
            </a:pPr>
            <a:r>
              <a:rPr lang="en-US" sz="1150" dirty="0">
                <a:solidFill>
                  <a:srgbClr val="F4F2EE"/>
                </a:solidFill>
                <a:latin typeface="Arial" pitchFamily="34" charset="0"/>
                <a:ea typeface="Arial" pitchFamily="34" charset="-122"/>
                <a:cs typeface="Arial" pitchFamily="34" charset="-120"/>
              </a:rPr>
              <a:t>254 supporters</a:t>
            </a:r>
            <a:endParaRPr lang="en-US" sz="1150" dirty="0"/>
          </a:p>
        </p:txBody>
      </p:sp>
      <p:sp>
        <p:nvSpPr>
          <p:cNvPr id="16" name="Text 14"/>
          <p:cNvSpPr txBox="1"/>
          <p:nvPr/>
        </p:nvSpPr>
        <p:spPr>
          <a:xfrm>
            <a:off x="3456432" y="5440680"/>
            <a:ext cx="1965960" cy="256032"/>
          </a:xfrm>
          <a:prstGeom prst="rect">
            <a:avLst/>
          </a:prstGeom>
          <a:noFill/>
          <a:ln/>
        </p:spPr>
        <p:txBody>
          <a:bodyPr wrap="square" lIns="0" tIns="0" rIns="0" bIns="0" rtlCol="0" anchor="ctr"/>
          <a:lstStyle/>
          <a:p>
            <a:pPr indent="0" marL="0">
              <a:buNone/>
            </a:pPr>
            <a:r>
              <a:rPr lang="en-US" sz="1050" dirty="0">
                <a:solidFill>
                  <a:srgbClr val="868D9C"/>
                </a:solidFill>
                <a:latin typeface="Arial" pitchFamily="34" charset="0"/>
                <a:ea typeface="Arial" pitchFamily="34" charset="-122"/>
                <a:cs typeface="Arial" pitchFamily="34" charset="-120"/>
              </a:rPr>
              <a:t>of 4,835 voters</a:t>
            </a:r>
            <a:endParaRPr lang="en-US" sz="1050" dirty="0"/>
          </a:p>
        </p:txBody>
      </p:sp>
      <p:graphicFrame>
        <p:nvGraphicFramePr>
          <p:cNvPr id="17" name="Chart 0" descr=""/>
          <p:cNvGraphicFramePr/>
          <p:nvPr/>
        </p:nvGraphicFramePr>
        <p:xfrm>
          <a:off x="5943600" y="932688"/>
          <a:ext cx="5650992" cy="48920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04  ·  WHERE TO GO NEXT</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The board picks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the route.</a:t>
            </a:r>
            <a:endParaRPr lang="en-US" sz="3400" dirty="0"/>
          </a:p>
        </p:txBody>
      </p:sp>
      <p:sp>
        <p:nvSpPr>
          <p:cNvPr id="6" name="Text 4"/>
          <p:cNvSpPr txBox="1"/>
          <p:nvPr/>
        </p:nvSpPr>
        <p:spPr>
          <a:xfrm>
            <a:off x="566928" y="2240280"/>
            <a:ext cx="5029200" cy="1371600"/>
          </a:xfrm>
          <a:prstGeom prst="rect">
            <a:avLst/>
          </a:prstGeom>
          <a:noFill/>
          <a:ln/>
        </p:spPr>
        <p:txBody>
          <a:bodyPr wrap="square" lIns="0" tIns="0" rIns="0" bIns="0" rtlCol="0" anchor="t"/>
          <a:lstStyle/>
          <a:p>
            <a:pPr indent="0" marL="0">
              <a:lnSpc>
                <a:spcPts val="2100"/>
              </a:lnSpc>
              <a:buNone/>
            </a:pPr>
            <a:r>
              <a:rPr lang="en-US" sz="1400" dirty="0">
                <a:solidFill>
                  <a:srgbClr val="B2B8C4"/>
                </a:solidFill>
                <a:latin typeface="Arial" pitchFamily="34" charset="0"/>
                <a:ea typeface="Arial" pitchFamily="34" charset="-122"/>
                <a:cs typeface="Arial" pitchFamily="34" charset="-120"/>
              </a:rPr>
              <a:t>Twenty of our thirty wards are still cold — under three per cent. Cold isn't hostile, it's unmeasured. Turkwel alone holds 19,528 voters and has barely been asked. These are the six emptiest boxes on the board, and the next fortnight belongs to them.</a:t>
            </a:r>
            <a:endParaRPr lang="en-US" sz="1400" dirty="0"/>
          </a:p>
        </p:txBody>
      </p:sp>
      <p:sp>
        <p:nvSpPr>
          <p:cNvPr id="7" name="Text 5"/>
          <p:cNvSpPr txBox="1"/>
          <p:nvPr/>
        </p:nvSpPr>
        <p:spPr>
          <a:xfrm>
            <a:off x="566928" y="4160520"/>
            <a:ext cx="1645920" cy="658368"/>
          </a:xfrm>
          <a:prstGeom prst="rect">
            <a:avLst/>
          </a:prstGeom>
          <a:noFill/>
          <a:ln/>
        </p:spPr>
        <p:txBody>
          <a:bodyPr wrap="square" lIns="0" tIns="0" rIns="0" bIns="0" rtlCol="0" anchor="ctr"/>
          <a:lstStyle/>
          <a:p>
            <a:pPr indent="0" marL="0">
              <a:buNone/>
            </a:pPr>
            <a:r>
              <a:rPr lang="en-US" sz="3800" b="1" dirty="0">
                <a:solidFill>
                  <a:srgbClr val="868D9C"/>
                </a:solidFill>
                <a:latin typeface="Arial" pitchFamily="34" charset="0"/>
                <a:ea typeface="Arial" pitchFamily="34" charset="-122"/>
                <a:cs typeface="Arial" pitchFamily="34" charset="-120"/>
              </a:rPr>
              <a:t>20</a:t>
            </a:r>
            <a:endParaRPr lang="en-US" sz="3800" dirty="0"/>
          </a:p>
        </p:txBody>
      </p:sp>
      <p:sp>
        <p:nvSpPr>
          <p:cNvPr id="8" name="Text 6"/>
          <p:cNvSpPr txBox="1"/>
          <p:nvPr/>
        </p:nvSpPr>
        <p:spPr>
          <a:xfrm>
            <a:off x="566928" y="4818888"/>
            <a:ext cx="1645920" cy="292608"/>
          </a:xfrm>
          <a:prstGeom prst="rect">
            <a:avLst/>
          </a:prstGeom>
          <a:noFill/>
          <a:ln/>
        </p:spPr>
        <p:txBody>
          <a:bodyPr wrap="square" lIns="0" tIns="0" rIns="0" bIns="0" rtlCol="0" anchor="ctr"/>
          <a:lstStyle/>
          <a:p>
            <a:pPr indent="0" marL="0">
              <a:buNone/>
            </a:pPr>
            <a:r>
              <a:rPr lang="en-US" sz="1000" b="1" spc="160" kern="0" dirty="0">
                <a:solidFill>
                  <a:srgbClr val="868D9C"/>
                </a:solidFill>
                <a:latin typeface="Arial" pitchFamily="34" charset="0"/>
                <a:ea typeface="Arial" pitchFamily="34" charset="-122"/>
                <a:cs typeface="Arial" pitchFamily="34" charset="-120"/>
              </a:rPr>
              <a:t>wards still cold</a:t>
            </a:r>
            <a:endParaRPr lang="en-US" sz="1000" dirty="0"/>
          </a:p>
        </p:txBody>
      </p:sp>
      <p:sp>
        <p:nvSpPr>
          <p:cNvPr id="9" name="Text 7"/>
          <p:cNvSpPr txBox="1"/>
          <p:nvPr/>
        </p:nvSpPr>
        <p:spPr>
          <a:xfrm>
            <a:off x="2304288" y="4160520"/>
            <a:ext cx="1645920" cy="658368"/>
          </a:xfrm>
          <a:prstGeom prst="rect">
            <a:avLst/>
          </a:prstGeom>
          <a:noFill/>
          <a:ln/>
        </p:spPr>
        <p:txBody>
          <a:bodyPr wrap="square" lIns="0" tIns="0" rIns="0" bIns="0" rtlCol="0" anchor="ctr"/>
          <a:lstStyle/>
          <a:p>
            <a:pPr indent="0" marL="0">
              <a:buNone/>
            </a:pPr>
            <a:r>
              <a:rPr lang="en-US" sz="3800" b="1" dirty="0">
                <a:solidFill>
                  <a:srgbClr val="F47B20"/>
                </a:solidFill>
                <a:latin typeface="Arial" pitchFamily="34" charset="0"/>
                <a:ea typeface="Arial" pitchFamily="34" charset="-122"/>
                <a:cs typeface="Arial" pitchFamily="34" charset="-120"/>
              </a:rPr>
              <a:t>4,981</a:t>
            </a:r>
            <a:endParaRPr lang="en-US" sz="3800" dirty="0"/>
          </a:p>
        </p:txBody>
      </p:sp>
      <p:sp>
        <p:nvSpPr>
          <p:cNvPr id="10" name="Text 8"/>
          <p:cNvSpPr txBox="1"/>
          <p:nvPr/>
        </p:nvSpPr>
        <p:spPr>
          <a:xfrm>
            <a:off x="2304288" y="4818888"/>
            <a:ext cx="1645920" cy="292608"/>
          </a:xfrm>
          <a:prstGeom prst="rect">
            <a:avLst/>
          </a:prstGeom>
          <a:noFill/>
          <a:ln/>
        </p:spPr>
        <p:txBody>
          <a:bodyPr wrap="square" lIns="0" tIns="0" rIns="0" bIns="0" rtlCol="0" anchor="ctr"/>
          <a:lstStyle/>
          <a:p>
            <a:pPr indent="0" marL="0">
              <a:buNone/>
            </a:pPr>
            <a:r>
              <a:rPr lang="en-US" sz="1000" b="1" spc="160" kern="0" dirty="0">
                <a:solidFill>
                  <a:srgbClr val="868D9C"/>
                </a:solidFill>
                <a:latin typeface="Arial" pitchFamily="34" charset="0"/>
                <a:ea typeface="Arial" pitchFamily="34" charset="-122"/>
                <a:cs typeface="Arial" pitchFamily="34" charset="-120"/>
              </a:rPr>
              <a:t>verified today</a:t>
            </a:r>
            <a:endParaRPr lang="en-US" sz="1000" dirty="0"/>
          </a:p>
        </p:txBody>
      </p:sp>
      <p:sp>
        <p:nvSpPr>
          <p:cNvPr id="11" name="Text 9"/>
          <p:cNvSpPr txBox="1"/>
          <p:nvPr/>
        </p:nvSpPr>
        <p:spPr>
          <a:xfrm>
            <a:off x="4041648" y="4160520"/>
            <a:ext cx="1645920" cy="658368"/>
          </a:xfrm>
          <a:prstGeom prst="rect">
            <a:avLst/>
          </a:prstGeom>
          <a:noFill/>
          <a:ln/>
        </p:spPr>
        <p:txBody>
          <a:bodyPr wrap="square" lIns="0" tIns="0" rIns="0" bIns="0" rtlCol="0" anchor="ctr"/>
          <a:lstStyle/>
          <a:p>
            <a:pPr indent="0" marL="0">
              <a:buNone/>
            </a:pPr>
            <a:r>
              <a:rPr lang="en-US" sz="3800" b="1" dirty="0">
                <a:solidFill>
                  <a:srgbClr val="F4F2EE"/>
                </a:solidFill>
                <a:latin typeface="Arial" pitchFamily="34" charset="0"/>
                <a:ea typeface="Arial" pitchFamily="34" charset="-122"/>
                <a:cs typeface="Arial" pitchFamily="34" charset="-120"/>
              </a:rPr>
              <a:t>2.09%</a:t>
            </a:r>
            <a:endParaRPr lang="en-US" sz="3800" dirty="0"/>
          </a:p>
        </p:txBody>
      </p:sp>
      <p:sp>
        <p:nvSpPr>
          <p:cNvPr id="12" name="Text 10"/>
          <p:cNvSpPr txBox="1"/>
          <p:nvPr/>
        </p:nvSpPr>
        <p:spPr>
          <a:xfrm>
            <a:off x="4041648" y="4818888"/>
            <a:ext cx="1645920" cy="292608"/>
          </a:xfrm>
          <a:prstGeom prst="rect">
            <a:avLst/>
          </a:prstGeom>
          <a:noFill/>
          <a:ln/>
        </p:spPr>
        <p:txBody>
          <a:bodyPr wrap="square" lIns="0" tIns="0" rIns="0" bIns="0" rtlCol="0" anchor="ctr"/>
          <a:lstStyle/>
          <a:p>
            <a:pPr indent="0" marL="0">
              <a:buNone/>
            </a:pPr>
            <a:r>
              <a:rPr lang="en-US" sz="1000" b="1" spc="160" kern="0" dirty="0">
                <a:solidFill>
                  <a:srgbClr val="868D9C"/>
                </a:solidFill>
                <a:latin typeface="Arial" pitchFamily="34" charset="0"/>
                <a:ea typeface="Arial" pitchFamily="34" charset="-122"/>
                <a:cs typeface="Arial" pitchFamily="34" charset="-120"/>
              </a:rPr>
              <a:t>of the county</a:t>
            </a:r>
            <a:endParaRPr lang="en-US" sz="1000" dirty="0"/>
          </a:p>
        </p:txBody>
      </p:sp>
      <p:graphicFrame>
        <p:nvGraphicFramePr>
          <p:cNvPr id="13" name="Chart 0" descr=""/>
          <p:cNvGraphicFramePr/>
          <p:nvPr/>
        </p:nvGraphicFramePr>
        <p:xfrm>
          <a:off x="5943600" y="932688"/>
          <a:ext cx="5650992" cy="48920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THE WHOLE COUNTY</a:t>
            </a:r>
            <a:endParaRPr lang="en-US" sz="1100" dirty="0"/>
          </a:p>
        </p:txBody>
      </p:sp>
      <p:sp>
        <p:nvSpPr>
          <p:cNvPr id="5" name="Text 3"/>
          <p:cNvSpPr txBox="1"/>
          <p:nvPr/>
        </p:nvSpPr>
        <p:spPr>
          <a:xfrm>
            <a:off x="566928" y="896112"/>
            <a:ext cx="493776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Thirty wards,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one screen.</a:t>
            </a:r>
            <a:endParaRPr lang="en-US" sz="3400" dirty="0"/>
          </a:p>
        </p:txBody>
      </p:sp>
      <p:sp>
        <p:nvSpPr>
          <p:cNvPr id="6" name="Text 4"/>
          <p:cNvSpPr txBox="1"/>
          <p:nvPr/>
        </p:nvSpPr>
        <p:spPr>
          <a:xfrm>
            <a:off x="5943600" y="932688"/>
            <a:ext cx="5650992" cy="1280160"/>
          </a:xfrm>
          <a:prstGeom prst="rect">
            <a:avLst/>
          </a:prstGeom>
          <a:noFill/>
          <a:ln/>
        </p:spPr>
        <p:txBody>
          <a:bodyPr wrap="square" lIns="0" tIns="0" rIns="0" bIns="0" rtlCol="0" anchor="ctr"/>
          <a:lstStyle/>
          <a:p>
            <a:pPr indent="0" marL="0">
              <a:lnSpc>
                <a:spcPts val="1800"/>
              </a:lnSpc>
              <a:buNone/>
            </a:pPr>
            <a:r>
              <a:rPr lang="en-US" sz="1250" dirty="0">
                <a:solidFill>
                  <a:srgbClr val="B2B8C4"/>
                </a:solidFill>
                <a:latin typeface="Arial" pitchFamily="34" charset="0"/>
                <a:ea typeface="Arial" pitchFamily="34" charset="-122"/>
                <a:cs typeface="Arial" pitchFamily="34" charset="-120"/>
              </a:rPr>
              <a:t>One tile per ward, grouped by constituency and laid out roughly as they sit on the ground — north at the top, the south below. Every tile is the same size on purpose: the northern wards are huge and nearly empty, so drawn to land area they would swamp the map while holding a fraction of the vote.</a:t>
            </a:r>
            <a:endParaRPr lang="en-US" sz="1250" dirty="0"/>
          </a:p>
        </p:txBody>
      </p:sp>
      <p:sp>
        <p:nvSpPr>
          <p:cNvPr id="7" name="Shape 5"/>
          <p:cNvSpPr/>
          <p:nvPr/>
        </p:nvSpPr>
        <p:spPr>
          <a:xfrm>
            <a:off x="5943600" y="2304288"/>
            <a:ext cx="256032" cy="164592"/>
          </a:xfrm>
          <a:prstGeom prst="rect">
            <a:avLst/>
          </a:prstGeom>
          <a:solidFill>
            <a:srgbClr val="C3621A"/>
          </a:solidFill>
          <a:ln/>
        </p:spPr>
      </p:sp>
      <p:sp>
        <p:nvSpPr>
          <p:cNvPr id="8" name="Text 6"/>
          <p:cNvSpPr txBox="1"/>
          <p:nvPr/>
        </p:nvSpPr>
        <p:spPr>
          <a:xfrm>
            <a:off x="6291072" y="2231136"/>
            <a:ext cx="1536192" cy="292608"/>
          </a:xfrm>
          <a:prstGeom prst="rect">
            <a:avLst/>
          </a:prstGeom>
          <a:noFill/>
          <a:ln/>
        </p:spPr>
        <p:txBody>
          <a:bodyPr wrap="square" lIns="0" tIns="0" rIns="0" bIns="0" rtlCol="0" anchor="ctr"/>
          <a:lstStyle/>
          <a:p>
            <a:pPr indent="0" marL="0">
              <a:buNone/>
            </a:pPr>
            <a:r>
              <a:rPr lang="en-US" sz="1050" dirty="0">
                <a:solidFill>
                  <a:srgbClr val="B2B8C4"/>
                </a:solidFill>
                <a:latin typeface="Arial" pitchFamily="34" charset="0"/>
                <a:ea typeface="Arial" pitchFamily="34" charset="-122"/>
                <a:cs typeface="Arial" pitchFamily="34" charset="-120"/>
              </a:rPr>
              <a:t>Cold  under 3%</a:t>
            </a:r>
            <a:endParaRPr lang="en-US" sz="1050" dirty="0"/>
          </a:p>
        </p:txBody>
      </p:sp>
      <p:sp>
        <p:nvSpPr>
          <p:cNvPr id="9" name="Shape 7"/>
          <p:cNvSpPr/>
          <p:nvPr/>
        </p:nvSpPr>
        <p:spPr>
          <a:xfrm>
            <a:off x="7827264" y="2304288"/>
            <a:ext cx="256032" cy="164592"/>
          </a:xfrm>
          <a:prstGeom prst="rect">
            <a:avLst/>
          </a:prstGeom>
          <a:solidFill>
            <a:srgbClr val="F47B20"/>
          </a:solidFill>
          <a:ln/>
        </p:spPr>
      </p:sp>
      <p:sp>
        <p:nvSpPr>
          <p:cNvPr id="10" name="Text 8"/>
          <p:cNvSpPr txBox="1"/>
          <p:nvPr/>
        </p:nvSpPr>
        <p:spPr>
          <a:xfrm>
            <a:off x="8174736" y="2231136"/>
            <a:ext cx="1536192" cy="292608"/>
          </a:xfrm>
          <a:prstGeom prst="rect">
            <a:avLst/>
          </a:prstGeom>
          <a:noFill/>
          <a:ln/>
        </p:spPr>
        <p:txBody>
          <a:bodyPr wrap="square" lIns="0" tIns="0" rIns="0" bIns="0" rtlCol="0" anchor="ctr"/>
          <a:lstStyle/>
          <a:p>
            <a:pPr indent="0" marL="0">
              <a:buNone/>
            </a:pPr>
            <a:r>
              <a:rPr lang="en-US" sz="1050" dirty="0">
                <a:solidFill>
                  <a:srgbClr val="B2B8C4"/>
                </a:solidFill>
                <a:latin typeface="Arial" pitchFamily="34" charset="0"/>
                <a:ea typeface="Arial" pitchFamily="34" charset="-122"/>
                <a:cs typeface="Arial" pitchFamily="34" charset="-120"/>
              </a:rPr>
              <a:t>Working  3–8%</a:t>
            </a:r>
            <a:endParaRPr lang="en-US" sz="1050" dirty="0"/>
          </a:p>
        </p:txBody>
      </p:sp>
      <p:sp>
        <p:nvSpPr>
          <p:cNvPr id="11" name="Shape 9"/>
          <p:cNvSpPr/>
          <p:nvPr/>
        </p:nvSpPr>
        <p:spPr>
          <a:xfrm>
            <a:off x="9710928" y="2304288"/>
            <a:ext cx="256032" cy="164592"/>
          </a:xfrm>
          <a:prstGeom prst="rect">
            <a:avLst/>
          </a:prstGeom>
          <a:solidFill>
            <a:srgbClr val="FF9445"/>
          </a:solidFill>
          <a:ln/>
        </p:spPr>
      </p:sp>
      <p:sp>
        <p:nvSpPr>
          <p:cNvPr id="12" name="Text 10"/>
          <p:cNvSpPr txBox="1"/>
          <p:nvPr/>
        </p:nvSpPr>
        <p:spPr>
          <a:xfrm>
            <a:off x="10058400" y="2231136"/>
            <a:ext cx="1536192" cy="292608"/>
          </a:xfrm>
          <a:prstGeom prst="rect">
            <a:avLst/>
          </a:prstGeom>
          <a:noFill/>
          <a:ln/>
        </p:spPr>
        <p:txBody>
          <a:bodyPr wrap="square" lIns="0" tIns="0" rIns="0" bIns="0" rtlCol="0" anchor="ctr"/>
          <a:lstStyle/>
          <a:p>
            <a:pPr indent="0" marL="0">
              <a:buNone/>
            </a:pPr>
            <a:r>
              <a:rPr lang="en-US" sz="1050" dirty="0">
                <a:solidFill>
                  <a:srgbClr val="B2B8C4"/>
                </a:solidFill>
                <a:latin typeface="Arial" pitchFamily="34" charset="0"/>
                <a:ea typeface="Arial" pitchFamily="34" charset="-122"/>
                <a:cs typeface="Arial" pitchFamily="34" charset="-120"/>
              </a:rPr>
              <a:t>Holding  over 8%</a:t>
            </a:r>
            <a:endParaRPr lang="en-US" sz="1050" dirty="0"/>
          </a:p>
        </p:txBody>
      </p:sp>
      <p:sp>
        <p:nvSpPr>
          <p:cNvPr id="13" name="Text 11">
            <a:hlinkClick r:id="rId2" tooltip="Opens the interactive board"/>
          </p:cNvPr>
          <p:cNvSpPr txBox="1"/>
          <p:nvPr/>
        </p:nvSpPr>
        <p:spPr>
          <a:xfrm>
            <a:off x="566928" y="2231136"/>
            <a:ext cx="4937760" cy="292608"/>
          </a:xfrm>
          <a:prstGeom prst="rect">
            <a:avLst/>
          </a:prstGeom>
          <a:noFill/>
          <a:ln/>
        </p:spPr>
        <p:txBody>
          <a:bodyPr wrap="square" lIns="0" tIns="0" rIns="0" bIns="0" rtlCol="0" anchor="ctr"/>
          <a:lstStyle/>
          <a:p>
            <a:pPr indent="0" marL="0">
              <a:buNone/>
            </a:pPr>
            <a:r>
              <a:rPr lang="en-US" sz="1200" b="1" u="sng" dirty="0">
                <a:solidFill>
                  <a:srgbClr val="F47B20"/>
                </a:solidFill>
                <a:latin typeface="Arial" pitchFamily="34" charset="0"/>
                <a:ea typeface="Arial" pitchFamily="34" charset="-122"/>
                <a:cs typeface="Arial" pitchFamily="34" charset="-120"/>
                <a:hlinkClick r:id="rId2" invalidUrl="" action="" tgtFrame="" tooltip="Opens the interactive board" history="1" highlightClick="0" endSnd="0">
                  <a:extLst>
                    <a:ext uri="{A12FA001-AC4F-418D-AE19-62706E023703}">
                      <ahyp:hlinkClr xmlns:ahyp="http://schemas.microsoft.com/office/drawing/2018/hyperlinkcolor" val="tx"/>
                    </a:ext>
                  </a:extLst>
                </a:hlinkClick>
              </a:rPr>
              <a:t>Open the live map — tap any ward for its polling stations</a:t>
            </a:r>
            <a:endParaRPr lang="en-US" sz="1200" dirty="0"/>
          </a:p>
        </p:txBody>
      </p:sp>
      <p:sp>
        <p:nvSpPr>
          <p:cNvPr id="14" name="Text 12"/>
          <p:cNvSpPr txBox="1"/>
          <p:nvPr/>
        </p:nvSpPr>
        <p:spPr>
          <a:xfrm>
            <a:off x="566928" y="2615184"/>
            <a:ext cx="11027664"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TURKANA NORTH</a:t>
            </a:r>
            <a:endParaRPr lang="en-US" sz="850" dirty="0"/>
          </a:p>
        </p:txBody>
      </p:sp>
      <p:sp>
        <p:nvSpPr>
          <p:cNvPr id="15" name="Shape 13"/>
          <p:cNvSpPr/>
          <p:nvPr/>
        </p:nvSpPr>
        <p:spPr>
          <a:xfrm>
            <a:off x="566928" y="2834640"/>
            <a:ext cx="1784604" cy="530352"/>
          </a:xfrm>
          <a:prstGeom prst="roundRect">
            <a:avLst>
              <a:gd name="adj" fmla="val 8621"/>
            </a:avLst>
          </a:prstGeom>
          <a:solidFill>
            <a:srgbClr val="C3621A"/>
          </a:solidFill>
          <a:ln/>
        </p:spPr>
      </p:sp>
      <p:sp>
        <p:nvSpPr>
          <p:cNvPr id="16" name="Text 14"/>
          <p:cNvSpPr txBox="1"/>
          <p:nvPr/>
        </p:nvSpPr>
        <p:spPr>
          <a:xfrm>
            <a:off x="640080"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2.17%</a:t>
            </a:r>
            <a:endParaRPr lang="en-US" sz="1100" dirty="0"/>
          </a:p>
        </p:txBody>
      </p:sp>
      <p:sp>
        <p:nvSpPr>
          <p:cNvPr id="17" name="Text 15"/>
          <p:cNvSpPr txBox="1"/>
          <p:nvPr/>
        </p:nvSpPr>
        <p:spPr>
          <a:xfrm>
            <a:off x="640080"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Kaeris</a:t>
            </a:r>
            <a:endParaRPr lang="en-US" sz="700" dirty="0"/>
          </a:p>
        </p:txBody>
      </p:sp>
      <p:sp>
        <p:nvSpPr>
          <p:cNvPr id="18" name="Shape 16"/>
          <p:cNvSpPr/>
          <p:nvPr/>
        </p:nvSpPr>
        <p:spPr>
          <a:xfrm>
            <a:off x="2415540" y="2834640"/>
            <a:ext cx="1784604" cy="530352"/>
          </a:xfrm>
          <a:prstGeom prst="roundRect">
            <a:avLst>
              <a:gd name="adj" fmla="val 8621"/>
            </a:avLst>
          </a:prstGeom>
          <a:solidFill>
            <a:srgbClr val="C3621A"/>
          </a:solidFill>
          <a:ln/>
        </p:spPr>
      </p:sp>
      <p:sp>
        <p:nvSpPr>
          <p:cNvPr id="19" name="Text 17"/>
          <p:cNvSpPr txBox="1"/>
          <p:nvPr/>
        </p:nvSpPr>
        <p:spPr>
          <a:xfrm>
            <a:off x="2488692"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1.91%</a:t>
            </a:r>
            <a:endParaRPr lang="en-US" sz="1100" dirty="0"/>
          </a:p>
        </p:txBody>
      </p:sp>
      <p:sp>
        <p:nvSpPr>
          <p:cNvPr id="20" name="Text 18"/>
          <p:cNvSpPr txBox="1"/>
          <p:nvPr/>
        </p:nvSpPr>
        <p:spPr>
          <a:xfrm>
            <a:off x="2488692"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Lake Zone</a:t>
            </a:r>
            <a:endParaRPr lang="en-US" sz="700" dirty="0"/>
          </a:p>
        </p:txBody>
      </p:sp>
      <p:sp>
        <p:nvSpPr>
          <p:cNvPr id="21" name="Shape 19"/>
          <p:cNvSpPr/>
          <p:nvPr/>
        </p:nvSpPr>
        <p:spPr>
          <a:xfrm>
            <a:off x="4264152" y="2834640"/>
            <a:ext cx="1784604" cy="530352"/>
          </a:xfrm>
          <a:prstGeom prst="roundRect">
            <a:avLst>
              <a:gd name="adj" fmla="val 8621"/>
            </a:avLst>
          </a:prstGeom>
          <a:solidFill>
            <a:srgbClr val="C3621A"/>
          </a:solidFill>
          <a:ln/>
        </p:spPr>
      </p:sp>
      <p:sp>
        <p:nvSpPr>
          <p:cNvPr id="22" name="Text 20"/>
          <p:cNvSpPr txBox="1"/>
          <p:nvPr/>
        </p:nvSpPr>
        <p:spPr>
          <a:xfrm>
            <a:off x="4337304"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0.36%</a:t>
            </a:r>
            <a:endParaRPr lang="en-US" sz="1100" dirty="0"/>
          </a:p>
        </p:txBody>
      </p:sp>
      <p:sp>
        <p:nvSpPr>
          <p:cNvPr id="23" name="Text 21"/>
          <p:cNvSpPr txBox="1"/>
          <p:nvPr/>
        </p:nvSpPr>
        <p:spPr>
          <a:xfrm>
            <a:off x="4337304"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Lapur</a:t>
            </a:r>
            <a:endParaRPr lang="en-US" sz="700" dirty="0"/>
          </a:p>
        </p:txBody>
      </p:sp>
      <p:sp>
        <p:nvSpPr>
          <p:cNvPr id="24" name="Shape 22"/>
          <p:cNvSpPr/>
          <p:nvPr/>
        </p:nvSpPr>
        <p:spPr>
          <a:xfrm>
            <a:off x="6112764" y="2834640"/>
            <a:ext cx="1784604" cy="530352"/>
          </a:xfrm>
          <a:prstGeom prst="roundRect">
            <a:avLst>
              <a:gd name="adj" fmla="val 8621"/>
            </a:avLst>
          </a:prstGeom>
          <a:solidFill>
            <a:srgbClr val="C3621A"/>
          </a:solidFill>
          <a:ln/>
        </p:spPr>
      </p:sp>
      <p:sp>
        <p:nvSpPr>
          <p:cNvPr id="25" name="Text 23"/>
          <p:cNvSpPr txBox="1"/>
          <p:nvPr/>
        </p:nvSpPr>
        <p:spPr>
          <a:xfrm>
            <a:off x="6185916"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1.33%</a:t>
            </a:r>
            <a:endParaRPr lang="en-US" sz="1100" dirty="0"/>
          </a:p>
        </p:txBody>
      </p:sp>
      <p:sp>
        <p:nvSpPr>
          <p:cNvPr id="26" name="Text 24"/>
          <p:cNvSpPr txBox="1"/>
          <p:nvPr/>
        </p:nvSpPr>
        <p:spPr>
          <a:xfrm>
            <a:off x="6185916"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Kaaleng/Kaikor</a:t>
            </a:r>
            <a:endParaRPr lang="en-US" sz="700" dirty="0"/>
          </a:p>
        </p:txBody>
      </p:sp>
      <p:sp>
        <p:nvSpPr>
          <p:cNvPr id="27" name="Shape 25"/>
          <p:cNvSpPr/>
          <p:nvPr/>
        </p:nvSpPr>
        <p:spPr>
          <a:xfrm>
            <a:off x="7961376" y="2834640"/>
            <a:ext cx="1784604" cy="530352"/>
          </a:xfrm>
          <a:prstGeom prst="roundRect">
            <a:avLst>
              <a:gd name="adj" fmla="val 8621"/>
            </a:avLst>
          </a:prstGeom>
          <a:solidFill>
            <a:srgbClr val="C3621A"/>
          </a:solidFill>
          <a:ln/>
        </p:spPr>
      </p:sp>
      <p:sp>
        <p:nvSpPr>
          <p:cNvPr id="28" name="Text 26"/>
          <p:cNvSpPr txBox="1"/>
          <p:nvPr/>
        </p:nvSpPr>
        <p:spPr>
          <a:xfrm>
            <a:off x="8034528"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1.71%</a:t>
            </a:r>
            <a:endParaRPr lang="en-US" sz="1100" dirty="0"/>
          </a:p>
        </p:txBody>
      </p:sp>
      <p:sp>
        <p:nvSpPr>
          <p:cNvPr id="29" name="Text 27"/>
          <p:cNvSpPr txBox="1"/>
          <p:nvPr/>
        </p:nvSpPr>
        <p:spPr>
          <a:xfrm>
            <a:off x="8034528"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Kibish</a:t>
            </a:r>
            <a:endParaRPr lang="en-US" sz="700" dirty="0"/>
          </a:p>
        </p:txBody>
      </p:sp>
      <p:sp>
        <p:nvSpPr>
          <p:cNvPr id="30" name="Shape 28"/>
          <p:cNvSpPr/>
          <p:nvPr/>
        </p:nvSpPr>
        <p:spPr>
          <a:xfrm>
            <a:off x="9809988" y="2834640"/>
            <a:ext cx="1784604" cy="530352"/>
          </a:xfrm>
          <a:prstGeom prst="roundRect">
            <a:avLst>
              <a:gd name="adj" fmla="val 8621"/>
            </a:avLst>
          </a:prstGeom>
          <a:solidFill>
            <a:srgbClr val="C3621A"/>
          </a:solidFill>
          <a:ln/>
        </p:spPr>
      </p:sp>
      <p:sp>
        <p:nvSpPr>
          <p:cNvPr id="31" name="Text 29"/>
          <p:cNvSpPr txBox="1"/>
          <p:nvPr/>
        </p:nvSpPr>
        <p:spPr>
          <a:xfrm>
            <a:off x="9883140" y="2880360"/>
            <a:ext cx="163830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1.38%</a:t>
            </a:r>
            <a:endParaRPr lang="en-US" sz="1100" dirty="0"/>
          </a:p>
        </p:txBody>
      </p:sp>
      <p:sp>
        <p:nvSpPr>
          <p:cNvPr id="32" name="Text 30"/>
          <p:cNvSpPr txBox="1"/>
          <p:nvPr/>
        </p:nvSpPr>
        <p:spPr>
          <a:xfrm>
            <a:off x="9883140" y="3118104"/>
            <a:ext cx="163830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Nakalale</a:t>
            </a:r>
            <a:endParaRPr lang="en-US" sz="700" dirty="0"/>
          </a:p>
        </p:txBody>
      </p:sp>
      <p:sp>
        <p:nvSpPr>
          <p:cNvPr id="33" name="Text 31"/>
          <p:cNvSpPr txBox="1"/>
          <p:nvPr/>
        </p:nvSpPr>
        <p:spPr>
          <a:xfrm>
            <a:off x="566928" y="3511296"/>
            <a:ext cx="5394960"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TURKANA WEST</a:t>
            </a:r>
            <a:endParaRPr lang="en-US" sz="850" dirty="0"/>
          </a:p>
        </p:txBody>
      </p:sp>
      <p:sp>
        <p:nvSpPr>
          <p:cNvPr id="34" name="Shape 32"/>
          <p:cNvSpPr/>
          <p:nvPr/>
        </p:nvSpPr>
        <p:spPr>
          <a:xfrm>
            <a:off x="566928" y="3730752"/>
            <a:ext cx="1300734" cy="530352"/>
          </a:xfrm>
          <a:prstGeom prst="roundRect">
            <a:avLst>
              <a:gd name="adj" fmla="val 8621"/>
            </a:avLst>
          </a:prstGeom>
          <a:solidFill>
            <a:srgbClr val="F47B20"/>
          </a:solidFill>
          <a:ln/>
        </p:spPr>
      </p:sp>
      <p:sp>
        <p:nvSpPr>
          <p:cNvPr id="35" name="Text 33"/>
          <p:cNvSpPr txBox="1"/>
          <p:nvPr/>
        </p:nvSpPr>
        <p:spPr>
          <a:xfrm>
            <a:off x="640080" y="3776472"/>
            <a:ext cx="115443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3.11%</a:t>
            </a:r>
            <a:endParaRPr lang="en-US" sz="1100" dirty="0"/>
          </a:p>
        </p:txBody>
      </p:sp>
      <p:sp>
        <p:nvSpPr>
          <p:cNvPr id="36" name="Text 34"/>
          <p:cNvSpPr txBox="1"/>
          <p:nvPr/>
        </p:nvSpPr>
        <p:spPr>
          <a:xfrm>
            <a:off x="640080" y="4014216"/>
            <a:ext cx="115443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Kakuma</a:t>
            </a:r>
            <a:endParaRPr lang="en-US" sz="700" dirty="0"/>
          </a:p>
        </p:txBody>
      </p:sp>
      <p:sp>
        <p:nvSpPr>
          <p:cNvPr id="37" name="Shape 35"/>
          <p:cNvSpPr/>
          <p:nvPr/>
        </p:nvSpPr>
        <p:spPr>
          <a:xfrm>
            <a:off x="1931670" y="3730752"/>
            <a:ext cx="1300734" cy="530352"/>
          </a:xfrm>
          <a:prstGeom prst="roundRect">
            <a:avLst>
              <a:gd name="adj" fmla="val 8621"/>
            </a:avLst>
          </a:prstGeom>
          <a:solidFill>
            <a:srgbClr val="F47B20"/>
          </a:solidFill>
          <a:ln/>
        </p:spPr>
      </p:sp>
      <p:sp>
        <p:nvSpPr>
          <p:cNvPr id="38" name="Text 36"/>
          <p:cNvSpPr txBox="1"/>
          <p:nvPr/>
        </p:nvSpPr>
        <p:spPr>
          <a:xfrm>
            <a:off x="2004822" y="3776472"/>
            <a:ext cx="115443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4.74%</a:t>
            </a:r>
            <a:endParaRPr lang="en-US" sz="1100" dirty="0"/>
          </a:p>
        </p:txBody>
      </p:sp>
      <p:sp>
        <p:nvSpPr>
          <p:cNvPr id="39" name="Text 37"/>
          <p:cNvSpPr txBox="1"/>
          <p:nvPr/>
        </p:nvSpPr>
        <p:spPr>
          <a:xfrm>
            <a:off x="2004822" y="4014216"/>
            <a:ext cx="115443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Lopur</a:t>
            </a:r>
            <a:endParaRPr lang="en-US" sz="700" dirty="0"/>
          </a:p>
        </p:txBody>
      </p:sp>
      <p:sp>
        <p:nvSpPr>
          <p:cNvPr id="40" name="Shape 38"/>
          <p:cNvSpPr/>
          <p:nvPr/>
        </p:nvSpPr>
        <p:spPr>
          <a:xfrm>
            <a:off x="3296412" y="3730752"/>
            <a:ext cx="1300734" cy="530352"/>
          </a:xfrm>
          <a:prstGeom prst="roundRect">
            <a:avLst>
              <a:gd name="adj" fmla="val 8621"/>
            </a:avLst>
          </a:prstGeom>
          <a:solidFill>
            <a:srgbClr val="F47B20"/>
          </a:solidFill>
          <a:ln/>
        </p:spPr>
      </p:sp>
      <p:sp>
        <p:nvSpPr>
          <p:cNvPr id="41" name="Text 39"/>
          <p:cNvSpPr txBox="1"/>
          <p:nvPr/>
        </p:nvSpPr>
        <p:spPr>
          <a:xfrm>
            <a:off x="3369564" y="3776472"/>
            <a:ext cx="115443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3.31%</a:t>
            </a:r>
            <a:endParaRPr lang="en-US" sz="1100" dirty="0"/>
          </a:p>
        </p:txBody>
      </p:sp>
      <p:sp>
        <p:nvSpPr>
          <p:cNvPr id="42" name="Text 40"/>
          <p:cNvSpPr txBox="1"/>
          <p:nvPr/>
        </p:nvSpPr>
        <p:spPr>
          <a:xfrm>
            <a:off x="3369564" y="4014216"/>
            <a:ext cx="115443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Letea</a:t>
            </a:r>
            <a:endParaRPr lang="en-US" sz="700" dirty="0"/>
          </a:p>
        </p:txBody>
      </p:sp>
      <p:sp>
        <p:nvSpPr>
          <p:cNvPr id="43" name="Shape 41"/>
          <p:cNvSpPr/>
          <p:nvPr/>
        </p:nvSpPr>
        <p:spPr>
          <a:xfrm>
            <a:off x="4661154" y="3730752"/>
            <a:ext cx="1300734" cy="530352"/>
          </a:xfrm>
          <a:prstGeom prst="roundRect">
            <a:avLst>
              <a:gd name="adj" fmla="val 8621"/>
            </a:avLst>
          </a:prstGeom>
          <a:solidFill>
            <a:srgbClr val="C3621A"/>
          </a:solidFill>
          <a:ln/>
        </p:spPr>
      </p:sp>
      <p:sp>
        <p:nvSpPr>
          <p:cNvPr id="44" name="Text 42"/>
          <p:cNvSpPr txBox="1"/>
          <p:nvPr/>
        </p:nvSpPr>
        <p:spPr>
          <a:xfrm>
            <a:off x="4734306" y="3776472"/>
            <a:ext cx="115443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0.87%</a:t>
            </a:r>
            <a:endParaRPr lang="en-US" sz="1100" dirty="0"/>
          </a:p>
        </p:txBody>
      </p:sp>
      <p:sp>
        <p:nvSpPr>
          <p:cNvPr id="45" name="Text 43"/>
          <p:cNvSpPr txBox="1"/>
          <p:nvPr/>
        </p:nvSpPr>
        <p:spPr>
          <a:xfrm>
            <a:off x="4734306" y="4014216"/>
            <a:ext cx="115443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Songot</a:t>
            </a:r>
            <a:endParaRPr lang="en-US" sz="700" dirty="0"/>
          </a:p>
        </p:txBody>
      </p:sp>
      <p:sp>
        <p:nvSpPr>
          <p:cNvPr id="46" name="Shape 44"/>
          <p:cNvSpPr/>
          <p:nvPr/>
        </p:nvSpPr>
        <p:spPr>
          <a:xfrm>
            <a:off x="566928" y="4325112"/>
            <a:ext cx="1300734" cy="530352"/>
          </a:xfrm>
          <a:prstGeom prst="roundRect">
            <a:avLst>
              <a:gd name="adj" fmla="val 8621"/>
            </a:avLst>
          </a:prstGeom>
          <a:solidFill>
            <a:srgbClr val="C3621A"/>
          </a:solidFill>
          <a:ln/>
        </p:spPr>
      </p:sp>
      <p:sp>
        <p:nvSpPr>
          <p:cNvPr id="47" name="Text 45"/>
          <p:cNvSpPr txBox="1"/>
          <p:nvPr/>
        </p:nvSpPr>
        <p:spPr>
          <a:xfrm>
            <a:off x="640080" y="4370832"/>
            <a:ext cx="115443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0.98%</a:t>
            </a:r>
            <a:endParaRPr lang="en-US" sz="1100" dirty="0"/>
          </a:p>
        </p:txBody>
      </p:sp>
      <p:sp>
        <p:nvSpPr>
          <p:cNvPr id="48" name="Text 46"/>
          <p:cNvSpPr txBox="1"/>
          <p:nvPr/>
        </p:nvSpPr>
        <p:spPr>
          <a:xfrm>
            <a:off x="640080" y="4608576"/>
            <a:ext cx="115443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Kalobeyei</a:t>
            </a:r>
            <a:endParaRPr lang="en-US" sz="700" dirty="0"/>
          </a:p>
        </p:txBody>
      </p:sp>
      <p:sp>
        <p:nvSpPr>
          <p:cNvPr id="49" name="Shape 47"/>
          <p:cNvSpPr/>
          <p:nvPr/>
        </p:nvSpPr>
        <p:spPr>
          <a:xfrm>
            <a:off x="1931670" y="4325112"/>
            <a:ext cx="1300734" cy="530352"/>
          </a:xfrm>
          <a:prstGeom prst="roundRect">
            <a:avLst>
              <a:gd name="adj" fmla="val 8621"/>
            </a:avLst>
          </a:prstGeom>
          <a:solidFill>
            <a:srgbClr val="C3621A"/>
          </a:solidFill>
          <a:ln/>
        </p:spPr>
      </p:sp>
      <p:sp>
        <p:nvSpPr>
          <p:cNvPr id="50" name="Text 48"/>
          <p:cNvSpPr txBox="1"/>
          <p:nvPr/>
        </p:nvSpPr>
        <p:spPr>
          <a:xfrm>
            <a:off x="2004822" y="4370832"/>
            <a:ext cx="115443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0.78%</a:t>
            </a:r>
            <a:endParaRPr lang="en-US" sz="1100" dirty="0"/>
          </a:p>
        </p:txBody>
      </p:sp>
      <p:sp>
        <p:nvSpPr>
          <p:cNvPr id="51" name="Text 49"/>
          <p:cNvSpPr txBox="1"/>
          <p:nvPr/>
        </p:nvSpPr>
        <p:spPr>
          <a:xfrm>
            <a:off x="2004822" y="4608576"/>
            <a:ext cx="115443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Lokichoggio</a:t>
            </a:r>
            <a:endParaRPr lang="en-US" sz="700" dirty="0"/>
          </a:p>
        </p:txBody>
      </p:sp>
      <p:sp>
        <p:nvSpPr>
          <p:cNvPr id="52" name="Shape 50"/>
          <p:cNvSpPr/>
          <p:nvPr/>
        </p:nvSpPr>
        <p:spPr>
          <a:xfrm>
            <a:off x="3296412" y="4325112"/>
            <a:ext cx="1300734" cy="530352"/>
          </a:xfrm>
          <a:prstGeom prst="roundRect">
            <a:avLst>
              <a:gd name="adj" fmla="val 8621"/>
            </a:avLst>
          </a:prstGeom>
          <a:solidFill>
            <a:srgbClr val="C3621A"/>
          </a:solidFill>
          <a:ln/>
        </p:spPr>
      </p:sp>
      <p:sp>
        <p:nvSpPr>
          <p:cNvPr id="53" name="Text 51"/>
          <p:cNvSpPr txBox="1"/>
          <p:nvPr/>
        </p:nvSpPr>
        <p:spPr>
          <a:xfrm>
            <a:off x="3369564" y="4370832"/>
            <a:ext cx="115443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0.36%</a:t>
            </a:r>
            <a:endParaRPr lang="en-US" sz="1100" dirty="0"/>
          </a:p>
        </p:txBody>
      </p:sp>
      <p:sp>
        <p:nvSpPr>
          <p:cNvPr id="54" name="Text 52"/>
          <p:cNvSpPr txBox="1"/>
          <p:nvPr/>
        </p:nvSpPr>
        <p:spPr>
          <a:xfrm>
            <a:off x="3369564" y="4608576"/>
            <a:ext cx="115443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Nanaam</a:t>
            </a:r>
            <a:endParaRPr lang="en-US" sz="700" dirty="0"/>
          </a:p>
        </p:txBody>
      </p:sp>
      <p:sp>
        <p:nvSpPr>
          <p:cNvPr id="55" name="Text 53"/>
          <p:cNvSpPr txBox="1"/>
          <p:nvPr/>
        </p:nvSpPr>
        <p:spPr>
          <a:xfrm>
            <a:off x="6199632" y="3511296"/>
            <a:ext cx="5394960"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TURKANA CENTRAL</a:t>
            </a:r>
            <a:endParaRPr lang="en-US" sz="850" dirty="0"/>
          </a:p>
        </p:txBody>
      </p:sp>
      <p:sp>
        <p:nvSpPr>
          <p:cNvPr id="56" name="Shape 54"/>
          <p:cNvSpPr/>
          <p:nvPr/>
        </p:nvSpPr>
        <p:spPr>
          <a:xfrm>
            <a:off x="6199632" y="3730752"/>
            <a:ext cx="1755648" cy="530352"/>
          </a:xfrm>
          <a:prstGeom prst="roundRect">
            <a:avLst>
              <a:gd name="adj" fmla="val 8621"/>
            </a:avLst>
          </a:prstGeom>
          <a:solidFill>
            <a:srgbClr val="C3621A"/>
          </a:solidFill>
          <a:ln/>
        </p:spPr>
      </p:sp>
      <p:sp>
        <p:nvSpPr>
          <p:cNvPr id="57" name="Text 55"/>
          <p:cNvSpPr txBox="1"/>
          <p:nvPr/>
        </p:nvSpPr>
        <p:spPr>
          <a:xfrm>
            <a:off x="6272784" y="3776472"/>
            <a:ext cx="1609344"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0.30%</a:t>
            </a:r>
            <a:endParaRPr lang="en-US" sz="1100" dirty="0"/>
          </a:p>
        </p:txBody>
      </p:sp>
      <p:sp>
        <p:nvSpPr>
          <p:cNvPr id="58" name="Text 56"/>
          <p:cNvSpPr txBox="1"/>
          <p:nvPr/>
        </p:nvSpPr>
        <p:spPr>
          <a:xfrm>
            <a:off x="6272784" y="4014216"/>
            <a:ext cx="1609344"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Kerio Delta</a:t>
            </a:r>
            <a:endParaRPr lang="en-US" sz="700" dirty="0"/>
          </a:p>
        </p:txBody>
      </p:sp>
      <p:sp>
        <p:nvSpPr>
          <p:cNvPr id="59" name="Shape 57"/>
          <p:cNvSpPr/>
          <p:nvPr/>
        </p:nvSpPr>
        <p:spPr>
          <a:xfrm>
            <a:off x="8019288" y="3730752"/>
            <a:ext cx="1755648" cy="530352"/>
          </a:xfrm>
          <a:prstGeom prst="roundRect">
            <a:avLst>
              <a:gd name="adj" fmla="val 8621"/>
            </a:avLst>
          </a:prstGeom>
          <a:solidFill>
            <a:srgbClr val="F47B20"/>
          </a:solidFill>
          <a:ln/>
        </p:spPr>
      </p:sp>
      <p:sp>
        <p:nvSpPr>
          <p:cNvPr id="60" name="Text 58"/>
          <p:cNvSpPr txBox="1"/>
          <p:nvPr/>
        </p:nvSpPr>
        <p:spPr>
          <a:xfrm>
            <a:off x="8092440" y="3776472"/>
            <a:ext cx="1609344"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3.88%</a:t>
            </a:r>
            <a:endParaRPr lang="en-US" sz="1100" dirty="0"/>
          </a:p>
        </p:txBody>
      </p:sp>
      <p:sp>
        <p:nvSpPr>
          <p:cNvPr id="61" name="Text 59"/>
          <p:cNvSpPr txBox="1"/>
          <p:nvPr/>
        </p:nvSpPr>
        <p:spPr>
          <a:xfrm>
            <a:off x="8092440" y="4014216"/>
            <a:ext cx="1609344"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Kang'atotha</a:t>
            </a:r>
            <a:endParaRPr lang="en-US" sz="700" dirty="0"/>
          </a:p>
        </p:txBody>
      </p:sp>
      <p:sp>
        <p:nvSpPr>
          <p:cNvPr id="62" name="Shape 60"/>
          <p:cNvSpPr/>
          <p:nvPr/>
        </p:nvSpPr>
        <p:spPr>
          <a:xfrm>
            <a:off x="9838944" y="3730752"/>
            <a:ext cx="1755648" cy="530352"/>
          </a:xfrm>
          <a:prstGeom prst="roundRect">
            <a:avLst>
              <a:gd name="adj" fmla="val 8621"/>
            </a:avLst>
          </a:prstGeom>
          <a:solidFill>
            <a:srgbClr val="C3621A"/>
          </a:solidFill>
          <a:ln/>
        </p:spPr>
      </p:sp>
      <p:sp>
        <p:nvSpPr>
          <p:cNvPr id="63" name="Text 61"/>
          <p:cNvSpPr txBox="1"/>
          <p:nvPr/>
        </p:nvSpPr>
        <p:spPr>
          <a:xfrm>
            <a:off x="9912096" y="3776472"/>
            <a:ext cx="1609344"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0.32%</a:t>
            </a:r>
            <a:endParaRPr lang="en-US" sz="1100" dirty="0"/>
          </a:p>
        </p:txBody>
      </p:sp>
      <p:sp>
        <p:nvSpPr>
          <p:cNvPr id="64" name="Text 62"/>
          <p:cNvSpPr txBox="1"/>
          <p:nvPr/>
        </p:nvSpPr>
        <p:spPr>
          <a:xfrm>
            <a:off x="9912096" y="4014216"/>
            <a:ext cx="1609344"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Kalokol</a:t>
            </a:r>
            <a:endParaRPr lang="en-US" sz="700" dirty="0"/>
          </a:p>
        </p:txBody>
      </p:sp>
      <p:sp>
        <p:nvSpPr>
          <p:cNvPr id="65" name="Shape 63"/>
          <p:cNvSpPr/>
          <p:nvPr/>
        </p:nvSpPr>
        <p:spPr>
          <a:xfrm>
            <a:off x="6199632" y="4325112"/>
            <a:ext cx="1755648" cy="530352"/>
          </a:xfrm>
          <a:prstGeom prst="roundRect">
            <a:avLst>
              <a:gd name="adj" fmla="val 8621"/>
            </a:avLst>
          </a:prstGeom>
          <a:solidFill>
            <a:srgbClr val="F47B20"/>
          </a:solidFill>
          <a:ln/>
        </p:spPr>
      </p:sp>
      <p:sp>
        <p:nvSpPr>
          <p:cNvPr id="66" name="Text 64"/>
          <p:cNvSpPr txBox="1"/>
          <p:nvPr/>
        </p:nvSpPr>
        <p:spPr>
          <a:xfrm>
            <a:off x="6272784" y="4370832"/>
            <a:ext cx="1609344"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3.55%</a:t>
            </a:r>
            <a:endParaRPr lang="en-US" sz="1100" dirty="0"/>
          </a:p>
        </p:txBody>
      </p:sp>
      <p:sp>
        <p:nvSpPr>
          <p:cNvPr id="67" name="Text 65"/>
          <p:cNvSpPr txBox="1"/>
          <p:nvPr/>
        </p:nvSpPr>
        <p:spPr>
          <a:xfrm>
            <a:off x="6272784" y="4608576"/>
            <a:ext cx="1609344"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Lodwar Twp</a:t>
            </a:r>
            <a:endParaRPr lang="en-US" sz="700" dirty="0"/>
          </a:p>
        </p:txBody>
      </p:sp>
      <p:sp>
        <p:nvSpPr>
          <p:cNvPr id="68" name="Shape 66"/>
          <p:cNvSpPr/>
          <p:nvPr/>
        </p:nvSpPr>
        <p:spPr>
          <a:xfrm>
            <a:off x="8019288" y="4325112"/>
            <a:ext cx="1755648" cy="530352"/>
          </a:xfrm>
          <a:prstGeom prst="roundRect">
            <a:avLst>
              <a:gd name="adj" fmla="val 8621"/>
            </a:avLst>
          </a:prstGeom>
          <a:solidFill>
            <a:srgbClr val="C3621A"/>
          </a:solidFill>
          <a:ln/>
        </p:spPr>
      </p:sp>
      <p:sp>
        <p:nvSpPr>
          <p:cNvPr id="69" name="Text 67"/>
          <p:cNvSpPr txBox="1"/>
          <p:nvPr/>
        </p:nvSpPr>
        <p:spPr>
          <a:xfrm>
            <a:off x="8092440" y="4370832"/>
            <a:ext cx="1609344"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1.20%</a:t>
            </a:r>
            <a:endParaRPr lang="en-US" sz="1100" dirty="0"/>
          </a:p>
        </p:txBody>
      </p:sp>
      <p:sp>
        <p:nvSpPr>
          <p:cNvPr id="70" name="Text 68"/>
          <p:cNvSpPr txBox="1"/>
          <p:nvPr/>
        </p:nvSpPr>
        <p:spPr>
          <a:xfrm>
            <a:off x="8092440" y="4608576"/>
            <a:ext cx="1609344"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Kanamkemer</a:t>
            </a:r>
            <a:endParaRPr lang="en-US" sz="700" dirty="0"/>
          </a:p>
        </p:txBody>
      </p:sp>
      <p:sp>
        <p:nvSpPr>
          <p:cNvPr id="71" name="Text 69"/>
          <p:cNvSpPr txBox="1"/>
          <p:nvPr/>
        </p:nvSpPr>
        <p:spPr>
          <a:xfrm>
            <a:off x="566928" y="5001768"/>
            <a:ext cx="3517697"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LOIMA</a:t>
            </a:r>
            <a:endParaRPr lang="en-US" sz="850" dirty="0"/>
          </a:p>
        </p:txBody>
      </p:sp>
      <p:sp>
        <p:nvSpPr>
          <p:cNvPr id="72" name="Shape 70"/>
          <p:cNvSpPr/>
          <p:nvPr/>
        </p:nvSpPr>
        <p:spPr>
          <a:xfrm>
            <a:off x="566928" y="5221224"/>
            <a:ext cx="1726844" cy="530352"/>
          </a:xfrm>
          <a:prstGeom prst="roundRect">
            <a:avLst>
              <a:gd name="adj" fmla="val 8621"/>
            </a:avLst>
          </a:prstGeom>
          <a:solidFill>
            <a:srgbClr val="F47B20"/>
          </a:solidFill>
          <a:ln/>
        </p:spPr>
      </p:sp>
      <p:sp>
        <p:nvSpPr>
          <p:cNvPr id="73" name="Text 71"/>
          <p:cNvSpPr txBox="1"/>
          <p:nvPr/>
        </p:nvSpPr>
        <p:spPr>
          <a:xfrm>
            <a:off x="640080" y="5266944"/>
            <a:ext cx="158054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3.80%</a:t>
            </a:r>
            <a:endParaRPr lang="en-US" sz="1100" dirty="0"/>
          </a:p>
        </p:txBody>
      </p:sp>
      <p:sp>
        <p:nvSpPr>
          <p:cNvPr id="74" name="Text 72"/>
          <p:cNvSpPr txBox="1"/>
          <p:nvPr/>
        </p:nvSpPr>
        <p:spPr>
          <a:xfrm>
            <a:off x="640080" y="5504688"/>
            <a:ext cx="158054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Kotaruk/Lobei</a:t>
            </a:r>
            <a:endParaRPr lang="en-US" sz="700" dirty="0"/>
          </a:p>
        </p:txBody>
      </p:sp>
      <p:sp>
        <p:nvSpPr>
          <p:cNvPr id="75" name="Shape 73"/>
          <p:cNvSpPr/>
          <p:nvPr/>
        </p:nvSpPr>
        <p:spPr>
          <a:xfrm>
            <a:off x="2357780" y="5221224"/>
            <a:ext cx="1726844" cy="530352"/>
          </a:xfrm>
          <a:prstGeom prst="roundRect">
            <a:avLst>
              <a:gd name="adj" fmla="val 8621"/>
            </a:avLst>
          </a:prstGeom>
          <a:solidFill>
            <a:srgbClr val="C3621A"/>
          </a:solidFill>
          <a:ln/>
        </p:spPr>
      </p:sp>
      <p:sp>
        <p:nvSpPr>
          <p:cNvPr id="76" name="Text 74"/>
          <p:cNvSpPr txBox="1"/>
          <p:nvPr/>
        </p:nvSpPr>
        <p:spPr>
          <a:xfrm>
            <a:off x="2430932" y="5266944"/>
            <a:ext cx="158054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2.09%</a:t>
            </a:r>
            <a:endParaRPr lang="en-US" sz="1100" dirty="0"/>
          </a:p>
        </p:txBody>
      </p:sp>
      <p:sp>
        <p:nvSpPr>
          <p:cNvPr id="77" name="Text 75"/>
          <p:cNvSpPr txBox="1"/>
          <p:nvPr/>
        </p:nvSpPr>
        <p:spPr>
          <a:xfrm>
            <a:off x="2430932" y="5504688"/>
            <a:ext cx="158054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Turkwel</a:t>
            </a:r>
            <a:endParaRPr lang="en-US" sz="700" dirty="0"/>
          </a:p>
        </p:txBody>
      </p:sp>
      <p:sp>
        <p:nvSpPr>
          <p:cNvPr id="78" name="Shape 76"/>
          <p:cNvSpPr/>
          <p:nvPr/>
        </p:nvSpPr>
        <p:spPr>
          <a:xfrm>
            <a:off x="566928" y="5815584"/>
            <a:ext cx="1726844" cy="530352"/>
          </a:xfrm>
          <a:prstGeom prst="roundRect">
            <a:avLst>
              <a:gd name="adj" fmla="val 8621"/>
            </a:avLst>
          </a:prstGeom>
          <a:solidFill>
            <a:srgbClr val="C3621A"/>
          </a:solidFill>
          <a:ln/>
        </p:spPr>
      </p:sp>
      <p:sp>
        <p:nvSpPr>
          <p:cNvPr id="79" name="Text 77"/>
          <p:cNvSpPr txBox="1"/>
          <p:nvPr/>
        </p:nvSpPr>
        <p:spPr>
          <a:xfrm>
            <a:off x="640080" y="5861304"/>
            <a:ext cx="158054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0.23%</a:t>
            </a:r>
            <a:endParaRPr lang="en-US" sz="1100" dirty="0"/>
          </a:p>
        </p:txBody>
      </p:sp>
      <p:sp>
        <p:nvSpPr>
          <p:cNvPr id="80" name="Text 78"/>
          <p:cNvSpPr txBox="1"/>
          <p:nvPr/>
        </p:nvSpPr>
        <p:spPr>
          <a:xfrm>
            <a:off x="640080" y="6099048"/>
            <a:ext cx="158054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Loima</a:t>
            </a:r>
            <a:endParaRPr lang="en-US" sz="700" dirty="0"/>
          </a:p>
        </p:txBody>
      </p:sp>
      <p:sp>
        <p:nvSpPr>
          <p:cNvPr id="81" name="Shape 79"/>
          <p:cNvSpPr/>
          <p:nvPr/>
        </p:nvSpPr>
        <p:spPr>
          <a:xfrm>
            <a:off x="2357780" y="5815584"/>
            <a:ext cx="1726844" cy="530352"/>
          </a:xfrm>
          <a:prstGeom prst="roundRect">
            <a:avLst>
              <a:gd name="adj" fmla="val 8621"/>
            </a:avLst>
          </a:prstGeom>
          <a:solidFill>
            <a:srgbClr val="F47B20"/>
          </a:solidFill>
          <a:ln/>
        </p:spPr>
      </p:sp>
      <p:sp>
        <p:nvSpPr>
          <p:cNvPr id="82" name="Text 80"/>
          <p:cNvSpPr txBox="1"/>
          <p:nvPr/>
        </p:nvSpPr>
        <p:spPr>
          <a:xfrm>
            <a:off x="2430932" y="5861304"/>
            <a:ext cx="158054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5.25%</a:t>
            </a:r>
            <a:endParaRPr lang="en-US" sz="1100" dirty="0"/>
          </a:p>
        </p:txBody>
      </p:sp>
      <p:sp>
        <p:nvSpPr>
          <p:cNvPr id="83" name="Text 81"/>
          <p:cNvSpPr txBox="1"/>
          <p:nvPr/>
        </p:nvSpPr>
        <p:spPr>
          <a:xfrm>
            <a:off x="2430932" y="6099048"/>
            <a:ext cx="158054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Lokiriama</a:t>
            </a:r>
            <a:endParaRPr lang="en-US" sz="700" dirty="0"/>
          </a:p>
        </p:txBody>
      </p:sp>
      <p:sp>
        <p:nvSpPr>
          <p:cNvPr id="84" name="Text 82"/>
          <p:cNvSpPr txBox="1"/>
          <p:nvPr/>
        </p:nvSpPr>
        <p:spPr>
          <a:xfrm>
            <a:off x="4322369" y="5001768"/>
            <a:ext cx="3517697"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TURKANA SOUTH</a:t>
            </a:r>
            <a:endParaRPr lang="en-US" sz="850" dirty="0"/>
          </a:p>
        </p:txBody>
      </p:sp>
      <p:sp>
        <p:nvSpPr>
          <p:cNvPr id="85" name="Shape 83"/>
          <p:cNvSpPr/>
          <p:nvPr/>
        </p:nvSpPr>
        <p:spPr>
          <a:xfrm>
            <a:off x="4322369" y="5221224"/>
            <a:ext cx="1129894" cy="530352"/>
          </a:xfrm>
          <a:prstGeom prst="roundRect">
            <a:avLst>
              <a:gd name="adj" fmla="val 8621"/>
            </a:avLst>
          </a:prstGeom>
          <a:solidFill>
            <a:srgbClr val="F47B20"/>
          </a:solidFill>
          <a:ln/>
        </p:spPr>
      </p:sp>
      <p:sp>
        <p:nvSpPr>
          <p:cNvPr id="86" name="Text 84"/>
          <p:cNvSpPr txBox="1"/>
          <p:nvPr/>
        </p:nvSpPr>
        <p:spPr>
          <a:xfrm>
            <a:off x="4395521" y="5266944"/>
            <a:ext cx="98359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3.74%</a:t>
            </a:r>
            <a:endParaRPr lang="en-US" sz="1100" dirty="0"/>
          </a:p>
        </p:txBody>
      </p:sp>
      <p:sp>
        <p:nvSpPr>
          <p:cNvPr id="87" name="Text 85"/>
          <p:cNvSpPr txBox="1"/>
          <p:nvPr/>
        </p:nvSpPr>
        <p:spPr>
          <a:xfrm>
            <a:off x="4395521" y="5504688"/>
            <a:ext cx="98359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Kaputir</a:t>
            </a:r>
            <a:endParaRPr lang="en-US" sz="700" dirty="0"/>
          </a:p>
        </p:txBody>
      </p:sp>
      <p:sp>
        <p:nvSpPr>
          <p:cNvPr id="88" name="Shape 86"/>
          <p:cNvSpPr/>
          <p:nvPr/>
        </p:nvSpPr>
        <p:spPr>
          <a:xfrm>
            <a:off x="5516270" y="5221224"/>
            <a:ext cx="1129894" cy="530352"/>
          </a:xfrm>
          <a:prstGeom prst="roundRect">
            <a:avLst>
              <a:gd name="adj" fmla="val 8621"/>
            </a:avLst>
          </a:prstGeom>
          <a:solidFill>
            <a:srgbClr val="F47B20"/>
          </a:solidFill>
          <a:ln/>
        </p:spPr>
      </p:sp>
      <p:sp>
        <p:nvSpPr>
          <p:cNvPr id="89" name="Text 87"/>
          <p:cNvSpPr txBox="1"/>
          <p:nvPr/>
        </p:nvSpPr>
        <p:spPr>
          <a:xfrm>
            <a:off x="5589422" y="5266944"/>
            <a:ext cx="98359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3.80%</a:t>
            </a:r>
            <a:endParaRPr lang="en-US" sz="1100" dirty="0"/>
          </a:p>
        </p:txBody>
      </p:sp>
      <p:sp>
        <p:nvSpPr>
          <p:cNvPr id="90" name="Text 88"/>
          <p:cNvSpPr txBox="1"/>
          <p:nvPr/>
        </p:nvSpPr>
        <p:spPr>
          <a:xfrm>
            <a:off x="5589422" y="5504688"/>
            <a:ext cx="98359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Katilu</a:t>
            </a:r>
            <a:endParaRPr lang="en-US" sz="700" dirty="0"/>
          </a:p>
        </p:txBody>
      </p:sp>
      <p:sp>
        <p:nvSpPr>
          <p:cNvPr id="91" name="Shape 89"/>
          <p:cNvSpPr/>
          <p:nvPr/>
        </p:nvSpPr>
        <p:spPr>
          <a:xfrm>
            <a:off x="6710172" y="5221224"/>
            <a:ext cx="1129894" cy="530352"/>
          </a:xfrm>
          <a:prstGeom prst="roundRect">
            <a:avLst>
              <a:gd name="adj" fmla="val 8621"/>
            </a:avLst>
          </a:prstGeom>
          <a:solidFill>
            <a:srgbClr val="C3621A"/>
          </a:solidFill>
          <a:ln/>
        </p:spPr>
      </p:sp>
      <p:sp>
        <p:nvSpPr>
          <p:cNvPr id="92" name="Text 90"/>
          <p:cNvSpPr txBox="1"/>
          <p:nvPr/>
        </p:nvSpPr>
        <p:spPr>
          <a:xfrm>
            <a:off x="6783324" y="5266944"/>
            <a:ext cx="98359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0.52%</a:t>
            </a:r>
            <a:endParaRPr lang="en-US" sz="1100" dirty="0"/>
          </a:p>
        </p:txBody>
      </p:sp>
      <p:sp>
        <p:nvSpPr>
          <p:cNvPr id="93" name="Text 91"/>
          <p:cNvSpPr txBox="1"/>
          <p:nvPr/>
        </p:nvSpPr>
        <p:spPr>
          <a:xfrm>
            <a:off x="6783324" y="5504688"/>
            <a:ext cx="98359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Lobokat</a:t>
            </a:r>
            <a:endParaRPr lang="en-US" sz="700" dirty="0"/>
          </a:p>
        </p:txBody>
      </p:sp>
      <p:sp>
        <p:nvSpPr>
          <p:cNvPr id="94" name="Shape 92"/>
          <p:cNvSpPr/>
          <p:nvPr/>
        </p:nvSpPr>
        <p:spPr>
          <a:xfrm>
            <a:off x="4322369" y="5815584"/>
            <a:ext cx="1129894" cy="530352"/>
          </a:xfrm>
          <a:prstGeom prst="roundRect">
            <a:avLst>
              <a:gd name="adj" fmla="val 8621"/>
            </a:avLst>
          </a:prstGeom>
          <a:solidFill>
            <a:srgbClr val="C3621A"/>
          </a:solidFill>
          <a:ln/>
        </p:spPr>
      </p:sp>
      <p:sp>
        <p:nvSpPr>
          <p:cNvPr id="95" name="Text 93"/>
          <p:cNvSpPr txBox="1"/>
          <p:nvPr/>
        </p:nvSpPr>
        <p:spPr>
          <a:xfrm>
            <a:off x="4395521" y="5861304"/>
            <a:ext cx="98359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0.37%</a:t>
            </a:r>
            <a:endParaRPr lang="en-US" sz="1100" dirty="0"/>
          </a:p>
        </p:txBody>
      </p:sp>
      <p:sp>
        <p:nvSpPr>
          <p:cNvPr id="96" name="Text 94"/>
          <p:cNvSpPr txBox="1"/>
          <p:nvPr/>
        </p:nvSpPr>
        <p:spPr>
          <a:xfrm>
            <a:off x="4395521" y="6099048"/>
            <a:ext cx="98359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Kalapata</a:t>
            </a:r>
            <a:endParaRPr lang="en-US" sz="700" dirty="0"/>
          </a:p>
        </p:txBody>
      </p:sp>
      <p:sp>
        <p:nvSpPr>
          <p:cNvPr id="97" name="Shape 95"/>
          <p:cNvSpPr/>
          <p:nvPr/>
        </p:nvSpPr>
        <p:spPr>
          <a:xfrm>
            <a:off x="5516270" y="5815584"/>
            <a:ext cx="1129894" cy="530352"/>
          </a:xfrm>
          <a:prstGeom prst="roundRect">
            <a:avLst>
              <a:gd name="adj" fmla="val 8621"/>
            </a:avLst>
          </a:prstGeom>
          <a:solidFill>
            <a:srgbClr val="C3621A"/>
          </a:solidFill>
          <a:ln/>
        </p:spPr>
      </p:sp>
      <p:sp>
        <p:nvSpPr>
          <p:cNvPr id="98" name="Text 96"/>
          <p:cNvSpPr txBox="1"/>
          <p:nvPr/>
        </p:nvSpPr>
        <p:spPr>
          <a:xfrm>
            <a:off x="5589422" y="5861304"/>
            <a:ext cx="98359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0.96%</a:t>
            </a:r>
            <a:endParaRPr lang="en-US" sz="1100" dirty="0"/>
          </a:p>
        </p:txBody>
      </p:sp>
      <p:sp>
        <p:nvSpPr>
          <p:cNvPr id="99" name="Text 97"/>
          <p:cNvSpPr txBox="1"/>
          <p:nvPr/>
        </p:nvSpPr>
        <p:spPr>
          <a:xfrm>
            <a:off x="5589422" y="6099048"/>
            <a:ext cx="98359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Lokichar</a:t>
            </a:r>
            <a:endParaRPr lang="en-US" sz="700" dirty="0"/>
          </a:p>
        </p:txBody>
      </p:sp>
      <p:sp>
        <p:nvSpPr>
          <p:cNvPr id="100" name="Text 98"/>
          <p:cNvSpPr txBox="1"/>
          <p:nvPr/>
        </p:nvSpPr>
        <p:spPr>
          <a:xfrm>
            <a:off x="8077810" y="5001768"/>
            <a:ext cx="3517697" cy="182880"/>
          </a:xfrm>
          <a:prstGeom prst="rect">
            <a:avLst/>
          </a:prstGeom>
          <a:noFill/>
          <a:ln/>
        </p:spPr>
        <p:txBody>
          <a:bodyPr wrap="square" lIns="0" tIns="0" rIns="0" bIns="0" rtlCol="0" anchor="ctr"/>
          <a:lstStyle/>
          <a:p>
            <a:pPr indent="0" marL="0">
              <a:buNone/>
            </a:pPr>
            <a:r>
              <a:rPr lang="en-US" sz="850" b="1" spc="150" kern="0" dirty="0">
                <a:solidFill>
                  <a:srgbClr val="868D9C"/>
                </a:solidFill>
                <a:latin typeface="Arial" pitchFamily="34" charset="0"/>
                <a:ea typeface="Arial" pitchFamily="34" charset="-122"/>
                <a:cs typeface="Arial" pitchFamily="34" charset="-120"/>
              </a:rPr>
              <a:t>TURKANA EAST</a:t>
            </a:r>
            <a:endParaRPr lang="en-US" sz="850" dirty="0"/>
          </a:p>
        </p:txBody>
      </p:sp>
      <p:sp>
        <p:nvSpPr>
          <p:cNvPr id="101" name="Shape 99"/>
          <p:cNvSpPr/>
          <p:nvPr/>
        </p:nvSpPr>
        <p:spPr>
          <a:xfrm>
            <a:off x="8077810" y="5221224"/>
            <a:ext cx="1726844" cy="530352"/>
          </a:xfrm>
          <a:prstGeom prst="roundRect">
            <a:avLst>
              <a:gd name="adj" fmla="val 8621"/>
            </a:avLst>
          </a:prstGeom>
          <a:solidFill>
            <a:srgbClr val="C3621A"/>
          </a:solidFill>
          <a:ln/>
        </p:spPr>
      </p:sp>
      <p:sp>
        <p:nvSpPr>
          <p:cNvPr id="102" name="Text 100"/>
          <p:cNvSpPr txBox="1"/>
          <p:nvPr/>
        </p:nvSpPr>
        <p:spPr>
          <a:xfrm>
            <a:off x="8150962" y="5266944"/>
            <a:ext cx="158054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0.56%</a:t>
            </a:r>
            <a:endParaRPr lang="en-US" sz="1100" dirty="0"/>
          </a:p>
        </p:txBody>
      </p:sp>
      <p:sp>
        <p:nvSpPr>
          <p:cNvPr id="103" name="Text 101"/>
          <p:cNvSpPr txBox="1"/>
          <p:nvPr/>
        </p:nvSpPr>
        <p:spPr>
          <a:xfrm>
            <a:off x="8150962" y="5504688"/>
            <a:ext cx="158054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Kapedo</a:t>
            </a:r>
            <a:endParaRPr lang="en-US" sz="700" dirty="0"/>
          </a:p>
        </p:txBody>
      </p:sp>
      <p:sp>
        <p:nvSpPr>
          <p:cNvPr id="104" name="Shape 102"/>
          <p:cNvSpPr/>
          <p:nvPr/>
        </p:nvSpPr>
        <p:spPr>
          <a:xfrm>
            <a:off x="9868662" y="5221224"/>
            <a:ext cx="1726844" cy="530352"/>
          </a:xfrm>
          <a:prstGeom prst="roundRect">
            <a:avLst>
              <a:gd name="adj" fmla="val 8621"/>
            </a:avLst>
          </a:prstGeom>
          <a:solidFill>
            <a:srgbClr val="F47B20"/>
          </a:solidFill>
          <a:ln/>
        </p:spPr>
      </p:sp>
      <p:sp>
        <p:nvSpPr>
          <p:cNvPr id="105" name="Text 103"/>
          <p:cNvSpPr txBox="1"/>
          <p:nvPr/>
        </p:nvSpPr>
        <p:spPr>
          <a:xfrm>
            <a:off x="9941814" y="5266944"/>
            <a:ext cx="1580540" cy="237744"/>
          </a:xfrm>
          <a:prstGeom prst="rect">
            <a:avLst/>
          </a:prstGeom>
          <a:noFill/>
          <a:ln/>
        </p:spPr>
        <p:txBody>
          <a:bodyPr wrap="square" lIns="0" tIns="0" rIns="0" bIns="0" rtlCol="0" anchor="ctr"/>
          <a:lstStyle/>
          <a:p>
            <a:pPr indent="0" marL="0">
              <a:buNone/>
            </a:pPr>
            <a:r>
              <a:rPr lang="en-US" sz="1100" b="1" dirty="0">
                <a:solidFill>
                  <a:srgbClr val="20140A"/>
                </a:solidFill>
                <a:latin typeface="Arial" pitchFamily="34" charset="0"/>
                <a:ea typeface="Arial" pitchFamily="34" charset="-122"/>
                <a:cs typeface="Arial" pitchFamily="34" charset="-120"/>
              </a:rPr>
              <a:t>4.55%</a:t>
            </a:r>
            <a:endParaRPr lang="en-US" sz="1100" dirty="0"/>
          </a:p>
        </p:txBody>
      </p:sp>
      <p:sp>
        <p:nvSpPr>
          <p:cNvPr id="106" name="Text 104"/>
          <p:cNvSpPr txBox="1"/>
          <p:nvPr/>
        </p:nvSpPr>
        <p:spPr>
          <a:xfrm>
            <a:off x="9941814" y="5504688"/>
            <a:ext cx="1580540" cy="219456"/>
          </a:xfrm>
          <a:prstGeom prst="rect">
            <a:avLst/>
          </a:prstGeom>
          <a:noFill/>
          <a:ln/>
        </p:spPr>
        <p:txBody>
          <a:bodyPr wrap="square" lIns="0" tIns="0" rIns="0" bIns="0" rtlCol="0" anchor="ctr"/>
          <a:lstStyle/>
          <a:p>
            <a:pPr indent="0" marL="0">
              <a:buNone/>
            </a:pPr>
            <a:r>
              <a:rPr lang="en-US" sz="700" b="1" dirty="0">
                <a:solidFill>
                  <a:srgbClr val="20140A"/>
                </a:solidFill>
                <a:latin typeface="Arial" pitchFamily="34" charset="0"/>
                <a:ea typeface="Arial" pitchFamily="34" charset="-122"/>
                <a:cs typeface="Arial" pitchFamily="34" charset="-120"/>
              </a:rPr>
              <a:t>Katilia</a:t>
            </a:r>
            <a:endParaRPr lang="en-US" sz="700" dirty="0"/>
          </a:p>
        </p:txBody>
      </p:sp>
      <p:sp>
        <p:nvSpPr>
          <p:cNvPr id="107" name="Shape 105"/>
          <p:cNvSpPr/>
          <p:nvPr/>
        </p:nvSpPr>
        <p:spPr>
          <a:xfrm>
            <a:off x="8077810" y="5815584"/>
            <a:ext cx="1726844" cy="530352"/>
          </a:xfrm>
          <a:prstGeom prst="roundRect">
            <a:avLst>
              <a:gd name="adj" fmla="val 8621"/>
            </a:avLst>
          </a:prstGeom>
          <a:solidFill>
            <a:srgbClr val="C3621A"/>
          </a:solidFill>
          <a:ln/>
        </p:spPr>
      </p:sp>
      <p:sp>
        <p:nvSpPr>
          <p:cNvPr id="108" name="Text 106"/>
          <p:cNvSpPr txBox="1"/>
          <p:nvPr/>
        </p:nvSpPr>
        <p:spPr>
          <a:xfrm>
            <a:off x="8150962" y="5861304"/>
            <a:ext cx="1580540" cy="237744"/>
          </a:xfrm>
          <a:prstGeom prst="rect">
            <a:avLst/>
          </a:prstGeom>
          <a:noFill/>
          <a:ln/>
        </p:spPr>
        <p:txBody>
          <a:bodyPr wrap="square" lIns="0" tIns="0" rIns="0" bIns="0" rtlCol="0" anchor="ctr"/>
          <a:lstStyle/>
          <a:p>
            <a:pPr indent="0" marL="0">
              <a:buNone/>
            </a:pPr>
            <a:r>
              <a:rPr lang="en-US" sz="1100" b="1" dirty="0">
                <a:solidFill>
                  <a:srgbClr val="F4F2EE"/>
                </a:solidFill>
                <a:latin typeface="Arial" pitchFamily="34" charset="0"/>
                <a:ea typeface="Arial" pitchFamily="34" charset="-122"/>
                <a:cs typeface="Arial" pitchFamily="34" charset="-120"/>
              </a:rPr>
              <a:t>1.38%</a:t>
            </a:r>
            <a:endParaRPr lang="en-US" sz="1100" dirty="0"/>
          </a:p>
        </p:txBody>
      </p:sp>
      <p:sp>
        <p:nvSpPr>
          <p:cNvPr id="109" name="Text 107"/>
          <p:cNvSpPr txBox="1"/>
          <p:nvPr/>
        </p:nvSpPr>
        <p:spPr>
          <a:xfrm>
            <a:off x="8150962" y="6099048"/>
            <a:ext cx="1580540" cy="219456"/>
          </a:xfrm>
          <a:prstGeom prst="rect">
            <a:avLst/>
          </a:prstGeom>
          <a:noFill/>
          <a:ln/>
        </p:spPr>
        <p:txBody>
          <a:bodyPr wrap="square" lIns="0" tIns="0" rIns="0" bIns="0" rtlCol="0" anchor="ctr"/>
          <a:lstStyle/>
          <a:p>
            <a:pPr indent="0" marL="0">
              <a:buNone/>
            </a:pPr>
            <a:r>
              <a:rPr lang="en-US" sz="700" b="1" dirty="0">
                <a:solidFill>
                  <a:srgbClr val="F4F2EE"/>
                </a:solidFill>
                <a:latin typeface="Arial" pitchFamily="34" charset="0"/>
                <a:ea typeface="Arial" pitchFamily="34" charset="-122"/>
                <a:cs typeface="Arial" pitchFamily="34" charset="-120"/>
              </a:rPr>
              <a:t>Lokori</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05  ·  REACHING ALL OF TURKANA</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Two levers.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Be honest about both.</a:t>
            </a:r>
            <a:endParaRPr lang="en-US" sz="3400" dirty="0"/>
          </a:p>
        </p:txBody>
      </p:sp>
      <p:sp>
        <p:nvSpPr>
          <p:cNvPr id="6" name="Text 4"/>
          <p:cNvSpPr txBox="1"/>
          <p:nvPr/>
        </p:nvSpPr>
        <p:spPr>
          <a:xfrm>
            <a:off x="566928" y="2212848"/>
            <a:ext cx="5029200" cy="1371600"/>
          </a:xfrm>
          <a:prstGeom prst="rect">
            <a:avLst/>
          </a:prstGeom>
          <a:noFill/>
          <a:ln/>
        </p:spPr>
        <p:txBody>
          <a:bodyPr wrap="square" lIns="0" tIns="0" rIns="0" bIns="0" rtlCol="0" anchor="t"/>
          <a:lstStyle/>
          <a:p>
            <a:pPr indent="0" marL="0">
              <a:lnSpc>
                <a:spcPts val="2025"/>
              </a:lnSpc>
              <a:buNone/>
            </a:pPr>
            <a:r>
              <a:rPr lang="en-US" sz="1350" dirty="0">
                <a:solidFill>
                  <a:srgbClr val="B2B8C4"/>
                </a:solidFill>
                <a:latin typeface="Arial" pitchFamily="34" charset="0"/>
                <a:ea typeface="Arial" pitchFamily="34" charset="-122"/>
                <a:cs typeface="Arial" pitchFamily="34" charset="-120"/>
              </a:rPr>
              <a:t>Reach 60,000 people a month online and 1,056 join. Reach the same 60,000 through barazas, agents and USSD and 5,811 join — five times better, because somebody is standing there. But ground costs fuel and days. Digital is cheap; ground converts. We need both.</a:t>
            </a:r>
            <a:endParaRPr lang="en-US" sz="1350" dirty="0"/>
          </a:p>
        </p:txBody>
      </p:sp>
      <p:sp>
        <p:nvSpPr>
          <p:cNvPr id="7" name="Shape 5"/>
          <p:cNvSpPr/>
          <p:nvPr/>
        </p:nvSpPr>
        <p:spPr>
          <a:xfrm>
            <a:off x="566928" y="4343400"/>
            <a:ext cx="5029200" cy="1481328"/>
          </a:xfrm>
          <a:prstGeom prst="roundRect">
            <a:avLst>
              <a:gd name="adj" fmla="val 1852"/>
            </a:avLst>
          </a:prstGeom>
          <a:solidFill>
            <a:srgbClr val="0A0C12"/>
          </a:solidFill>
          <a:ln w="12700">
            <a:solidFill>
              <a:srgbClr val="C3621A"/>
            </a:solidFill>
            <a:prstDash val="solid"/>
          </a:ln>
        </p:spPr>
      </p:sp>
      <p:sp>
        <p:nvSpPr>
          <p:cNvPr id="8" name="Shape 6"/>
          <p:cNvSpPr/>
          <p:nvPr/>
        </p:nvSpPr>
        <p:spPr>
          <a:xfrm>
            <a:off x="859536" y="4590288"/>
            <a:ext cx="137160" cy="137160"/>
          </a:xfrm>
          <a:prstGeom prst="diamond">
            <a:avLst/>
          </a:prstGeom>
          <a:solidFill>
            <a:srgbClr val="F47B20"/>
          </a:solidFill>
          <a:ln/>
        </p:spPr>
      </p:sp>
      <p:sp>
        <p:nvSpPr>
          <p:cNvPr id="9" name="Text 7"/>
          <p:cNvSpPr txBox="1"/>
          <p:nvPr/>
        </p:nvSpPr>
        <p:spPr>
          <a:xfrm>
            <a:off x="1133856" y="4507992"/>
            <a:ext cx="4206240" cy="310896"/>
          </a:xfrm>
          <a:prstGeom prst="rect">
            <a:avLst/>
          </a:prstGeom>
          <a:noFill/>
          <a:ln/>
        </p:spPr>
        <p:txBody>
          <a:bodyPr wrap="square" lIns="0" tIns="0" rIns="0" bIns="0" rtlCol="0" anchor="ctr"/>
          <a:lstStyle/>
          <a:p>
            <a:pPr indent="0" marL="0">
              <a:buNone/>
            </a:pPr>
            <a:r>
              <a:rPr lang="en-US" sz="1450" b="1" dirty="0">
                <a:solidFill>
                  <a:srgbClr val="F47B20"/>
                </a:solidFill>
                <a:latin typeface="Arial" pitchFamily="34" charset="0"/>
                <a:ea typeface="Arial" pitchFamily="34" charset="-122"/>
                <a:cs typeface="Arial" pitchFamily="34" charset="-120"/>
              </a:rPr>
              <a:t>Digital alone never reaches the north.</a:t>
            </a:r>
            <a:endParaRPr lang="en-US" sz="1450" dirty="0"/>
          </a:p>
        </p:txBody>
      </p:sp>
      <p:sp>
        <p:nvSpPr>
          <p:cNvPr id="10" name="Text 8"/>
          <p:cNvSpPr txBox="1"/>
          <p:nvPr/>
        </p:nvSpPr>
        <p:spPr>
          <a:xfrm>
            <a:off x="1133856" y="4846320"/>
            <a:ext cx="4160520" cy="868680"/>
          </a:xfrm>
          <a:prstGeom prst="rect">
            <a:avLst/>
          </a:prstGeom>
          <a:noFill/>
          <a:ln/>
        </p:spPr>
        <p:txBody>
          <a:bodyPr wrap="square" lIns="0" tIns="0" rIns="0" bIns="0" rtlCol="0" anchor="ctr"/>
          <a:lstStyle/>
          <a:p>
            <a:pPr indent="0" marL="0">
              <a:lnSpc>
                <a:spcPts val="1600"/>
              </a:lnSpc>
              <a:buNone/>
            </a:pPr>
            <a:r>
              <a:rPr lang="en-US" sz="1150" dirty="0">
                <a:solidFill>
                  <a:srgbClr val="B2B8C4"/>
                </a:solidFill>
                <a:latin typeface="Arial" pitchFamily="34" charset="0"/>
                <a:ea typeface="Arial" pitchFamily="34" charset="-122"/>
                <a:cs typeface="Arial" pitchFamily="34" charset="-120"/>
              </a:rPr>
              <a:t>At 60,000 online-only, all seven of the hardest wards stay cold. Six of Kibish's ten polling stations are a mobile unit or a water point. Those voters need USSD and a person.</a:t>
            </a:r>
            <a:endParaRPr lang="en-US" sz="1150" dirty="0"/>
          </a:p>
        </p:txBody>
      </p:sp>
      <p:graphicFrame>
        <p:nvGraphicFramePr>
          <p:cNvPr id="11" name="Chart 0" descr=""/>
          <p:cNvGraphicFramePr/>
          <p:nvPr/>
        </p:nvGraphicFramePr>
        <p:xfrm>
          <a:off x="5943600" y="932688"/>
          <a:ext cx="5650992" cy="3246120"/>
        </p:xfrm>
        <a:graphic xmlns:a="http://schemas.openxmlformats.org/drawingml/2006/main">
          <a:graphicData uri="http://schemas.openxmlformats.org/drawingml/2006/chart">
            <c:chart xmlns:c="http://schemas.openxmlformats.org/drawingml/2006/chart" r:id="rId2"/>
          </a:graphicData>
        </a:graphic>
      </p:graphicFrame>
      <p:sp>
        <p:nvSpPr>
          <p:cNvPr id="12" name="Shape 9"/>
          <p:cNvSpPr/>
          <p:nvPr/>
        </p:nvSpPr>
        <p:spPr>
          <a:xfrm>
            <a:off x="5943600" y="4407408"/>
            <a:ext cx="1783080" cy="1417320"/>
          </a:xfrm>
          <a:prstGeom prst="roundRect">
            <a:avLst>
              <a:gd name="adj" fmla="val 1935"/>
            </a:avLst>
          </a:prstGeom>
          <a:solidFill>
            <a:srgbClr val="11141C"/>
          </a:solidFill>
          <a:ln w="9525">
            <a:solidFill>
              <a:srgbClr val="232833"/>
            </a:solidFill>
            <a:prstDash val="solid"/>
          </a:ln>
        </p:spPr>
      </p:sp>
      <p:sp>
        <p:nvSpPr>
          <p:cNvPr id="13" name="Text 10"/>
          <p:cNvSpPr txBox="1"/>
          <p:nvPr/>
        </p:nvSpPr>
        <p:spPr>
          <a:xfrm>
            <a:off x="6126480" y="4572000"/>
            <a:ext cx="1463040" cy="402336"/>
          </a:xfrm>
          <a:prstGeom prst="rect">
            <a:avLst/>
          </a:prstGeom>
          <a:noFill/>
          <a:ln/>
        </p:spPr>
        <p:txBody>
          <a:bodyPr wrap="square" lIns="0" tIns="0" rIns="0" bIns="0" rtlCol="0" anchor="ctr"/>
          <a:lstStyle/>
          <a:p>
            <a:pPr indent="0" marL="0">
              <a:buNone/>
            </a:pPr>
            <a:r>
              <a:rPr lang="en-US" sz="1900" b="1" dirty="0">
                <a:solidFill>
                  <a:srgbClr val="C3621A"/>
                </a:solidFill>
                <a:latin typeface="Arial" pitchFamily="34" charset="0"/>
                <a:ea typeface="Arial" pitchFamily="34" charset="-122"/>
                <a:cs typeface="Arial" pitchFamily="34" charset="-120"/>
              </a:rPr>
              <a:t>7 of 7</a:t>
            </a:r>
            <a:endParaRPr lang="en-US" sz="1900" dirty="0"/>
          </a:p>
        </p:txBody>
      </p:sp>
      <p:sp>
        <p:nvSpPr>
          <p:cNvPr id="14" name="Text 11"/>
          <p:cNvSpPr txBox="1"/>
          <p:nvPr/>
        </p:nvSpPr>
        <p:spPr>
          <a:xfrm>
            <a:off x="6126480" y="4992624"/>
            <a:ext cx="1463040" cy="640080"/>
          </a:xfrm>
          <a:prstGeom prst="rect">
            <a:avLst/>
          </a:prstGeom>
          <a:noFill/>
          <a:ln/>
        </p:spPr>
        <p:txBody>
          <a:bodyPr wrap="square" lIns="0" tIns="0" rIns="0" bIns="0" rtlCol="0" anchor="ctr"/>
          <a:lstStyle/>
          <a:p>
            <a:pPr indent="0" marL="0">
              <a:lnSpc>
                <a:spcPts val="1300"/>
              </a:lnSpc>
              <a:buNone/>
            </a:pPr>
            <a:r>
              <a:rPr lang="en-US" sz="1000" dirty="0">
                <a:solidFill>
                  <a:srgbClr val="868D9C"/>
                </a:solidFill>
                <a:latin typeface="Arial" pitchFamily="34" charset="0"/>
                <a:ea typeface="Arial" pitchFamily="34" charset="-122"/>
                <a:cs typeface="Arial" pitchFamily="34" charset="-120"/>
              </a:rPr>
              <a:t>hard wards still cold</a:t>
            </a:r>
            <a:endParaRPr lang="en-US" sz="1000" dirty="0"/>
          </a:p>
        </p:txBody>
      </p:sp>
      <p:sp>
        <p:nvSpPr>
          <p:cNvPr id="15" name="Shape 12"/>
          <p:cNvSpPr/>
          <p:nvPr/>
        </p:nvSpPr>
        <p:spPr>
          <a:xfrm>
            <a:off x="7854696" y="4407408"/>
            <a:ext cx="1783080" cy="1417320"/>
          </a:xfrm>
          <a:prstGeom prst="roundRect">
            <a:avLst>
              <a:gd name="adj" fmla="val 1935"/>
            </a:avLst>
          </a:prstGeom>
          <a:solidFill>
            <a:srgbClr val="11141C"/>
          </a:solidFill>
          <a:ln w="9525">
            <a:solidFill>
              <a:srgbClr val="232833"/>
            </a:solidFill>
            <a:prstDash val="solid"/>
          </a:ln>
        </p:spPr>
      </p:sp>
      <p:sp>
        <p:nvSpPr>
          <p:cNvPr id="16" name="Text 13"/>
          <p:cNvSpPr txBox="1"/>
          <p:nvPr/>
        </p:nvSpPr>
        <p:spPr>
          <a:xfrm>
            <a:off x="8037576" y="4572000"/>
            <a:ext cx="1463040" cy="402336"/>
          </a:xfrm>
          <a:prstGeom prst="rect">
            <a:avLst/>
          </a:prstGeom>
          <a:noFill/>
          <a:ln/>
        </p:spPr>
        <p:txBody>
          <a:bodyPr wrap="square" lIns="0" tIns="0" rIns="0" bIns="0" rtlCol="0" anchor="ctr"/>
          <a:lstStyle/>
          <a:p>
            <a:pPr indent="0" marL="0">
              <a:buNone/>
            </a:pPr>
            <a:r>
              <a:rPr lang="en-US" sz="1900" b="1" dirty="0">
                <a:solidFill>
                  <a:srgbClr val="F47B20"/>
                </a:solidFill>
                <a:latin typeface="Arial" pitchFamily="34" charset="0"/>
                <a:ea typeface="Arial" pitchFamily="34" charset="-122"/>
                <a:cs typeface="Arial" pitchFamily="34" charset="-120"/>
              </a:rPr>
              <a:t>6 of 7</a:t>
            </a:r>
            <a:endParaRPr lang="en-US" sz="1900" dirty="0"/>
          </a:p>
        </p:txBody>
      </p:sp>
      <p:sp>
        <p:nvSpPr>
          <p:cNvPr id="17" name="Text 14"/>
          <p:cNvSpPr txBox="1"/>
          <p:nvPr/>
        </p:nvSpPr>
        <p:spPr>
          <a:xfrm>
            <a:off x="8037576" y="4992624"/>
            <a:ext cx="1463040" cy="640080"/>
          </a:xfrm>
          <a:prstGeom prst="rect">
            <a:avLst/>
          </a:prstGeom>
          <a:noFill/>
          <a:ln/>
        </p:spPr>
        <p:txBody>
          <a:bodyPr wrap="square" lIns="0" tIns="0" rIns="0" bIns="0" rtlCol="0" anchor="ctr"/>
          <a:lstStyle/>
          <a:p>
            <a:pPr indent="0" marL="0">
              <a:lnSpc>
                <a:spcPts val="1300"/>
              </a:lnSpc>
              <a:buNone/>
            </a:pPr>
            <a:r>
              <a:rPr lang="en-US" sz="1000" dirty="0">
                <a:solidFill>
                  <a:srgbClr val="868D9C"/>
                </a:solidFill>
                <a:latin typeface="Arial" pitchFamily="34" charset="0"/>
                <a:ea typeface="Arial" pitchFamily="34" charset="-122"/>
                <a:cs typeface="Arial" pitchFamily="34" charset="-120"/>
              </a:rPr>
              <a:t>still cold</a:t>
            </a:r>
            <a:endParaRPr lang="en-US" sz="1000" dirty="0"/>
          </a:p>
        </p:txBody>
      </p:sp>
      <p:sp>
        <p:nvSpPr>
          <p:cNvPr id="18" name="Shape 15"/>
          <p:cNvSpPr/>
          <p:nvPr/>
        </p:nvSpPr>
        <p:spPr>
          <a:xfrm>
            <a:off x="9765792" y="4407408"/>
            <a:ext cx="1783080" cy="1417320"/>
          </a:xfrm>
          <a:prstGeom prst="roundRect">
            <a:avLst>
              <a:gd name="adj" fmla="val 1935"/>
            </a:avLst>
          </a:prstGeom>
          <a:solidFill>
            <a:srgbClr val="11141C"/>
          </a:solidFill>
          <a:ln w="9525">
            <a:solidFill>
              <a:srgbClr val="232833"/>
            </a:solidFill>
            <a:prstDash val="solid"/>
          </a:ln>
        </p:spPr>
      </p:sp>
      <p:sp>
        <p:nvSpPr>
          <p:cNvPr id="19" name="Text 16"/>
          <p:cNvSpPr txBox="1"/>
          <p:nvPr/>
        </p:nvSpPr>
        <p:spPr>
          <a:xfrm>
            <a:off x="9948672" y="4572000"/>
            <a:ext cx="1463040" cy="402336"/>
          </a:xfrm>
          <a:prstGeom prst="rect">
            <a:avLst/>
          </a:prstGeom>
          <a:noFill/>
          <a:ln/>
        </p:spPr>
        <p:txBody>
          <a:bodyPr wrap="square" lIns="0" tIns="0" rIns="0" bIns="0" rtlCol="0" anchor="ctr"/>
          <a:lstStyle/>
          <a:p>
            <a:pPr indent="0" marL="0">
              <a:buNone/>
            </a:pPr>
            <a:r>
              <a:rPr lang="en-US" sz="1900" b="1" dirty="0">
                <a:solidFill>
                  <a:srgbClr val="FF9445"/>
                </a:solidFill>
                <a:latin typeface="Arial" pitchFamily="34" charset="0"/>
                <a:ea typeface="Arial" pitchFamily="34" charset="-122"/>
                <a:cs typeface="Arial" pitchFamily="34" charset="-120"/>
              </a:rPr>
              <a:t>0 of 7</a:t>
            </a:r>
            <a:endParaRPr lang="en-US" sz="1900" dirty="0"/>
          </a:p>
        </p:txBody>
      </p:sp>
      <p:sp>
        <p:nvSpPr>
          <p:cNvPr id="20" name="Text 17"/>
          <p:cNvSpPr txBox="1"/>
          <p:nvPr/>
        </p:nvSpPr>
        <p:spPr>
          <a:xfrm>
            <a:off x="9948672" y="4992624"/>
            <a:ext cx="1463040" cy="640080"/>
          </a:xfrm>
          <a:prstGeom prst="rect">
            <a:avLst/>
          </a:prstGeom>
          <a:noFill/>
          <a:ln/>
        </p:spPr>
        <p:txBody>
          <a:bodyPr wrap="square" lIns="0" tIns="0" rIns="0" bIns="0" rtlCol="0" anchor="ctr"/>
          <a:lstStyle/>
          <a:p>
            <a:pPr indent="0" marL="0">
              <a:lnSpc>
                <a:spcPts val="1300"/>
              </a:lnSpc>
              <a:buNone/>
            </a:pPr>
            <a:r>
              <a:rPr lang="en-US" sz="1000" dirty="0">
                <a:solidFill>
                  <a:srgbClr val="868D9C"/>
                </a:solidFill>
                <a:latin typeface="Arial" pitchFamily="34" charset="0"/>
                <a:ea typeface="Arial" pitchFamily="34" charset="-122"/>
                <a:cs typeface="Arial" pitchFamily="34" charset="-120"/>
              </a:rPr>
              <a:t>all reached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THE NEXT NINETY DAYS</a:t>
            </a:r>
            <a:endParaRPr lang="en-US" sz="1100" dirty="0"/>
          </a:p>
        </p:txBody>
      </p:sp>
      <p:sp>
        <p:nvSpPr>
          <p:cNvPr id="5" name="Text 3"/>
          <p:cNvSpPr txBox="1"/>
          <p:nvPr/>
        </p:nvSpPr>
        <p:spPr>
          <a:xfrm>
            <a:off x="566928" y="896112"/>
            <a:ext cx="475488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What both levers</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look like.</a:t>
            </a:r>
            <a:endParaRPr lang="en-US" sz="3400" dirty="0"/>
          </a:p>
        </p:txBody>
      </p:sp>
      <p:sp>
        <p:nvSpPr>
          <p:cNvPr id="6" name="Text 4"/>
          <p:cNvSpPr txBox="1"/>
          <p:nvPr/>
        </p:nvSpPr>
        <p:spPr>
          <a:xfrm>
            <a:off x="566928" y="2286000"/>
            <a:ext cx="4480560" cy="1280160"/>
          </a:xfrm>
          <a:prstGeom prst="rect">
            <a:avLst/>
          </a:prstGeom>
          <a:noFill/>
          <a:ln/>
        </p:spPr>
        <p:txBody>
          <a:bodyPr wrap="square" lIns="0" tIns="0" rIns="0" bIns="0" rtlCol="0" anchor="ctr"/>
          <a:lstStyle/>
          <a:p>
            <a:pPr indent="0" marL="0">
              <a:lnSpc>
                <a:spcPts val="2000"/>
              </a:lnSpc>
              <a:buNone/>
            </a:pPr>
            <a:r>
              <a:rPr lang="en-US" sz="1350" dirty="0">
                <a:solidFill>
                  <a:srgbClr val="B2B8C4"/>
                </a:solidFill>
                <a:latin typeface="Arial" pitchFamily="34" charset="0"/>
                <a:ea typeface="Arial" pitchFamily="34" charset="-122"/>
                <a:cs typeface="Arial" pitchFamily="34" charset="-120"/>
              </a:rPr>
              <a:t>Same budgeted reach, two different mixes. Online-only adds about 3,200 people by day ninety. Running both adds over 10,000 — and reaches wards the first mix never touches.</a:t>
            </a:r>
            <a:endParaRPr lang="en-US" sz="1350" dirty="0"/>
          </a:p>
        </p:txBody>
      </p:sp>
      <p:sp>
        <p:nvSpPr>
          <p:cNvPr id="7" name="Text 5"/>
          <p:cNvSpPr txBox="1"/>
          <p:nvPr/>
        </p:nvSpPr>
        <p:spPr>
          <a:xfrm>
            <a:off x="566928" y="3931920"/>
            <a:ext cx="2011680" cy="658368"/>
          </a:xfrm>
          <a:prstGeom prst="rect">
            <a:avLst/>
          </a:prstGeom>
          <a:noFill/>
          <a:ln/>
        </p:spPr>
        <p:txBody>
          <a:bodyPr wrap="square" lIns="0" tIns="0" rIns="0" bIns="0" rtlCol="0" anchor="ctr"/>
          <a:lstStyle/>
          <a:p>
            <a:pPr indent="0" marL="0">
              <a:buNone/>
            </a:pPr>
            <a:r>
              <a:rPr lang="en-US" sz="3800" b="1" dirty="0">
                <a:solidFill>
                  <a:srgbClr val="868D9C"/>
                </a:solidFill>
                <a:latin typeface="Arial" pitchFamily="34" charset="0"/>
                <a:ea typeface="Arial" pitchFamily="34" charset="-122"/>
                <a:cs typeface="Arial" pitchFamily="34" charset="-120"/>
              </a:rPr>
              <a:t>8,150</a:t>
            </a:r>
            <a:endParaRPr lang="en-US" sz="3800" dirty="0"/>
          </a:p>
        </p:txBody>
      </p:sp>
      <p:sp>
        <p:nvSpPr>
          <p:cNvPr id="8" name="Text 6"/>
          <p:cNvSpPr txBox="1"/>
          <p:nvPr/>
        </p:nvSpPr>
        <p:spPr>
          <a:xfrm>
            <a:off x="566928" y="4590288"/>
            <a:ext cx="2011680" cy="292608"/>
          </a:xfrm>
          <a:prstGeom prst="rect">
            <a:avLst/>
          </a:prstGeom>
          <a:noFill/>
          <a:ln/>
        </p:spPr>
        <p:txBody>
          <a:bodyPr wrap="square" lIns="0" tIns="0" rIns="0" bIns="0" rtlCol="0" anchor="ctr"/>
          <a:lstStyle/>
          <a:p>
            <a:pPr indent="0" marL="0">
              <a:buNone/>
            </a:pPr>
            <a:r>
              <a:rPr lang="en-US" sz="1000" b="1" spc="160" kern="0" dirty="0">
                <a:solidFill>
                  <a:srgbClr val="868D9C"/>
                </a:solidFill>
                <a:latin typeface="Arial" pitchFamily="34" charset="0"/>
                <a:ea typeface="Arial" pitchFamily="34" charset="-122"/>
                <a:cs typeface="Arial" pitchFamily="34" charset="-120"/>
              </a:rPr>
              <a:t>DIGITAL ONLY, DAY 90</a:t>
            </a:r>
            <a:endParaRPr lang="en-US" sz="1000" dirty="0"/>
          </a:p>
        </p:txBody>
      </p:sp>
      <p:sp>
        <p:nvSpPr>
          <p:cNvPr id="9" name="Text 7"/>
          <p:cNvSpPr txBox="1"/>
          <p:nvPr/>
        </p:nvSpPr>
        <p:spPr>
          <a:xfrm>
            <a:off x="566928" y="4956048"/>
            <a:ext cx="2194560" cy="658368"/>
          </a:xfrm>
          <a:prstGeom prst="rect">
            <a:avLst/>
          </a:prstGeom>
          <a:noFill/>
          <a:ln/>
        </p:spPr>
        <p:txBody>
          <a:bodyPr wrap="square" lIns="0" tIns="0" rIns="0" bIns="0" rtlCol="0" anchor="ctr"/>
          <a:lstStyle/>
          <a:p>
            <a:pPr indent="0" marL="0">
              <a:buNone/>
            </a:pPr>
            <a:r>
              <a:rPr lang="en-US" sz="3800" b="1" dirty="0">
                <a:solidFill>
                  <a:srgbClr val="F47B20"/>
                </a:solidFill>
                <a:latin typeface="Arial" pitchFamily="34" charset="0"/>
                <a:ea typeface="Arial" pitchFamily="34" charset="-122"/>
                <a:cs typeface="Arial" pitchFamily="34" charset="-120"/>
              </a:rPr>
              <a:t>15,282</a:t>
            </a:r>
            <a:endParaRPr lang="en-US" sz="3800" dirty="0"/>
          </a:p>
        </p:txBody>
      </p:sp>
      <p:sp>
        <p:nvSpPr>
          <p:cNvPr id="10" name="Text 8"/>
          <p:cNvSpPr txBox="1"/>
          <p:nvPr/>
        </p:nvSpPr>
        <p:spPr>
          <a:xfrm>
            <a:off x="566928" y="5614416"/>
            <a:ext cx="2194560" cy="292608"/>
          </a:xfrm>
          <a:prstGeom prst="rect">
            <a:avLst/>
          </a:prstGeom>
          <a:noFill/>
          <a:ln/>
        </p:spPr>
        <p:txBody>
          <a:bodyPr wrap="square" lIns="0" tIns="0" rIns="0" bIns="0" rtlCol="0" anchor="ctr"/>
          <a:lstStyle/>
          <a:p>
            <a:pPr indent="0" marL="0">
              <a:buNone/>
            </a:pPr>
            <a:r>
              <a:rPr lang="en-US" sz="1000" b="1" spc="160" kern="0" dirty="0">
                <a:solidFill>
                  <a:srgbClr val="868D9C"/>
                </a:solidFill>
                <a:latin typeface="Arial" pitchFamily="34" charset="0"/>
                <a:ea typeface="Arial" pitchFamily="34" charset="-122"/>
                <a:cs typeface="Arial" pitchFamily="34" charset="-120"/>
              </a:rPr>
              <a:t>BOTH LEVERS, DAY 90</a:t>
            </a:r>
            <a:endParaRPr lang="en-US" sz="1000" dirty="0"/>
          </a:p>
        </p:txBody>
      </p:sp>
      <p:graphicFrame>
        <p:nvGraphicFramePr>
          <p:cNvPr id="11" name="Chart 0" descr=""/>
          <p:cNvGraphicFramePr/>
          <p:nvPr/>
        </p:nvGraphicFramePr>
        <p:xfrm>
          <a:off x="5486400" y="932688"/>
          <a:ext cx="6108192" cy="48920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THE PART NOBODY EXPECTS</a:t>
            </a:r>
            <a:endParaRPr lang="en-US" sz="1100" dirty="0"/>
          </a:p>
        </p:txBody>
      </p:sp>
      <p:sp>
        <p:nvSpPr>
          <p:cNvPr id="5" name="Text 3"/>
          <p:cNvSpPr txBox="1"/>
          <p:nvPr/>
        </p:nvSpPr>
        <p:spPr>
          <a:xfrm>
            <a:off x="566928" y="896112"/>
            <a:ext cx="7863840" cy="868680"/>
          </a:xfrm>
          <a:prstGeom prst="rect">
            <a:avLst/>
          </a:prstGeom>
          <a:noFill/>
          <a:ln/>
        </p:spPr>
        <p:txBody>
          <a:bodyPr wrap="square" lIns="0" tIns="0" rIns="0" bIns="0" rtlCol="0" anchor="ctr"/>
          <a:lstStyle/>
          <a:p>
            <a:pPr indent="0" marL="0">
              <a:lnSpc>
                <a:spcPts val="3600"/>
              </a:lnSpc>
              <a:buNone/>
            </a:pPr>
            <a:r>
              <a:rPr lang="en-US" sz="3400" b="1" dirty="0">
                <a:solidFill>
                  <a:srgbClr val="F4F2EE"/>
                </a:solidFill>
                <a:latin typeface="Arial" pitchFamily="34" charset="0"/>
                <a:ea typeface="Arial" pitchFamily="34" charset="-122"/>
                <a:cs typeface="Arial" pitchFamily="34" charset="-120"/>
              </a:rPr>
              <a:t>What we deliberately</a:t>
            </a:r>
            <a:endParaRPr lang="en-US" sz="3400" dirty="0"/>
          </a:p>
          <a:p>
            <a:pPr indent="0" marL="0">
              <a:lnSpc>
                <a:spcPts val="3600"/>
              </a:lnSpc>
              <a:buNone/>
            </a:pPr>
            <a:r>
              <a:rPr lang="en-US" sz="3400" b="1" dirty="0">
                <a:solidFill>
                  <a:srgbClr val="F4F2EE"/>
                </a:solidFill>
                <a:latin typeface="Arial" pitchFamily="34" charset="0"/>
                <a:ea typeface="Arial" pitchFamily="34" charset="-122"/>
                <a:cs typeface="Arial" pitchFamily="34" charset="-120"/>
              </a:rPr>
              <a:t>refuse to hold.</a:t>
            </a:r>
            <a:endParaRPr lang="en-US" sz="3400" dirty="0"/>
          </a:p>
        </p:txBody>
      </p:sp>
      <p:sp>
        <p:nvSpPr>
          <p:cNvPr id="6" name="Text 4"/>
          <p:cNvSpPr txBox="1"/>
          <p:nvPr/>
        </p:nvSpPr>
        <p:spPr>
          <a:xfrm>
            <a:off x="566928" y="2286000"/>
            <a:ext cx="5120640" cy="1371600"/>
          </a:xfrm>
          <a:prstGeom prst="rect">
            <a:avLst/>
          </a:prstGeom>
          <a:noFill/>
          <a:ln/>
        </p:spPr>
        <p:txBody>
          <a:bodyPr wrap="square" lIns="0" tIns="0" rIns="0" bIns="0" rtlCol="0" anchor="t"/>
          <a:lstStyle/>
          <a:p>
            <a:pPr indent="0" marL="0">
              <a:lnSpc>
                <a:spcPts val="2100"/>
              </a:lnSpc>
              <a:buNone/>
            </a:pPr>
            <a:r>
              <a:rPr lang="en-US" sz="1400" dirty="0">
                <a:solidFill>
                  <a:srgbClr val="B2B8C4"/>
                </a:solidFill>
                <a:latin typeface="Arial" pitchFamily="34" charset="0"/>
                <a:ea typeface="Arial" pitchFamily="34" charset="-122"/>
                <a:cs typeface="Arial" pitchFamily="34" charset="-120"/>
              </a:rPr>
              <a:t>Political opinion is sensitive personal data under Kenya's Data Protection Act. Any rival can promise to protect Turkana's data. We can show we never collected it — that is a much harder thing to argue with, and it is already built.</a:t>
            </a:r>
            <a:endParaRPr lang="en-US" sz="1400" dirty="0"/>
          </a:p>
        </p:txBody>
      </p:sp>
      <p:sp>
        <p:nvSpPr>
          <p:cNvPr id="7" name="Shape 5"/>
          <p:cNvSpPr/>
          <p:nvPr/>
        </p:nvSpPr>
        <p:spPr>
          <a:xfrm>
            <a:off x="5943600" y="1051560"/>
            <a:ext cx="5650992" cy="1170432"/>
          </a:xfrm>
          <a:prstGeom prst="roundRect">
            <a:avLst>
              <a:gd name="adj" fmla="val 2344"/>
            </a:avLst>
          </a:prstGeom>
          <a:solidFill>
            <a:srgbClr val="11141C"/>
          </a:solidFill>
          <a:ln w="9525">
            <a:solidFill>
              <a:srgbClr val="232833"/>
            </a:solidFill>
            <a:prstDash val="solid"/>
          </a:ln>
        </p:spPr>
      </p:sp>
      <p:sp>
        <p:nvSpPr>
          <p:cNvPr id="8" name="Shape 6"/>
          <p:cNvSpPr/>
          <p:nvPr/>
        </p:nvSpPr>
        <p:spPr>
          <a:xfrm>
            <a:off x="6217920" y="1435608"/>
            <a:ext cx="402336" cy="402336"/>
          </a:xfrm>
          <a:prstGeom prst="ellipse">
            <a:avLst/>
          </a:prstGeom>
          <a:solidFill>
            <a:srgbClr val="0A0C12"/>
          </a:solidFill>
          <a:ln w="15875">
            <a:solidFill>
              <a:srgbClr val="F47B20"/>
            </a:solidFill>
            <a:prstDash val="solid"/>
          </a:ln>
        </p:spPr>
      </p:sp>
      <p:sp>
        <p:nvSpPr>
          <p:cNvPr id="9" name="Shape 7"/>
          <p:cNvSpPr/>
          <p:nvPr/>
        </p:nvSpPr>
        <p:spPr>
          <a:xfrm>
            <a:off x="6291072" y="1636776"/>
            <a:ext cx="256032" cy="0"/>
          </a:xfrm>
          <a:prstGeom prst="line">
            <a:avLst/>
          </a:prstGeom>
          <a:noFill/>
          <a:ln w="25400">
            <a:solidFill>
              <a:srgbClr val="F47B20"/>
            </a:solidFill>
            <a:prstDash val="solid"/>
          </a:ln>
        </p:spPr>
      </p:sp>
      <p:sp>
        <p:nvSpPr>
          <p:cNvPr id="10" name="Text 8"/>
          <p:cNvSpPr txBox="1"/>
          <p:nvPr/>
        </p:nvSpPr>
        <p:spPr>
          <a:xfrm>
            <a:off x="6803136" y="1307592"/>
            <a:ext cx="4572000" cy="329184"/>
          </a:xfrm>
          <a:prstGeom prst="rect">
            <a:avLst/>
          </a:prstGeom>
          <a:noFill/>
          <a:ln/>
        </p:spPr>
        <p:txBody>
          <a:bodyPr wrap="square" lIns="0" tIns="0" rIns="0" bIns="0" rtlCol="0" anchor="ctr"/>
          <a:lstStyle/>
          <a:p>
            <a:pPr indent="0" marL="0">
              <a:buNone/>
            </a:pPr>
            <a:r>
              <a:rPr lang="en-US" sz="1550" b="1" dirty="0">
                <a:solidFill>
                  <a:srgbClr val="F4F2EE"/>
                </a:solidFill>
                <a:latin typeface="Arial" pitchFamily="34" charset="0"/>
                <a:ea typeface="Arial" pitchFamily="34" charset="-122"/>
                <a:cs typeface="Arial" pitchFamily="34" charset="-120"/>
              </a:rPr>
              <a:t>Full ID numbers</a:t>
            </a:r>
            <a:endParaRPr lang="en-US" sz="1550" dirty="0"/>
          </a:p>
        </p:txBody>
      </p:sp>
      <p:sp>
        <p:nvSpPr>
          <p:cNvPr id="11" name="Text 9"/>
          <p:cNvSpPr txBox="1"/>
          <p:nvPr/>
        </p:nvSpPr>
        <p:spPr>
          <a:xfrm>
            <a:off x="6803136" y="1655064"/>
            <a:ext cx="457200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Last four digits only, and even that optional</a:t>
            </a:r>
            <a:endParaRPr lang="en-US" sz="1150" dirty="0"/>
          </a:p>
        </p:txBody>
      </p:sp>
      <p:sp>
        <p:nvSpPr>
          <p:cNvPr id="12" name="Shape 10"/>
          <p:cNvSpPr/>
          <p:nvPr/>
        </p:nvSpPr>
        <p:spPr>
          <a:xfrm>
            <a:off x="5943600" y="2423160"/>
            <a:ext cx="5650992" cy="1170432"/>
          </a:xfrm>
          <a:prstGeom prst="roundRect">
            <a:avLst>
              <a:gd name="adj" fmla="val 2344"/>
            </a:avLst>
          </a:prstGeom>
          <a:solidFill>
            <a:srgbClr val="11141C"/>
          </a:solidFill>
          <a:ln w="9525">
            <a:solidFill>
              <a:srgbClr val="232833"/>
            </a:solidFill>
            <a:prstDash val="solid"/>
          </a:ln>
        </p:spPr>
      </p:sp>
      <p:sp>
        <p:nvSpPr>
          <p:cNvPr id="13" name="Shape 11"/>
          <p:cNvSpPr/>
          <p:nvPr/>
        </p:nvSpPr>
        <p:spPr>
          <a:xfrm>
            <a:off x="6217920" y="2807208"/>
            <a:ext cx="402336" cy="402336"/>
          </a:xfrm>
          <a:prstGeom prst="ellipse">
            <a:avLst/>
          </a:prstGeom>
          <a:solidFill>
            <a:srgbClr val="0A0C12"/>
          </a:solidFill>
          <a:ln w="15875">
            <a:solidFill>
              <a:srgbClr val="F47B20"/>
            </a:solidFill>
            <a:prstDash val="solid"/>
          </a:ln>
        </p:spPr>
      </p:sp>
      <p:sp>
        <p:nvSpPr>
          <p:cNvPr id="14" name="Shape 12"/>
          <p:cNvSpPr/>
          <p:nvPr/>
        </p:nvSpPr>
        <p:spPr>
          <a:xfrm>
            <a:off x="6291072" y="3008376"/>
            <a:ext cx="256032" cy="0"/>
          </a:xfrm>
          <a:prstGeom prst="line">
            <a:avLst/>
          </a:prstGeom>
          <a:noFill/>
          <a:ln w="25400">
            <a:solidFill>
              <a:srgbClr val="F47B20"/>
            </a:solidFill>
            <a:prstDash val="solid"/>
          </a:ln>
        </p:spPr>
      </p:sp>
      <p:sp>
        <p:nvSpPr>
          <p:cNvPr id="15" name="Text 13"/>
          <p:cNvSpPr txBox="1"/>
          <p:nvPr/>
        </p:nvSpPr>
        <p:spPr>
          <a:xfrm>
            <a:off x="6803136" y="2679192"/>
            <a:ext cx="4572000" cy="329184"/>
          </a:xfrm>
          <a:prstGeom prst="rect">
            <a:avLst/>
          </a:prstGeom>
          <a:noFill/>
          <a:ln/>
        </p:spPr>
        <p:txBody>
          <a:bodyPr wrap="square" lIns="0" tIns="0" rIns="0" bIns="0" rtlCol="0" anchor="ctr"/>
          <a:lstStyle/>
          <a:p>
            <a:pPr indent="0" marL="0">
              <a:buNone/>
            </a:pPr>
            <a:r>
              <a:rPr lang="en-US" sz="1550" b="1" dirty="0">
                <a:solidFill>
                  <a:srgbClr val="F4F2EE"/>
                </a:solidFill>
                <a:latin typeface="Arial" pitchFamily="34" charset="0"/>
                <a:ea typeface="Arial" pitchFamily="34" charset="-122"/>
                <a:cs typeface="Arial" pitchFamily="34" charset="-120"/>
              </a:rPr>
              <a:t>Date of birth</a:t>
            </a:r>
            <a:endParaRPr lang="en-US" sz="1550" dirty="0"/>
          </a:p>
        </p:txBody>
      </p:sp>
      <p:sp>
        <p:nvSpPr>
          <p:cNvPr id="16" name="Text 14"/>
          <p:cNvSpPr txBox="1"/>
          <p:nvPr/>
        </p:nvSpPr>
        <p:spPr>
          <a:xfrm>
            <a:off x="6803136" y="3026664"/>
            <a:ext cx="457200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Year only — enough to plan, not to impersonate</a:t>
            </a:r>
            <a:endParaRPr lang="en-US" sz="1150" dirty="0"/>
          </a:p>
        </p:txBody>
      </p:sp>
      <p:sp>
        <p:nvSpPr>
          <p:cNvPr id="17" name="Shape 15"/>
          <p:cNvSpPr/>
          <p:nvPr/>
        </p:nvSpPr>
        <p:spPr>
          <a:xfrm>
            <a:off x="5943600" y="3794760"/>
            <a:ext cx="5650992" cy="1170432"/>
          </a:xfrm>
          <a:prstGeom prst="roundRect">
            <a:avLst>
              <a:gd name="adj" fmla="val 2344"/>
            </a:avLst>
          </a:prstGeom>
          <a:solidFill>
            <a:srgbClr val="11141C"/>
          </a:solidFill>
          <a:ln w="9525">
            <a:solidFill>
              <a:srgbClr val="232833"/>
            </a:solidFill>
            <a:prstDash val="solid"/>
          </a:ln>
        </p:spPr>
      </p:sp>
      <p:sp>
        <p:nvSpPr>
          <p:cNvPr id="18" name="Shape 16"/>
          <p:cNvSpPr/>
          <p:nvPr/>
        </p:nvSpPr>
        <p:spPr>
          <a:xfrm>
            <a:off x="6217920" y="4178808"/>
            <a:ext cx="402336" cy="402336"/>
          </a:xfrm>
          <a:prstGeom prst="ellipse">
            <a:avLst/>
          </a:prstGeom>
          <a:solidFill>
            <a:srgbClr val="0A0C12"/>
          </a:solidFill>
          <a:ln w="15875">
            <a:solidFill>
              <a:srgbClr val="F47B20"/>
            </a:solidFill>
            <a:prstDash val="solid"/>
          </a:ln>
        </p:spPr>
      </p:sp>
      <p:sp>
        <p:nvSpPr>
          <p:cNvPr id="19" name="Shape 17"/>
          <p:cNvSpPr/>
          <p:nvPr/>
        </p:nvSpPr>
        <p:spPr>
          <a:xfrm>
            <a:off x="6291072" y="4379976"/>
            <a:ext cx="256032" cy="0"/>
          </a:xfrm>
          <a:prstGeom prst="line">
            <a:avLst/>
          </a:prstGeom>
          <a:noFill/>
          <a:ln w="25400">
            <a:solidFill>
              <a:srgbClr val="F47B20"/>
            </a:solidFill>
            <a:prstDash val="solid"/>
          </a:ln>
        </p:spPr>
      </p:sp>
      <p:sp>
        <p:nvSpPr>
          <p:cNvPr id="20" name="Text 18"/>
          <p:cNvSpPr txBox="1"/>
          <p:nvPr/>
        </p:nvSpPr>
        <p:spPr>
          <a:xfrm>
            <a:off x="6803136" y="4050792"/>
            <a:ext cx="4572000" cy="329184"/>
          </a:xfrm>
          <a:prstGeom prst="rect">
            <a:avLst/>
          </a:prstGeom>
          <a:noFill/>
          <a:ln/>
        </p:spPr>
        <p:txBody>
          <a:bodyPr wrap="square" lIns="0" tIns="0" rIns="0" bIns="0" rtlCol="0" anchor="ctr"/>
          <a:lstStyle/>
          <a:p>
            <a:pPr indent="0" marL="0">
              <a:buNone/>
            </a:pPr>
            <a:r>
              <a:rPr lang="en-US" sz="1550" b="1" dirty="0">
                <a:solidFill>
                  <a:srgbClr val="F4F2EE"/>
                </a:solidFill>
                <a:latin typeface="Arial" pitchFamily="34" charset="0"/>
                <a:ea typeface="Arial" pitchFamily="34" charset="-122"/>
                <a:cs typeface="Arial" pitchFamily="34" charset="-120"/>
              </a:rPr>
              <a:t>Raw location data</a:t>
            </a:r>
            <a:endParaRPr lang="en-US" sz="1550" dirty="0"/>
          </a:p>
        </p:txBody>
      </p:sp>
      <p:sp>
        <p:nvSpPr>
          <p:cNvPr id="21" name="Text 19"/>
          <p:cNvSpPr txBox="1"/>
          <p:nvPr/>
        </p:nvSpPr>
        <p:spPr>
          <a:xfrm>
            <a:off x="6803136" y="4398264"/>
            <a:ext cx="4572000" cy="365760"/>
          </a:xfrm>
          <a:prstGeom prst="rect">
            <a:avLst/>
          </a:prstGeom>
          <a:noFill/>
          <a:ln/>
        </p:spPr>
        <p:txBody>
          <a:bodyPr wrap="square" lIns="0" tIns="0" rIns="0" bIns="0" rtlCol="0" anchor="ctr"/>
          <a:lstStyle/>
          <a:p>
            <a:pPr indent="0" marL="0">
              <a:buNone/>
            </a:pPr>
            <a:r>
              <a:rPr lang="en-US" sz="1150" dirty="0">
                <a:solidFill>
                  <a:srgbClr val="868D9C"/>
                </a:solidFill>
                <a:latin typeface="Arial" pitchFamily="34" charset="0"/>
                <a:ea typeface="Arial" pitchFamily="34" charset="-122"/>
                <a:cs typeface="Arial" pitchFamily="34" charset="-120"/>
              </a:rPr>
              <a:t>IP and device values are hashed on the way in</a:t>
            </a:r>
            <a:endParaRPr lang="en-US" sz="1150" dirty="0"/>
          </a:p>
        </p:txBody>
      </p:sp>
      <p:sp>
        <p:nvSpPr>
          <p:cNvPr id="22" name="Shape 20"/>
          <p:cNvSpPr/>
          <p:nvPr/>
        </p:nvSpPr>
        <p:spPr>
          <a:xfrm>
            <a:off x="566928" y="4480560"/>
            <a:ext cx="5120640" cy="1371600"/>
          </a:xfrm>
          <a:prstGeom prst="roundRect">
            <a:avLst>
              <a:gd name="adj" fmla="val 2000"/>
            </a:avLst>
          </a:prstGeom>
          <a:solidFill>
            <a:srgbClr val="0A0C12"/>
          </a:solidFill>
          <a:ln w="12700">
            <a:solidFill>
              <a:srgbClr val="2E3543"/>
            </a:solidFill>
            <a:prstDash val="solid"/>
          </a:ln>
        </p:spPr>
      </p:sp>
      <p:sp>
        <p:nvSpPr>
          <p:cNvPr id="23" name="Text 21"/>
          <p:cNvSpPr txBox="1"/>
          <p:nvPr/>
        </p:nvSpPr>
        <p:spPr>
          <a:xfrm>
            <a:off x="877824" y="4681728"/>
            <a:ext cx="4526280" cy="1005840"/>
          </a:xfrm>
          <a:prstGeom prst="rect">
            <a:avLst/>
          </a:prstGeom>
          <a:noFill/>
          <a:ln/>
        </p:spPr>
        <p:txBody>
          <a:bodyPr wrap="square" lIns="0" tIns="0" rIns="0" bIns="0" rtlCol="0" anchor="ctr"/>
          <a:lstStyle/>
          <a:p>
            <a:pPr indent="0" marL="0">
              <a:lnSpc>
                <a:spcPts val="1900"/>
              </a:lnSpc>
              <a:buNone/>
            </a:pPr>
            <a:r>
              <a:rPr lang="en-US" sz="1300" i="1" dirty="0">
                <a:solidFill>
                  <a:srgbClr val="F4F2EE"/>
                </a:solidFill>
                <a:latin typeface="Arial" pitchFamily="34" charset="0"/>
                <a:ea typeface="Arial" pitchFamily="34" charset="-122"/>
                <a:cs typeface="Arial" pitchFamily="34" charset="-120"/>
              </a:rPr>
              <a:t>When we are accused of harvesting Turkana's ID numbers — and we will be — the answer is a database schema, not a denial.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THE ADVANTAGE</a:t>
            </a:r>
            <a:endParaRPr lang="en-US" sz="1100" dirty="0"/>
          </a:p>
        </p:txBody>
      </p:sp>
      <p:sp>
        <p:nvSpPr>
          <p:cNvPr id="5" name="Text 3"/>
          <p:cNvSpPr txBox="1"/>
          <p:nvPr/>
        </p:nvSpPr>
        <p:spPr>
          <a:xfrm>
            <a:off x="566928" y="896112"/>
            <a:ext cx="10058400" cy="868680"/>
          </a:xfrm>
          <a:prstGeom prst="rect">
            <a:avLst/>
          </a:prstGeom>
          <a:noFill/>
          <a:ln/>
        </p:spPr>
        <p:txBody>
          <a:bodyPr wrap="square" lIns="0" tIns="0" rIns="0" bIns="0" rtlCol="0" anchor="ctr"/>
          <a:lstStyle/>
          <a:p>
            <a:pPr indent="0" marL="0">
              <a:lnSpc>
                <a:spcPts val="3600"/>
              </a:lnSpc>
              <a:buNone/>
            </a:pPr>
            <a:r>
              <a:rPr lang="en-US" sz="3100" b="1" dirty="0">
                <a:solidFill>
                  <a:srgbClr val="F4F2EE"/>
                </a:solidFill>
                <a:latin typeface="Arial" pitchFamily="34" charset="0"/>
                <a:ea typeface="Arial" pitchFamily="34" charset="-122"/>
                <a:cs typeface="Arial" pitchFamily="34" charset="-120"/>
              </a:rPr>
              <a:t>Come election week,</a:t>
            </a:r>
            <a:endParaRPr lang="en-US" sz="3100" dirty="0"/>
          </a:p>
          <a:p>
            <a:pPr indent="0" marL="0">
              <a:lnSpc>
                <a:spcPts val="3600"/>
              </a:lnSpc>
              <a:buNone/>
            </a:pPr>
            <a:r>
              <a:rPr lang="en-US" sz="3100" b="1" dirty="0">
                <a:solidFill>
                  <a:srgbClr val="F4F2EE"/>
                </a:solidFill>
                <a:latin typeface="Arial" pitchFamily="34" charset="0"/>
                <a:ea typeface="Arial" pitchFamily="34" charset="-122"/>
                <a:cs typeface="Arial" pitchFamily="34" charset="-120"/>
              </a:rPr>
              <a:t>only one of these holds up.</a:t>
            </a:r>
            <a:endParaRPr lang="en-US" sz="3100" dirty="0"/>
          </a:p>
        </p:txBody>
      </p:sp>
      <p:sp>
        <p:nvSpPr>
          <p:cNvPr id="6" name="Shape 4"/>
          <p:cNvSpPr/>
          <p:nvPr/>
        </p:nvSpPr>
        <p:spPr>
          <a:xfrm>
            <a:off x="566928" y="2286000"/>
            <a:ext cx="5504688" cy="3566160"/>
          </a:xfrm>
          <a:prstGeom prst="roundRect">
            <a:avLst>
              <a:gd name="adj" fmla="val 769"/>
            </a:avLst>
          </a:prstGeom>
          <a:solidFill>
            <a:srgbClr val="11141C"/>
          </a:solidFill>
          <a:ln w="9525">
            <a:solidFill>
              <a:srgbClr val="232833"/>
            </a:solidFill>
            <a:prstDash val="solid"/>
          </a:ln>
        </p:spPr>
      </p:sp>
      <p:sp>
        <p:nvSpPr>
          <p:cNvPr id="7" name="Text 5"/>
          <p:cNvSpPr txBox="1"/>
          <p:nvPr/>
        </p:nvSpPr>
        <p:spPr>
          <a:xfrm>
            <a:off x="950976" y="2578608"/>
            <a:ext cx="1828800" cy="292608"/>
          </a:xfrm>
          <a:prstGeom prst="rect">
            <a:avLst/>
          </a:prstGeom>
          <a:noFill/>
          <a:ln/>
        </p:spPr>
        <p:txBody>
          <a:bodyPr wrap="square" lIns="0" tIns="0" rIns="0" bIns="0" rtlCol="0" anchor="ctr"/>
          <a:lstStyle/>
          <a:p>
            <a:pPr indent="0" marL="0">
              <a:buNone/>
            </a:pPr>
            <a:r>
              <a:rPr lang="en-US" sz="1100" b="1" spc="220" kern="0" dirty="0">
                <a:solidFill>
                  <a:srgbClr val="868D9C"/>
                </a:solidFill>
                <a:latin typeface="Arial" pitchFamily="34" charset="0"/>
                <a:ea typeface="Arial" pitchFamily="34" charset="-122"/>
                <a:cs typeface="Arial" pitchFamily="34" charset="-120"/>
              </a:rPr>
              <a:t>THEM</a:t>
            </a:r>
            <a:endParaRPr lang="en-US" sz="1100" dirty="0"/>
          </a:p>
        </p:txBody>
      </p:sp>
      <p:sp>
        <p:nvSpPr>
          <p:cNvPr id="8" name="Text 6"/>
          <p:cNvSpPr txBox="1"/>
          <p:nvPr/>
        </p:nvSpPr>
        <p:spPr>
          <a:xfrm>
            <a:off x="950976" y="2889504"/>
            <a:ext cx="4736592" cy="457200"/>
          </a:xfrm>
          <a:prstGeom prst="rect">
            <a:avLst/>
          </a:prstGeom>
          <a:noFill/>
          <a:ln/>
        </p:spPr>
        <p:txBody>
          <a:bodyPr wrap="square" lIns="0" tIns="0" rIns="0" bIns="0" rtlCol="0" anchor="ctr"/>
          <a:lstStyle/>
          <a:p>
            <a:pPr indent="0" marL="0">
              <a:buNone/>
            </a:pPr>
            <a:r>
              <a:rPr lang="en-US" sz="1600" b="1" dirty="0">
                <a:solidFill>
                  <a:srgbClr val="F4F2EE"/>
                </a:solidFill>
                <a:latin typeface="Arial" pitchFamily="34" charset="0"/>
                <a:ea typeface="Arial" pitchFamily="34" charset="-122"/>
                <a:cs typeface="Arial" pitchFamily="34" charset="-120"/>
              </a:rPr>
              <a:t>A number somebody made up</a:t>
            </a:r>
            <a:endParaRPr lang="en-US" sz="1600" dirty="0"/>
          </a:p>
        </p:txBody>
      </p:sp>
      <p:sp>
        <p:nvSpPr>
          <p:cNvPr id="9" name="Shape 7"/>
          <p:cNvSpPr/>
          <p:nvPr/>
        </p:nvSpPr>
        <p:spPr>
          <a:xfrm>
            <a:off x="950976" y="3648456"/>
            <a:ext cx="109728" cy="109728"/>
          </a:xfrm>
          <a:prstGeom prst="diamond">
            <a:avLst/>
          </a:prstGeom>
          <a:solidFill>
            <a:srgbClr val="868D9C"/>
          </a:solidFill>
          <a:ln/>
        </p:spPr>
      </p:sp>
      <p:sp>
        <p:nvSpPr>
          <p:cNvPr id="10" name="Text 8"/>
          <p:cNvSpPr txBox="1"/>
          <p:nvPr/>
        </p:nvSpPr>
        <p:spPr>
          <a:xfrm>
            <a:off x="1243584" y="3566160"/>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Crowd sizes counted by eye</a:t>
            </a:r>
            <a:endParaRPr lang="en-US" sz="1250" dirty="0"/>
          </a:p>
        </p:txBody>
      </p:sp>
      <p:sp>
        <p:nvSpPr>
          <p:cNvPr id="11" name="Shape 9"/>
          <p:cNvSpPr/>
          <p:nvPr/>
        </p:nvSpPr>
        <p:spPr>
          <a:xfrm>
            <a:off x="950976" y="4215384"/>
            <a:ext cx="109728" cy="109728"/>
          </a:xfrm>
          <a:prstGeom prst="diamond">
            <a:avLst/>
          </a:prstGeom>
          <a:solidFill>
            <a:srgbClr val="868D9C"/>
          </a:solidFill>
          <a:ln/>
        </p:spPr>
      </p:sp>
      <p:sp>
        <p:nvSpPr>
          <p:cNvPr id="12" name="Text 10"/>
          <p:cNvSpPr txBox="1"/>
          <p:nvPr/>
        </p:nvSpPr>
        <p:spPr>
          <a:xfrm>
            <a:off x="1243584" y="4133088"/>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Likes from outside the county</a:t>
            </a:r>
            <a:endParaRPr lang="en-US" sz="1250" dirty="0"/>
          </a:p>
        </p:txBody>
      </p:sp>
      <p:sp>
        <p:nvSpPr>
          <p:cNvPr id="13" name="Shape 11"/>
          <p:cNvSpPr/>
          <p:nvPr/>
        </p:nvSpPr>
        <p:spPr>
          <a:xfrm>
            <a:off x="950976" y="4782312"/>
            <a:ext cx="109728" cy="109728"/>
          </a:xfrm>
          <a:prstGeom prst="diamond">
            <a:avLst/>
          </a:prstGeom>
          <a:solidFill>
            <a:srgbClr val="868D9C"/>
          </a:solidFill>
          <a:ln/>
        </p:spPr>
      </p:sp>
      <p:sp>
        <p:nvSpPr>
          <p:cNvPr id="14" name="Text 12"/>
          <p:cNvSpPr txBox="1"/>
          <p:nvPr/>
        </p:nvSpPr>
        <p:spPr>
          <a:xfrm>
            <a:off x="1243584" y="4700016"/>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Mobiliser reports the boss wants to hear</a:t>
            </a:r>
            <a:endParaRPr lang="en-US" sz="1250" dirty="0"/>
          </a:p>
        </p:txBody>
      </p:sp>
      <p:sp>
        <p:nvSpPr>
          <p:cNvPr id="15" name="Shape 13"/>
          <p:cNvSpPr/>
          <p:nvPr/>
        </p:nvSpPr>
        <p:spPr>
          <a:xfrm>
            <a:off x="950976" y="5349240"/>
            <a:ext cx="109728" cy="109728"/>
          </a:xfrm>
          <a:prstGeom prst="diamond">
            <a:avLst/>
          </a:prstGeom>
          <a:solidFill>
            <a:srgbClr val="868D9C"/>
          </a:solidFill>
          <a:ln/>
        </p:spPr>
      </p:sp>
      <p:sp>
        <p:nvSpPr>
          <p:cNvPr id="16" name="Text 14"/>
          <p:cNvSpPr txBox="1"/>
          <p:nvPr/>
        </p:nvSpPr>
        <p:spPr>
          <a:xfrm>
            <a:off x="1243584" y="5266944"/>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A paper list with no phone, no ward</a:t>
            </a:r>
            <a:endParaRPr lang="en-US" sz="1250" dirty="0"/>
          </a:p>
        </p:txBody>
      </p:sp>
      <p:sp>
        <p:nvSpPr>
          <p:cNvPr id="17" name="Shape 15"/>
          <p:cNvSpPr/>
          <p:nvPr/>
        </p:nvSpPr>
        <p:spPr>
          <a:xfrm>
            <a:off x="6638544" y="2286000"/>
            <a:ext cx="5504688" cy="3566160"/>
          </a:xfrm>
          <a:prstGeom prst="roundRect">
            <a:avLst>
              <a:gd name="adj" fmla="val 769"/>
            </a:avLst>
          </a:prstGeom>
          <a:solidFill>
            <a:srgbClr val="0A0C12"/>
          </a:solidFill>
          <a:ln w="9525">
            <a:solidFill>
              <a:srgbClr val="232833"/>
            </a:solidFill>
            <a:prstDash val="solid"/>
          </a:ln>
        </p:spPr>
      </p:sp>
      <p:sp>
        <p:nvSpPr>
          <p:cNvPr id="18" name="Text 16"/>
          <p:cNvSpPr txBox="1"/>
          <p:nvPr/>
        </p:nvSpPr>
        <p:spPr>
          <a:xfrm>
            <a:off x="7022592" y="2578608"/>
            <a:ext cx="1828800" cy="292608"/>
          </a:xfrm>
          <a:prstGeom prst="rect">
            <a:avLst/>
          </a:prstGeom>
          <a:noFill/>
          <a:ln/>
        </p:spPr>
        <p:txBody>
          <a:bodyPr wrap="square" lIns="0" tIns="0" rIns="0" bIns="0" rtlCol="0" anchor="ctr"/>
          <a:lstStyle/>
          <a:p>
            <a:pPr indent="0" marL="0">
              <a:buNone/>
            </a:pPr>
            <a:r>
              <a:rPr lang="en-US" sz="1100" b="1" spc="220" kern="0" dirty="0">
                <a:solidFill>
                  <a:srgbClr val="F47B20"/>
                </a:solidFill>
                <a:latin typeface="Arial" pitchFamily="34" charset="0"/>
                <a:ea typeface="Arial" pitchFamily="34" charset="-122"/>
                <a:cs typeface="Arial" pitchFamily="34" charset="-120"/>
              </a:rPr>
              <a:t>US</a:t>
            </a:r>
            <a:endParaRPr lang="en-US" sz="1100" dirty="0"/>
          </a:p>
        </p:txBody>
      </p:sp>
      <p:sp>
        <p:nvSpPr>
          <p:cNvPr id="19" name="Text 17"/>
          <p:cNvSpPr txBox="1"/>
          <p:nvPr/>
        </p:nvSpPr>
        <p:spPr>
          <a:xfrm>
            <a:off x="7022592" y="2889504"/>
            <a:ext cx="4736592" cy="457200"/>
          </a:xfrm>
          <a:prstGeom prst="rect">
            <a:avLst/>
          </a:prstGeom>
          <a:noFill/>
          <a:ln/>
        </p:spPr>
        <p:txBody>
          <a:bodyPr wrap="square" lIns="0" tIns="0" rIns="0" bIns="0" rtlCol="0" anchor="ctr"/>
          <a:lstStyle/>
          <a:p>
            <a:pPr indent="0" marL="0">
              <a:buNone/>
            </a:pPr>
            <a:r>
              <a:rPr lang="en-US" sz="1600" b="1" dirty="0">
                <a:solidFill>
                  <a:srgbClr val="F4F2EE"/>
                </a:solidFill>
                <a:latin typeface="Arial" pitchFamily="34" charset="0"/>
                <a:ea typeface="Arial" pitchFamily="34" charset="-122"/>
                <a:cs typeface="Arial" pitchFamily="34" charset="-120"/>
              </a:rPr>
              <a:t>A number that survives a journalist</a:t>
            </a:r>
            <a:endParaRPr lang="en-US" sz="1600" dirty="0"/>
          </a:p>
        </p:txBody>
      </p:sp>
      <p:sp>
        <p:nvSpPr>
          <p:cNvPr id="20" name="Shape 18"/>
          <p:cNvSpPr/>
          <p:nvPr/>
        </p:nvSpPr>
        <p:spPr>
          <a:xfrm>
            <a:off x="7022592" y="3648456"/>
            <a:ext cx="109728" cy="109728"/>
          </a:xfrm>
          <a:prstGeom prst="diamond">
            <a:avLst/>
          </a:prstGeom>
          <a:solidFill>
            <a:srgbClr val="F47B20"/>
          </a:solidFill>
          <a:ln/>
        </p:spPr>
      </p:sp>
      <p:sp>
        <p:nvSpPr>
          <p:cNvPr id="21" name="Text 19"/>
          <p:cNvSpPr txBox="1"/>
          <p:nvPr/>
        </p:nvSpPr>
        <p:spPr>
          <a:xfrm>
            <a:off x="7315200" y="3566160"/>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Every supporter tied to a polling station</a:t>
            </a:r>
            <a:endParaRPr lang="en-US" sz="1250" dirty="0"/>
          </a:p>
        </p:txBody>
      </p:sp>
      <p:sp>
        <p:nvSpPr>
          <p:cNvPr id="22" name="Shape 20"/>
          <p:cNvSpPr/>
          <p:nvPr/>
        </p:nvSpPr>
        <p:spPr>
          <a:xfrm>
            <a:off x="7022592" y="4215384"/>
            <a:ext cx="109728" cy="109728"/>
          </a:xfrm>
          <a:prstGeom prst="diamond">
            <a:avLst/>
          </a:prstGeom>
          <a:solidFill>
            <a:srgbClr val="F47B20"/>
          </a:solidFill>
          <a:ln/>
        </p:spPr>
      </p:sp>
      <p:sp>
        <p:nvSpPr>
          <p:cNvPr id="23" name="Text 21"/>
          <p:cNvSpPr txBox="1"/>
          <p:nvPr/>
        </p:nvSpPr>
        <p:spPr>
          <a:xfrm>
            <a:off x="7315200" y="4133088"/>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Share of each ward, on real IEBC totals</a:t>
            </a:r>
            <a:endParaRPr lang="en-US" sz="1250" dirty="0"/>
          </a:p>
        </p:txBody>
      </p:sp>
      <p:sp>
        <p:nvSpPr>
          <p:cNvPr id="24" name="Shape 22"/>
          <p:cNvSpPr/>
          <p:nvPr/>
        </p:nvSpPr>
        <p:spPr>
          <a:xfrm>
            <a:off x="7022592" y="4782312"/>
            <a:ext cx="109728" cy="109728"/>
          </a:xfrm>
          <a:prstGeom prst="diamond">
            <a:avLst/>
          </a:prstGeom>
          <a:solidFill>
            <a:srgbClr val="F47B20"/>
          </a:solidFill>
          <a:ln/>
        </p:spPr>
      </p:sp>
      <p:sp>
        <p:nvSpPr>
          <p:cNvPr id="25" name="Text 23"/>
          <p:cNvSpPr txBox="1"/>
          <p:nvPr/>
        </p:nvSpPr>
        <p:spPr>
          <a:xfrm>
            <a:off x="7315200" y="4700016"/>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Duplicates flagged before anyone else finds them</a:t>
            </a:r>
            <a:endParaRPr lang="en-US" sz="1250" dirty="0"/>
          </a:p>
        </p:txBody>
      </p:sp>
      <p:sp>
        <p:nvSpPr>
          <p:cNvPr id="26" name="Shape 24"/>
          <p:cNvSpPr/>
          <p:nvPr/>
        </p:nvSpPr>
        <p:spPr>
          <a:xfrm>
            <a:off x="7022592" y="5349240"/>
            <a:ext cx="109728" cy="109728"/>
          </a:xfrm>
          <a:prstGeom prst="diamond">
            <a:avLst/>
          </a:prstGeom>
          <a:solidFill>
            <a:srgbClr val="F47B20"/>
          </a:solidFill>
          <a:ln/>
        </p:spPr>
      </p:sp>
      <p:sp>
        <p:nvSpPr>
          <p:cNvPr id="27" name="Text 25"/>
          <p:cNvSpPr txBox="1"/>
          <p:nvPr/>
        </p:nvSpPr>
        <p:spPr>
          <a:xfrm>
            <a:off x="7315200" y="5266944"/>
            <a:ext cx="4407408" cy="365760"/>
          </a:xfrm>
          <a:prstGeom prst="rect">
            <a:avLst/>
          </a:prstGeom>
          <a:noFill/>
          <a:ln/>
        </p:spPr>
        <p:txBody>
          <a:bodyPr wrap="square" lIns="0" tIns="0" rIns="0" bIns="0" rtlCol="0" anchor="ctr"/>
          <a:lstStyle/>
          <a:p>
            <a:pPr indent="0" marL="0">
              <a:buNone/>
            </a:pPr>
            <a:r>
              <a:rPr lang="en-US" sz="1250" dirty="0">
                <a:solidFill>
                  <a:srgbClr val="B2B8C4"/>
                </a:solidFill>
                <a:latin typeface="Arial" pitchFamily="34" charset="0"/>
                <a:ea typeface="Arial" pitchFamily="34" charset="-122"/>
                <a:cs typeface="Arial" pitchFamily="34" charset="-120"/>
              </a:rPr>
              <a:t>A ready call list of people who offered to help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60A"/>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txBox="1"/>
          <p:nvPr/>
        </p:nvSpPr>
        <p:spPr>
          <a:xfrm>
            <a:off x="10817352" y="512064"/>
            <a:ext cx="777240" cy="274320"/>
          </a:xfrm>
          <a:prstGeom prst="rect">
            <a:avLst/>
          </a:prstGeom>
          <a:noFill/>
          <a:ln/>
        </p:spPr>
        <p:txBody>
          <a:bodyPr wrap="square" lIns="0" tIns="0" rIns="0" bIns="0" rtlCol="0" anchor="ctr"/>
          <a:lstStyle/>
          <a:p>
            <a:pPr algn="r" indent="0" marL="0">
              <a:buNone/>
            </a:pPr>
            <a:r>
              <a:rPr lang="en-US" sz="900" b="1" u="sng" spc="160" kern="0" dirty="0">
                <a:solidFill>
                  <a:srgbClr val="868D9C"/>
                </a:solidFill>
                <a:latin typeface="Arial" pitchFamily="34" charset="0"/>
                <a:ea typeface="Arial" pitchFamily="34" charset="-122"/>
                <a:cs typeface="Arial" pitchFamily="34" charset="-120"/>
                <a:hlinkClick r:id="rId1" action="ppaction://hlinksldjump" tooltip="Back to the agenda">
                  <a:extLst>
                    <a:ext uri="{A12FA001-AC4F-418D-AE19-62706E023703}">
                      <ahyp:hlinkClr xmlns:ahyp="http://schemas.microsoft.com/office/drawing/2018/hyperlinkcolor" val="tx"/>
                    </a:ext>
                  </a:extLst>
                </a:hlinkClick>
              </a:rPr>
              <a:t>MENU</a:t>
            </a:r>
            <a:endParaRPr lang="en-US" sz="900" dirty="0"/>
          </a:p>
        </p:txBody>
      </p:sp>
      <p:sp>
        <p:nvSpPr>
          <p:cNvPr id="3" name="Shape 1"/>
          <p:cNvSpPr/>
          <p:nvPr/>
        </p:nvSpPr>
        <p:spPr>
          <a:xfrm>
            <a:off x="566928" y="566928"/>
            <a:ext cx="137160" cy="137160"/>
          </a:xfrm>
          <a:prstGeom prst="diamond">
            <a:avLst/>
          </a:prstGeom>
          <a:solidFill>
            <a:srgbClr val="F47B20"/>
          </a:solidFill>
          <a:ln/>
        </p:spPr>
      </p:sp>
      <p:sp>
        <p:nvSpPr>
          <p:cNvPr id="4" name="Text 2"/>
          <p:cNvSpPr txBox="1"/>
          <p:nvPr/>
        </p:nvSpPr>
        <p:spPr>
          <a:xfrm>
            <a:off x="822960" y="457200"/>
            <a:ext cx="7315200" cy="310896"/>
          </a:xfrm>
          <a:prstGeom prst="rect">
            <a:avLst/>
          </a:prstGeom>
          <a:noFill/>
          <a:ln/>
        </p:spPr>
        <p:txBody>
          <a:bodyPr wrap="square" lIns="0" tIns="0" rIns="0" bIns="0" rtlCol="0" anchor="ctr"/>
          <a:lstStyle/>
          <a:p>
            <a:pPr indent="0" marL="0">
              <a:buNone/>
            </a:pPr>
            <a:r>
              <a:rPr lang="en-US" sz="1100" b="1" spc="240" kern="0" dirty="0">
                <a:solidFill>
                  <a:srgbClr val="F47B20"/>
                </a:solidFill>
                <a:latin typeface="Arial" pitchFamily="34" charset="0"/>
                <a:ea typeface="Arial" pitchFamily="34" charset="-122"/>
                <a:cs typeface="Arial" pitchFamily="34" charset="-120"/>
              </a:rPr>
              <a:t>06  ·  THE FIRST 90 DAYS</a:t>
            </a:r>
            <a:endParaRPr lang="en-US" sz="1100" dirty="0"/>
          </a:p>
        </p:txBody>
      </p:sp>
      <p:sp>
        <p:nvSpPr>
          <p:cNvPr id="5" name="Text 3"/>
          <p:cNvSpPr txBox="1"/>
          <p:nvPr/>
        </p:nvSpPr>
        <p:spPr>
          <a:xfrm>
            <a:off x="566928" y="896112"/>
            <a:ext cx="10058400" cy="868680"/>
          </a:xfrm>
          <a:prstGeom prst="rect">
            <a:avLst/>
          </a:prstGeom>
          <a:noFill/>
          <a:ln/>
        </p:spPr>
        <p:txBody>
          <a:bodyPr wrap="square" lIns="0" tIns="0" rIns="0" bIns="0" rtlCol="0" anchor="ctr"/>
          <a:lstStyle/>
          <a:p>
            <a:pPr indent="0" marL="0">
              <a:lnSpc>
                <a:spcPts val="3600"/>
              </a:lnSpc>
              <a:buNone/>
            </a:pPr>
            <a:r>
              <a:rPr lang="en-US" sz="3200" b="1" dirty="0">
                <a:solidFill>
                  <a:srgbClr val="F4F2EE"/>
                </a:solidFill>
                <a:latin typeface="Arial" pitchFamily="34" charset="0"/>
                <a:ea typeface="Arial" pitchFamily="34" charset="-122"/>
                <a:cs typeface="Arial" pitchFamily="34" charset="-120"/>
              </a:rPr>
              <a:t>Six steps, in this order.</a:t>
            </a:r>
            <a:endParaRPr lang="en-US" sz="3200" dirty="0"/>
          </a:p>
        </p:txBody>
      </p:sp>
      <p:sp>
        <p:nvSpPr>
          <p:cNvPr id="6" name="Text 4"/>
          <p:cNvSpPr txBox="1"/>
          <p:nvPr/>
        </p:nvSpPr>
        <p:spPr>
          <a:xfrm>
            <a:off x="566928" y="1847088"/>
            <a:ext cx="7315200" cy="310896"/>
          </a:xfrm>
          <a:prstGeom prst="rect">
            <a:avLst/>
          </a:prstGeom>
          <a:noFill/>
          <a:ln/>
        </p:spPr>
        <p:txBody>
          <a:bodyPr wrap="square" lIns="0" tIns="0" rIns="0" bIns="0" rtlCol="0" anchor="ctr"/>
          <a:lstStyle/>
          <a:p>
            <a:pPr indent="0" marL="0">
              <a:buNone/>
            </a:pPr>
            <a:r>
              <a:rPr lang="en-US" sz="1300" dirty="0">
                <a:solidFill>
                  <a:srgbClr val="868D9C"/>
                </a:solidFill>
                <a:latin typeface="Arial" pitchFamily="34" charset="0"/>
                <a:ea typeface="Arial" pitchFamily="34" charset="-122"/>
                <a:cs typeface="Arial" pitchFamily="34" charset="-120"/>
              </a:rPr>
              <a:t>Two of these have long waits we do not control, so they start on day one.</a:t>
            </a:r>
            <a:endParaRPr lang="en-US" sz="1300" dirty="0"/>
          </a:p>
        </p:txBody>
      </p:sp>
      <p:sp>
        <p:nvSpPr>
          <p:cNvPr id="7" name="Shape 5"/>
          <p:cNvSpPr/>
          <p:nvPr/>
        </p:nvSpPr>
        <p:spPr>
          <a:xfrm>
            <a:off x="566928" y="2395728"/>
            <a:ext cx="3584448" cy="1572768"/>
          </a:xfrm>
          <a:prstGeom prst="roundRect">
            <a:avLst>
              <a:gd name="adj" fmla="val 1744"/>
            </a:avLst>
          </a:prstGeom>
          <a:solidFill>
            <a:srgbClr val="0A0C12"/>
          </a:solidFill>
          <a:ln w="9525">
            <a:solidFill>
              <a:srgbClr val="232833"/>
            </a:solidFill>
            <a:prstDash val="solid"/>
          </a:ln>
        </p:spPr>
      </p:sp>
      <p:sp>
        <p:nvSpPr>
          <p:cNvPr id="8" name="Text 6"/>
          <p:cNvSpPr txBox="1"/>
          <p:nvPr/>
        </p:nvSpPr>
        <p:spPr>
          <a:xfrm>
            <a:off x="841248" y="2596896"/>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01</a:t>
            </a:r>
            <a:endParaRPr lang="en-US" sz="1150" dirty="0"/>
          </a:p>
        </p:txBody>
      </p:sp>
      <p:sp>
        <p:nvSpPr>
          <p:cNvPr id="9" name="Text 7"/>
          <p:cNvSpPr txBox="1"/>
          <p:nvPr/>
        </p:nvSpPr>
        <p:spPr>
          <a:xfrm>
            <a:off x="2779776" y="2596896"/>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1</a:t>
            </a:r>
            <a:endParaRPr lang="en-US" sz="1000" dirty="0"/>
          </a:p>
        </p:txBody>
      </p:sp>
      <p:sp>
        <p:nvSpPr>
          <p:cNvPr id="10" name="Text 8"/>
          <p:cNvSpPr txBox="1"/>
          <p:nvPr/>
        </p:nvSpPr>
        <p:spPr>
          <a:xfrm>
            <a:off x="841248" y="2907792"/>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Shortcode paperwork</a:t>
            </a:r>
            <a:endParaRPr lang="en-US" sz="1450" dirty="0"/>
          </a:p>
        </p:txBody>
      </p:sp>
      <p:sp>
        <p:nvSpPr>
          <p:cNvPr id="11" name="Text 9"/>
          <p:cNvSpPr txBox="1"/>
          <p:nvPr/>
        </p:nvSpPr>
        <p:spPr>
          <a:xfrm>
            <a:off x="841248" y="3236976"/>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Africa's Talking and CA approval. The longest wait — nothing speeds it up later.</a:t>
            </a:r>
            <a:endParaRPr lang="en-US" sz="1050" dirty="0"/>
          </a:p>
        </p:txBody>
      </p:sp>
      <p:sp>
        <p:nvSpPr>
          <p:cNvPr id="12" name="Shape 10"/>
          <p:cNvSpPr/>
          <p:nvPr/>
        </p:nvSpPr>
        <p:spPr>
          <a:xfrm>
            <a:off x="4370832" y="2395728"/>
            <a:ext cx="3584448" cy="1572768"/>
          </a:xfrm>
          <a:prstGeom prst="roundRect">
            <a:avLst>
              <a:gd name="adj" fmla="val 1744"/>
            </a:avLst>
          </a:prstGeom>
          <a:solidFill>
            <a:srgbClr val="0A0C12"/>
          </a:solidFill>
          <a:ln w="9525">
            <a:solidFill>
              <a:srgbClr val="232833"/>
            </a:solidFill>
            <a:prstDash val="solid"/>
          </a:ln>
        </p:spPr>
      </p:sp>
      <p:sp>
        <p:nvSpPr>
          <p:cNvPr id="13" name="Text 11"/>
          <p:cNvSpPr txBox="1"/>
          <p:nvPr/>
        </p:nvSpPr>
        <p:spPr>
          <a:xfrm>
            <a:off x="4645152" y="2596896"/>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02</a:t>
            </a:r>
            <a:endParaRPr lang="en-US" sz="1150" dirty="0"/>
          </a:p>
        </p:txBody>
      </p:sp>
      <p:sp>
        <p:nvSpPr>
          <p:cNvPr id="14" name="Text 12"/>
          <p:cNvSpPr txBox="1"/>
          <p:nvPr/>
        </p:nvSpPr>
        <p:spPr>
          <a:xfrm>
            <a:off x="6583680" y="2596896"/>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1–2</a:t>
            </a:r>
            <a:endParaRPr lang="en-US" sz="1000" dirty="0"/>
          </a:p>
        </p:txBody>
      </p:sp>
      <p:sp>
        <p:nvSpPr>
          <p:cNvPr id="15" name="Text 13"/>
          <p:cNvSpPr txBox="1"/>
          <p:nvPr/>
        </p:nvSpPr>
        <p:spPr>
          <a:xfrm>
            <a:off x="4645152" y="2907792"/>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Register with the ODPC</a:t>
            </a:r>
            <a:endParaRPr lang="en-US" sz="1450" dirty="0"/>
          </a:p>
        </p:txBody>
      </p:sp>
      <p:sp>
        <p:nvSpPr>
          <p:cNvPr id="16" name="Text 14"/>
          <p:cNvSpPr txBox="1"/>
          <p:nvPr/>
        </p:nvSpPr>
        <p:spPr>
          <a:xfrm>
            <a:off x="4645152" y="3236976"/>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As a Data Controller. Not registering is itself an offence.</a:t>
            </a:r>
            <a:endParaRPr lang="en-US" sz="1050" dirty="0"/>
          </a:p>
        </p:txBody>
      </p:sp>
      <p:sp>
        <p:nvSpPr>
          <p:cNvPr id="17" name="Shape 15"/>
          <p:cNvSpPr/>
          <p:nvPr/>
        </p:nvSpPr>
        <p:spPr>
          <a:xfrm>
            <a:off x="8174736" y="2395728"/>
            <a:ext cx="3584448" cy="1572768"/>
          </a:xfrm>
          <a:prstGeom prst="roundRect">
            <a:avLst>
              <a:gd name="adj" fmla="val 1744"/>
            </a:avLst>
          </a:prstGeom>
          <a:solidFill>
            <a:srgbClr val="0A0C12"/>
          </a:solidFill>
          <a:ln w="9525">
            <a:solidFill>
              <a:srgbClr val="232833"/>
            </a:solidFill>
            <a:prstDash val="solid"/>
          </a:ln>
        </p:spPr>
      </p:sp>
      <p:sp>
        <p:nvSpPr>
          <p:cNvPr id="18" name="Text 16"/>
          <p:cNvSpPr txBox="1"/>
          <p:nvPr/>
        </p:nvSpPr>
        <p:spPr>
          <a:xfrm>
            <a:off x="8449056" y="2596896"/>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03</a:t>
            </a:r>
            <a:endParaRPr lang="en-US" sz="1150" dirty="0"/>
          </a:p>
        </p:txBody>
      </p:sp>
      <p:sp>
        <p:nvSpPr>
          <p:cNvPr id="19" name="Text 17"/>
          <p:cNvSpPr txBox="1"/>
          <p:nvPr/>
        </p:nvSpPr>
        <p:spPr>
          <a:xfrm>
            <a:off x="10387584" y="2596896"/>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2</a:t>
            </a:r>
            <a:endParaRPr lang="en-US" sz="1000" dirty="0"/>
          </a:p>
        </p:txBody>
      </p:sp>
      <p:sp>
        <p:nvSpPr>
          <p:cNvPr id="20" name="Text 18"/>
          <p:cNvSpPr txBox="1"/>
          <p:nvPr/>
        </p:nvSpPr>
        <p:spPr>
          <a:xfrm>
            <a:off x="8449056" y="2907792"/>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Sign off the promises</a:t>
            </a:r>
            <a:endParaRPr lang="en-US" sz="1450" dirty="0"/>
          </a:p>
        </p:txBody>
      </p:sp>
      <p:sp>
        <p:nvSpPr>
          <p:cNvPr id="21" name="Text 19"/>
          <p:cNvSpPr txBox="1"/>
          <p:nvPr/>
        </p:nvSpPr>
        <p:spPr>
          <a:xfrm>
            <a:off x="8449056" y="3236976"/>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Everything on the site has to sit inside what a senator can deliver.</a:t>
            </a:r>
            <a:endParaRPr lang="en-US" sz="1050" dirty="0"/>
          </a:p>
        </p:txBody>
      </p:sp>
      <p:sp>
        <p:nvSpPr>
          <p:cNvPr id="22" name="Shape 20"/>
          <p:cNvSpPr/>
          <p:nvPr/>
        </p:nvSpPr>
        <p:spPr>
          <a:xfrm>
            <a:off x="566928" y="4206240"/>
            <a:ext cx="3584448" cy="1572768"/>
          </a:xfrm>
          <a:prstGeom prst="roundRect">
            <a:avLst>
              <a:gd name="adj" fmla="val 1744"/>
            </a:avLst>
          </a:prstGeom>
          <a:solidFill>
            <a:srgbClr val="11141C"/>
          </a:solidFill>
          <a:ln w="9525">
            <a:solidFill>
              <a:srgbClr val="232833"/>
            </a:solidFill>
            <a:prstDash val="solid"/>
          </a:ln>
        </p:spPr>
      </p:sp>
      <p:sp>
        <p:nvSpPr>
          <p:cNvPr id="23" name="Text 21"/>
          <p:cNvSpPr txBox="1"/>
          <p:nvPr/>
        </p:nvSpPr>
        <p:spPr>
          <a:xfrm>
            <a:off x="841248" y="4407408"/>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04</a:t>
            </a:r>
            <a:endParaRPr lang="en-US" sz="1150" dirty="0"/>
          </a:p>
        </p:txBody>
      </p:sp>
      <p:sp>
        <p:nvSpPr>
          <p:cNvPr id="24" name="Text 22"/>
          <p:cNvSpPr txBox="1"/>
          <p:nvPr/>
        </p:nvSpPr>
        <p:spPr>
          <a:xfrm>
            <a:off x="2779776" y="4407408"/>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3–5</a:t>
            </a:r>
            <a:endParaRPr lang="en-US" sz="1000" dirty="0"/>
          </a:p>
        </p:txBody>
      </p:sp>
      <p:sp>
        <p:nvSpPr>
          <p:cNvPr id="25" name="Text 23"/>
          <p:cNvSpPr txBox="1"/>
          <p:nvPr/>
        </p:nvSpPr>
        <p:spPr>
          <a:xfrm>
            <a:off x="841248" y="4718304"/>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Launch three wards</a:t>
            </a:r>
            <a:endParaRPr lang="en-US" sz="1450" dirty="0"/>
          </a:p>
        </p:txBody>
      </p:sp>
      <p:sp>
        <p:nvSpPr>
          <p:cNvPr id="26" name="Text 24"/>
          <p:cNvSpPr txBox="1"/>
          <p:nvPr/>
        </p:nvSpPr>
        <p:spPr>
          <a:xfrm>
            <a:off x="841248" y="5047488"/>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Lodwar, Kanamkemer, Kakuma. Real numbers replace our assumptions.</a:t>
            </a:r>
            <a:endParaRPr lang="en-US" sz="1050" dirty="0"/>
          </a:p>
        </p:txBody>
      </p:sp>
      <p:sp>
        <p:nvSpPr>
          <p:cNvPr id="27" name="Shape 25"/>
          <p:cNvSpPr/>
          <p:nvPr/>
        </p:nvSpPr>
        <p:spPr>
          <a:xfrm>
            <a:off x="4370832" y="4206240"/>
            <a:ext cx="3584448" cy="1572768"/>
          </a:xfrm>
          <a:prstGeom prst="roundRect">
            <a:avLst>
              <a:gd name="adj" fmla="val 1744"/>
            </a:avLst>
          </a:prstGeom>
          <a:solidFill>
            <a:srgbClr val="11141C"/>
          </a:solidFill>
          <a:ln w="9525">
            <a:solidFill>
              <a:srgbClr val="232833"/>
            </a:solidFill>
            <a:prstDash val="solid"/>
          </a:ln>
        </p:spPr>
      </p:sp>
      <p:sp>
        <p:nvSpPr>
          <p:cNvPr id="28" name="Text 26"/>
          <p:cNvSpPr txBox="1"/>
          <p:nvPr/>
        </p:nvSpPr>
        <p:spPr>
          <a:xfrm>
            <a:off x="4645152" y="4407408"/>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05</a:t>
            </a:r>
            <a:endParaRPr lang="en-US" sz="1150" dirty="0"/>
          </a:p>
        </p:txBody>
      </p:sp>
      <p:sp>
        <p:nvSpPr>
          <p:cNvPr id="29" name="Text 27"/>
          <p:cNvSpPr txBox="1"/>
          <p:nvPr/>
        </p:nvSpPr>
        <p:spPr>
          <a:xfrm>
            <a:off x="6583680" y="4407408"/>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4–9</a:t>
            </a:r>
            <a:endParaRPr lang="en-US" sz="1000" dirty="0"/>
          </a:p>
        </p:txBody>
      </p:sp>
      <p:sp>
        <p:nvSpPr>
          <p:cNvPr id="30" name="Text 28"/>
          <p:cNvSpPr txBox="1"/>
          <p:nvPr/>
        </p:nvSpPr>
        <p:spPr>
          <a:xfrm>
            <a:off x="4645152" y="4718304"/>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Recruit ward agents</a:t>
            </a:r>
            <a:endParaRPr lang="en-US" sz="1450" dirty="0"/>
          </a:p>
        </p:txBody>
      </p:sp>
      <p:sp>
        <p:nvSpPr>
          <p:cNvPr id="31" name="Text 29"/>
          <p:cNvSpPr txBox="1"/>
          <p:nvPr/>
        </p:nvSpPr>
        <p:spPr>
          <a:xfrm>
            <a:off x="4645152" y="5047488"/>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From people who already volunteered, in the ward they live in.</a:t>
            </a:r>
            <a:endParaRPr lang="en-US" sz="1050" dirty="0"/>
          </a:p>
        </p:txBody>
      </p:sp>
      <p:sp>
        <p:nvSpPr>
          <p:cNvPr id="32" name="Shape 30"/>
          <p:cNvSpPr/>
          <p:nvPr/>
        </p:nvSpPr>
        <p:spPr>
          <a:xfrm>
            <a:off x="8174736" y="4206240"/>
            <a:ext cx="3584448" cy="1572768"/>
          </a:xfrm>
          <a:prstGeom prst="roundRect">
            <a:avLst>
              <a:gd name="adj" fmla="val 1744"/>
            </a:avLst>
          </a:prstGeom>
          <a:solidFill>
            <a:srgbClr val="11141C"/>
          </a:solidFill>
          <a:ln w="9525">
            <a:solidFill>
              <a:srgbClr val="232833"/>
            </a:solidFill>
            <a:prstDash val="solid"/>
          </a:ln>
        </p:spPr>
      </p:sp>
      <p:sp>
        <p:nvSpPr>
          <p:cNvPr id="33" name="Text 31"/>
          <p:cNvSpPr txBox="1"/>
          <p:nvPr/>
        </p:nvSpPr>
        <p:spPr>
          <a:xfrm>
            <a:off x="8449056" y="4407408"/>
            <a:ext cx="457200" cy="274320"/>
          </a:xfrm>
          <a:prstGeom prst="rect">
            <a:avLst/>
          </a:prstGeom>
          <a:noFill/>
          <a:ln/>
        </p:spPr>
        <p:txBody>
          <a:bodyPr wrap="square" lIns="0" tIns="0" rIns="0" bIns="0" rtlCol="0" anchor="ctr"/>
          <a:lstStyle/>
          <a:p>
            <a:pPr indent="0" marL="0">
              <a:buNone/>
            </a:pPr>
            <a:r>
              <a:rPr lang="en-US" sz="1150" b="1" spc="100" kern="0" dirty="0">
                <a:solidFill>
                  <a:srgbClr val="F47B20"/>
                </a:solidFill>
                <a:latin typeface="Arial" pitchFamily="34" charset="0"/>
                <a:ea typeface="Arial" pitchFamily="34" charset="-122"/>
                <a:cs typeface="Arial" pitchFamily="34" charset="-120"/>
              </a:rPr>
              <a:t>06</a:t>
            </a:r>
            <a:endParaRPr lang="en-US" sz="1150" dirty="0"/>
          </a:p>
        </p:txBody>
      </p:sp>
      <p:sp>
        <p:nvSpPr>
          <p:cNvPr id="34" name="Text 32"/>
          <p:cNvSpPr txBox="1"/>
          <p:nvPr/>
        </p:nvSpPr>
        <p:spPr>
          <a:xfrm>
            <a:off x="10387584" y="4407408"/>
            <a:ext cx="1097280" cy="274320"/>
          </a:xfrm>
          <a:prstGeom prst="rect">
            <a:avLst/>
          </a:prstGeom>
          <a:noFill/>
          <a:ln/>
        </p:spPr>
        <p:txBody>
          <a:bodyPr wrap="square" lIns="0" tIns="0" rIns="0" bIns="0" rtlCol="0" anchor="ctr"/>
          <a:lstStyle/>
          <a:p>
            <a:pPr algn="r" indent="0" marL="0">
              <a:buNone/>
            </a:pPr>
            <a:r>
              <a:rPr lang="en-US" sz="1000" b="1" spc="100" kern="0" dirty="0">
                <a:solidFill>
                  <a:srgbClr val="868D9C"/>
                </a:solidFill>
                <a:latin typeface="Arial" pitchFamily="34" charset="0"/>
                <a:ea typeface="Arial" pitchFamily="34" charset="-122"/>
                <a:cs typeface="Arial" pitchFamily="34" charset="-120"/>
              </a:rPr>
              <a:t>Week 6–13</a:t>
            </a:r>
            <a:endParaRPr lang="en-US" sz="1000" dirty="0"/>
          </a:p>
        </p:txBody>
      </p:sp>
      <p:sp>
        <p:nvSpPr>
          <p:cNvPr id="35" name="Text 33"/>
          <p:cNvSpPr txBox="1"/>
          <p:nvPr/>
        </p:nvSpPr>
        <p:spPr>
          <a:xfrm>
            <a:off x="8449056" y="4718304"/>
            <a:ext cx="3035808" cy="310896"/>
          </a:xfrm>
          <a:prstGeom prst="rect">
            <a:avLst/>
          </a:prstGeom>
          <a:noFill/>
          <a:ln/>
        </p:spPr>
        <p:txBody>
          <a:bodyPr wrap="square" lIns="0" tIns="0" rIns="0" bIns="0" rtlCol="0" anchor="ctr"/>
          <a:lstStyle/>
          <a:p>
            <a:pPr indent="0" marL="0">
              <a:buNone/>
            </a:pPr>
            <a:r>
              <a:rPr lang="en-US" sz="1450" b="1" dirty="0">
                <a:solidFill>
                  <a:srgbClr val="F4F2EE"/>
                </a:solidFill>
                <a:latin typeface="Arial" pitchFamily="34" charset="0"/>
                <a:ea typeface="Arial" pitchFamily="34" charset="-122"/>
                <a:cs typeface="Arial" pitchFamily="34" charset="-120"/>
              </a:rPr>
              <a:t>Open the north</a:t>
            </a:r>
            <a:endParaRPr lang="en-US" sz="1450" dirty="0"/>
          </a:p>
        </p:txBody>
      </p:sp>
      <p:sp>
        <p:nvSpPr>
          <p:cNvPr id="36" name="Text 34"/>
          <p:cNvSpPr txBox="1"/>
          <p:nvPr/>
        </p:nvSpPr>
        <p:spPr>
          <a:xfrm>
            <a:off x="8449056" y="5047488"/>
            <a:ext cx="3035808" cy="603504"/>
          </a:xfrm>
          <a:prstGeom prst="rect">
            <a:avLst/>
          </a:prstGeom>
          <a:noFill/>
          <a:ln/>
        </p:spPr>
        <p:txBody>
          <a:bodyPr wrap="square" lIns="0" tIns="0" rIns="0" bIns="0" rtlCol="0" anchor="ctr"/>
          <a:lstStyle/>
          <a:p>
            <a:pPr indent="0" marL="0">
              <a:lnSpc>
                <a:spcPts val="1400"/>
              </a:lnSpc>
              <a:buNone/>
            </a:pPr>
            <a:r>
              <a:rPr lang="en-US" sz="1050" dirty="0">
                <a:solidFill>
                  <a:srgbClr val="868D9C"/>
                </a:solidFill>
                <a:latin typeface="Arial" pitchFamily="34" charset="0"/>
                <a:ea typeface="Arial" pitchFamily="34" charset="-122"/>
                <a:cs typeface="Arial" pitchFamily="34" charset="-120"/>
              </a:rPr>
              <a:t>Kibish, Lapur, Nanaam, Loima — by USSD and baraza, not by advert.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60A"/>
        </a:solidFill>
      </p:bgPr>
    </p:bg>
    <p:spTree>
      <p:nvGrpSpPr>
        <p:cNvPr id="1" name=""/>
        <p:cNvGrpSpPr/>
        <p:nvPr/>
      </p:nvGrpSpPr>
      <p:grpSpPr>
        <a:xfrm>
          <a:off x="0" y="0"/>
          <a:ext cx="0" cy="0"/>
          <a:chOff x="0" y="0"/>
          <a:chExt cx="0" cy="0"/>
        </a:xfrm>
      </p:grpSpPr>
      <p:sp>
        <p:nvSpPr>
          <p:cNvPr id="2" name="Shape 0"/>
          <p:cNvSpPr/>
          <p:nvPr/>
        </p:nvSpPr>
        <p:spPr>
          <a:xfrm>
            <a:off x="9052560" y="2286000"/>
            <a:ext cx="2377440" cy="2377440"/>
          </a:xfrm>
          <a:prstGeom prst="diamond">
            <a:avLst/>
          </a:prstGeom>
          <a:solidFill>
            <a:srgbClr val="F47B20">
              <a:alpha val="12000"/>
            </a:srgbClr>
          </a:solidFill>
          <a:ln w="12700">
            <a:solidFill>
              <a:srgbClr val="F47B20"/>
            </a:solidFill>
            <a:prstDash val="solid"/>
          </a:ln>
        </p:spPr>
      </p:sp>
      <p:sp>
        <p:nvSpPr>
          <p:cNvPr id="3" name="Shape 1"/>
          <p:cNvSpPr/>
          <p:nvPr/>
        </p:nvSpPr>
        <p:spPr>
          <a:xfrm>
            <a:off x="9646920" y="2880360"/>
            <a:ext cx="1188720" cy="1188720"/>
          </a:xfrm>
          <a:prstGeom prst="diamond">
            <a:avLst/>
          </a:prstGeom>
          <a:solidFill>
            <a:srgbClr val="F47B20"/>
          </a:solidFill>
          <a:ln/>
        </p:spPr>
      </p:sp>
      <p:sp>
        <p:nvSpPr>
          <p:cNvPr id="4" name="Shape 2"/>
          <p:cNvSpPr/>
          <p:nvPr/>
        </p:nvSpPr>
        <p:spPr>
          <a:xfrm>
            <a:off x="566928" y="658368"/>
            <a:ext cx="173736" cy="173736"/>
          </a:xfrm>
          <a:prstGeom prst="diamond">
            <a:avLst/>
          </a:prstGeom>
          <a:solidFill>
            <a:srgbClr val="F47B20"/>
          </a:solidFill>
          <a:ln/>
        </p:spPr>
      </p:sp>
      <p:sp>
        <p:nvSpPr>
          <p:cNvPr id="5" name="Text 3"/>
          <p:cNvSpPr txBox="1"/>
          <p:nvPr/>
        </p:nvSpPr>
        <p:spPr>
          <a:xfrm>
            <a:off x="868680" y="548640"/>
            <a:ext cx="7315200" cy="329184"/>
          </a:xfrm>
          <a:prstGeom prst="rect">
            <a:avLst/>
          </a:prstGeom>
          <a:noFill/>
          <a:ln/>
        </p:spPr>
        <p:txBody>
          <a:bodyPr wrap="square" lIns="0" tIns="0" rIns="0" bIns="0" rtlCol="0" anchor="ctr"/>
          <a:lstStyle/>
          <a:p>
            <a:pPr indent="0" marL="0">
              <a:buNone/>
            </a:pPr>
            <a:r>
              <a:rPr lang="en-US" sz="1150" b="1" spc="260" kern="0" dirty="0">
                <a:solidFill>
                  <a:srgbClr val="F47B20"/>
                </a:solidFill>
                <a:latin typeface="Arial" pitchFamily="34" charset="0"/>
                <a:ea typeface="Arial" pitchFamily="34" charset="-122"/>
                <a:cs typeface="Arial" pitchFamily="34" charset="-120"/>
              </a:rPr>
              <a:t>WHAT WE ASK TODAY</a:t>
            </a:r>
            <a:endParaRPr lang="en-US" sz="1150" dirty="0"/>
          </a:p>
        </p:txBody>
      </p:sp>
      <p:sp>
        <p:nvSpPr>
          <p:cNvPr id="6" name="Text 4"/>
          <p:cNvSpPr txBox="1"/>
          <p:nvPr/>
        </p:nvSpPr>
        <p:spPr>
          <a:xfrm>
            <a:off x="566928" y="1737360"/>
            <a:ext cx="7680960" cy="1645920"/>
          </a:xfrm>
          <a:prstGeom prst="rect">
            <a:avLst/>
          </a:prstGeom>
          <a:noFill/>
          <a:ln/>
        </p:spPr>
        <p:txBody>
          <a:bodyPr wrap="square" lIns="0" tIns="0" rIns="0" bIns="0" rtlCol="0" anchor="ctr"/>
          <a:lstStyle/>
          <a:p>
            <a:pPr indent="0" marL="0">
              <a:lnSpc>
                <a:spcPts val="5000"/>
              </a:lnSpc>
              <a:buNone/>
            </a:pPr>
            <a:r>
              <a:rPr lang="en-US" sz="4200" b="1" dirty="0">
                <a:solidFill>
                  <a:srgbClr val="F4F2EE"/>
                </a:solidFill>
                <a:latin typeface="Arial" pitchFamily="34" charset="0"/>
                <a:ea typeface="Arial" pitchFamily="34" charset="-122"/>
                <a:cs typeface="Arial" pitchFamily="34" charset="-120"/>
              </a:rPr>
              <a:t>By day 90,</a:t>
            </a:r>
            <a:endParaRPr lang="en-US" sz="4200" dirty="0"/>
          </a:p>
          <a:p>
            <a:pPr indent="0" marL="0">
              <a:lnSpc>
                <a:spcPts val="5000"/>
              </a:lnSpc>
              <a:buNone/>
            </a:pPr>
            <a:r>
              <a:rPr lang="en-US" sz="4200" b="1" dirty="0">
                <a:solidFill>
                  <a:srgbClr val="F4F2EE"/>
                </a:solidFill>
                <a:latin typeface="Arial" pitchFamily="34" charset="0"/>
                <a:ea typeface="Arial" pitchFamily="34" charset="-122"/>
                <a:cs typeface="Arial" pitchFamily="34" charset="-120"/>
              </a:rPr>
              <a:t>no ward at zero.</a:t>
            </a:r>
            <a:endParaRPr lang="en-US" sz="4200" dirty="0"/>
          </a:p>
        </p:txBody>
      </p:sp>
      <p:sp>
        <p:nvSpPr>
          <p:cNvPr id="7" name="Text 5"/>
          <p:cNvSpPr txBox="1"/>
          <p:nvPr/>
        </p:nvSpPr>
        <p:spPr>
          <a:xfrm>
            <a:off x="566928" y="3611880"/>
            <a:ext cx="7132320" cy="1005840"/>
          </a:xfrm>
          <a:prstGeom prst="rect">
            <a:avLst/>
          </a:prstGeom>
          <a:noFill/>
          <a:ln/>
        </p:spPr>
        <p:txBody>
          <a:bodyPr wrap="square" lIns="0" tIns="0" rIns="0" bIns="0" rtlCol="0" anchor="ctr"/>
          <a:lstStyle/>
          <a:p>
            <a:pPr indent="0" marL="0">
              <a:lnSpc>
                <a:spcPts val="2300"/>
              </a:lnSpc>
              <a:buNone/>
            </a:pPr>
            <a:r>
              <a:rPr lang="en-US" sz="1500" dirty="0">
                <a:solidFill>
                  <a:srgbClr val="B2B8C4"/>
                </a:solidFill>
                <a:latin typeface="Arial" pitchFamily="34" charset="0"/>
                <a:ea typeface="Arial" pitchFamily="34" charset="-122"/>
                <a:cs typeface="Arial" pitchFamily="34" charset="-120"/>
              </a:rPr>
              <a:t>Not every ward warm — that takes two years. Every ward measured. From that day on, every shilling this campaign spends is aimed at a number instead of a hunch.</a:t>
            </a:r>
            <a:endParaRPr lang="en-US" sz="1500" dirty="0"/>
          </a:p>
        </p:txBody>
      </p:sp>
      <p:sp>
        <p:nvSpPr>
          <p:cNvPr id="8" name="Shape 6">
            <a:hlinkClick r:id="rId1" tooltip="Opens the live interactive board"/>
          </p:cNvPr>
          <p:cNvSpPr/>
          <p:nvPr/>
        </p:nvSpPr>
        <p:spPr>
          <a:xfrm>
            <a:off x="566928" y="4846320"/>
            <a:ext cx="3931920" cy="658368"/>
          </a:xfrm>
          <a:prstGeom prst="roundRect">
            <a:avLst>
              <a:gd name="adj" fmla="val 5556"/>
            </a:avLst>
          </a:prstGeom>
          <a:solidFill>
            <a:srgbClr val="F47B20"/>
          </a:solidFill>
          <a:ln/>
        </p:spPr>
      </p:sp>
      <p:sp>
        <p:nvSpPr>
          <p:cNvPr id="9" name="Text 7">
            <a:hlinkClick r:id="rId2" tooltip="Opens the live interactive board"/>
          </p:cNvPr>
          <p:cNvSpPr txBox="1"/>
          <p:nvPr/>
        </p:nvSpPr>
        <p:spPr>
          <a:xfrm>
            <a:off x="566928" y="4846320"/>
            <a:ext cx="3931920" cy="658368"/>
          </a:xfrm>
          <a:prstGeom prst="rect">
            <a:avLst/>
          </a:prstGeom>
          <a:noFill/>
          <a:ln/>
        </p:spPr>
        <p:txBody>
          <a:bodyPr wrap="square" lIns="0" tIns="0" rIns="0" bIns="0" rtlCol="0" anchor="ctr"/>
          <a:lstStyle/>
          <a:p>
            <a:pPr algn="ctr" indent="0" marL="0">
              <a:buNone/>
            </a:pPr>
            <a:r>
              <a:rPr lang="en-US" sz="1500" b="1" u="none" dirty="0">
                <a:solidFill>
                  <a:srgbClr val="20140A"/>
                </a:solidFill>
                <a:latin typeface="Arial" pitchFamily="34" charset="0"/>
                <a:ea typeface="Arial" pitchFamily="34" charset="-122"/>
                <a:cs typeface="Arial" pitchFamily="34" charset="-120"/>
                <a:hlinkClick r:id="rId2" invalidUrl="" action="" tgtFrame="" tooltip="Opens the live interactive board" history="1" highlightClick="0" endSnd="0">
                  <a:extLst>
                    <a:ext uri="{A12FA001-AC4F-418D-AE19-62706E023703}">
                      <ahyp:hlinkClr xmlns:ahyp="http://schemas.microsoft.com/office/drawing/2018/hyperlinkcolor" val="tx"/>
                    </a:ext>
                  </a:extLst>
                </a:hlinkClick>
              </a:rPr>
              <a:t>Open the live board</a:t>
            </a:r>
            <a:endParaRPr lang="en-US" sz="1500" dirty="0"/>
          </a:p>
        </p:txBody>
      </p:sp>
      <p:sp>
        <p:nvSpPr>
          <p:cNvPr id="10" name="Text 8"/>
          <p:cNvSpPr txBox="1"/>
          <p:nvPr/>
        </p:nvSpPr>
        <p:spPr>
          <a:xfrm>
            <a:off x="4727448" y="5010912"/>
            <a:ext cx="4023360" cy="365760"/>
          </a:xfrm>
          <a:prstGeom prst="rect">
            <a:avLst/>
          </a:prstGeom>
          <a:noFill/>
          <a:ln/>
        </p:spPr>
        <p:txBody>
          <a:bodyPr wrap="square" lIns="0" tIns="0" rIns="0" bIns="0" rtlCol="0" anchor="ctr"/>
          <a:lstStyle/>
          <a:p>
            <a:pPr indent="0" marL="0">
              <a:buNone/>
            </a:pPr>
            <a:r>
              <a:rPr lang="en-US" sz="1200" i="1" dirty="0">
                <a:solidFill>
                  <a:srgbClr val="868D9C"/>
                </a:solidFill>
                <a:latin typeface="Arial" pitchFamily="34" charset="0"/>
                <a:ea typeface="Arial" pitchFamily="34" charset="-122"/>
                <a:cs typeface="Arial" pitchFamily="34" charset="-120"/>
              </a:rPr>
              <a:t>Tap any ward. Move the dials. Sign yourself up.</a:t>
            </a:r>
            <a:endParaRPr lang="en-US" sz="1200" dirty="0"/>
          </a:p>
        </p:txBody>
      </p:sp>
      <p:sp>
        <p:nvSpPr>
          <p:cNvPr id="11" name="Shape 9"/>
          <p:cNvSpPr/>
          <p:nvPr/>
        </p:nvSpPr>
        <p:spPr>
          <a:xfrm>
            <a:off x="566928" y="5943600"/>
            <a:ext cx="11027664" cy="0"/>
          </a:xfrm>
          <a:prstGeom prst="line">
            <a:avLst/>
          </a:prstGeom>
          <a:noFill/>
          <a:ln w="12700">
            <a:solidFill>
              <a:srgbClr val="2E3543"/>
            </a:solidFill>
            <a:prstDash val="solid"/>
          </a:ln>
        </p:spPr>
      </p:sp>
      <p:sp>
        <p:nvSpPr>
          <p:cNvPr id="12" name="Text 10"/>
          <p:cNvSpPr txBox="1"/>
          <p:nvPr/>
        </p:nvSpPr>
        <p:spPr>
          <a:xfrm>
            <a:off x="566928" y="6071616"/>
            <a:ext cx="11027664" cy="457200"/>
          </a:xfrm>
          <a:prstGeom prst="rect">
            <a:avLst/>
          </a:prstGeom>
          <a:noFill/>
          <a:ln/>
        </p:spPr>
        <p:txBody>
          <a:bodyPr wrap="square" lIns="0" tIns="0" rIns="0" bIns="0" rtlCol="0" anchor="ctr"/>
          <a:lstStyle/>
          <a:p>
            <a:pPr indent="0" marL="0">
              <a:lnSpc>
                <a:spcPts val="1200"/>
              </a:lnSpc>
              <a:buNone/>
            </a:pPr>
            <a:r>
              <a:rPr lang="en-US" sz="900" dirty="0">
                <a:solidFill>
                  <a:srgbClr val="868D9C"/>
                </a:solidFill>
                <a:latin typeface="Arial" pitchFamily="34" charset="0"/>
                <a:ea typeface="Arial" pitchFamily="34" charset="-122"/>
                <a:cs typeface="Arial" pitchFamily="34" charset="-120"/>
              </a:rPr>
              <a:t>Ward, constituency and polling-station figures are the real IEBC register for Turkana. Supporter counts are an illustrative scenario, not real people. Conversion rates are planning assumptions.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Ekusi Lore — Turkana Senate 2027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Turkana Board</dc:title>
  <dc:subject>PptxGenJS Presentation</dc:subject>
  <dc:creator>Akiyar</dc:creator>
  <cp:lastModifiedBy>Akiyar</cp:lastModifiedBy>
  <cp:revision>1</cp:revision>
  <dcterms:created xsi:type="dcterms:W3CDTF">2026-09-02T23:53:20Z</dcterms:created>
  <dcterms:modified xsi:type="dcterms:W3CDTF">2026-09-02T23:53:20Z</dcterms:modified>
</cp:coreProperties>
</file>